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C8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unak Dey" userId="845f521f3482d31c" providerId="LiveId" clId="{E5D07761-BE5B-4B8A-80CD-9DA81E525FA1}"/>
    <pc:docChg chg="modSld">
      <pc:chgData name="Sounak Dey" userId="845f521f3482d31c" providerId="LiveId" clId="{E5D07761-BE5B-4B8A-80CD-9DA81E525FA1}" dt="2026-10-03T08:31:42.949" v="158" actId="255"/>
      <pc:docMkLst>
        <pc:docMk/>
      </pc:docMkLst>
      <pc:sldChg chg="addSp modSp mod">
        <pc:chgData name="Sounak Dey" userId="845f521f3482d31c" providerId="LiveId" clId="{E5D07761-BE5B-4B8A-80CD-9DA81E525FA1}" dt="2026-09-22T15:12:11.526" v="6" actId="14100"/>
        <pc:sldMkLst>
          <pc:docMk/>
          <pc:sldMk cId="3619671110" sldId="256"/>
        </pc:sldMkLst>
        <pc:spChg chg="mod">
          <ac:chgData name="Sounak Dey" userId="845f521f3482d31c" providerId="LiveId" clId="{E5D07761-BE5B-4B8A-80CD-9DA81E525FA1}" dt="2026-09-22T15:05:34.992" v="1" actId="1076"/>
          <ac:spMkLst>
            <pc:docMk/>
            <pc:sldMk cId="3619671110" sldId="256"/>
            <ac:spMk id="4" creationId="{BF53CD7D-4518-1919-3390-8A19905777C2}"/>
          </ac:spMkLst>
        </pc:spChg>
        <pc:picChg chg="add mod">
          <ac:chgData name="Sounak Dey" userId="845f521f3482d31c" providerId="LiveId" clId="{E5D07761-BE5B-4B8A-80CD-9DA81E525FA1}" dt="2026-09-22T15:12:11.526" v="6" actId="14100"/>
          <ac:picMkLst>
            <pc:docMk/>
            <pc:sldMk cId="3619671110" sldId="256"/>
            <ac:picMk id="5" creationId="{9FFC08F8-5DF0-087D-F435-783A312260E3}"/>
          </ac:picMkLst>
        </pc:picChg>
        <pc:picChg chg="mod">
          <ac:chgData name="Sounak Dey" userId="845f521f3482d31c" providerId="LiveId" clId="{E5D07761-BE5B-4B8A-80CD-9DA81E525FA1}" dt="2026-09-22T15:04:17.472" v="0" actId="1076"/>
          <ac:picMkLst>
            <pc:docMk/>
            <pc:sldMk cId="3619671110" sldId="256"/>
            <ac:picMk id="23" creationId="{CE737720-717F-B93E-E7BB-86E8407228C8}"/>
          </ac:picMkLst>
        </pc:picChg>
      </pc:sldChg>
      <pc:sldChg chg="modSp mod">
        <pc:chgData name="Sounak Dey" userId="845f521f3482d31c" providerId="LiveId" clId="{E5D07761-BE5B-4B8A-80CD-9DA81E525FA1}" dt="2026-09-29T14:07:11.875" v="146" actId="1076"/>
        <pc:sldMkLst>
          <pc:docMk/>
          <pc:sldMk cId="889745429" sldId="260"/>
        </pc:sldMkLst>
        <pc:spChg chg="mod">
          <ac:chgData name="Sounak Dey" userId="845f521f3482d31c" providerId="LiveId" clId="{E5D07761-BE5B-4B8A-80CD-9DA81E525FA1}" dt="2026-09-29T14:03:59.400" v="128" actId="1076"/>
          <ac:spMkLst>
            <pc:docMk/>
            <pc:sldMk cId="889745429" sldId="260"/>
            <ac:spMk id="2" creationId="{977F31DB-FA7F-6224-EDCC-2DF38909C5AF}"/>
          </ac:spMkLst>
        </pc:spChg>
        <pc:spChg chg="mod">
          <ac:chgData name="Sounak Dey" userId="845f521f3482d31c" providerId="LiveId" clId="{E5D07761-BE5B-4B8A-80CD-9DA81E525FA1}" dt="2026-09-29T14:04:35.753" v="132" actId="688"/>
          <ac:spMkLst>
            <pc:docMk/>
            <pc:sldMk cId="889745429" sldId="260"/>
            <ac:spMk id="8" creationId="{79C56678-507B-5931-E28D-1D85E65607FD}"/>
          </ac:spMkLst>
        </pc:spChg>
        <pc:spChg chg="mod">
          <ac:chgData name="Sounak Dey" userId="845f521f3482d31c" providerId="LiveId" clId="{E5D07761-BE5B-4B8A-80CD-9DA81E525FA1}" dt="2026-09-29T14:03:26.555" v="124" actId="255"/>
          <ac:spMkLst>
            <pc:docMk/>
            <pc:sldMk cId="889745429" sldId="260"/>
            <ac:spMk id="12" creationId="{E9FBEFBD-E3E8-490B-20F3-74DD59EA5209}"/>
          </ac:spMkLst>
        </pc:spChg>
        <pc:spChg chg="mod">
          <ac:chgData name="Sounak Dey" userId="845f521f3482d31c" providerId="LiveId" clId="{E5D07761-BE5B-4B8A-80CD-9DA81E525FA1}" dt="2026-09-29T14:02:43.440" v="120" actId="1076"/>
          <ac:spMkLst>
            <pc:docMk/>
            <pc:sldMk cId="889745429" sldId="260"/>
            <ac:spMk id="16" creationId="{9F03F329-22F1-271D-1DA4-5311154378CA}"/>
          </ac:spMkLst>
        </pc:spChg>
        <pc:spChg chg="mod">
          <ac:chgData name="Sounak Dey" userId="845f521f3482d31c" providerId="LiveId" clId="{E5D07761-BE5B-4B8A-80CD-9DA81E525FA1}" dt="2026-09-29T14:05:23.815" v="134" actId="255"/>
          <ac:spMkLst>
            <pc:docMk/>
            <pc:sldMk cId="889745429" sldId="260"/>
            <ac:spMk id="20" creationId="{135EA071-ADE1-9EBF-1EA9-C948B8031BA1}"/>
          </ac:spMkLst>
        </pc:spChg>
        <pc:spChg chg="mod">
          <ac:chgData name="Sounak Dey" userId="845f521f3482d31c" providerId="LiveId" clId="{E5D07761-BE5B-4B8A-80CD-9DA81E525FA1}" dt="2026-09-29T14:07:11.875" v="146" actId="1076"/>
          <ac:spMkLst>
            <pc:docMk/>
            <pc:sldMk cId="889745429" sldId="260"/>
            <ac:spMk id="22" creationId="{C4010505-0289-A421-A2C4-6472DCE22C85}"/>
          </ac:spMkLst>
        </pc:spChg>
        <pc:spChg chg="mod">
          <ac:chgData name="Sounak Dey" userId="845f521f3482d31c" providerId="LiveId" clId="{E5D07761-BE5B-4B8A-80CD-9DA81E525FA1}" dt="2026-09-29T14:06:16.077" v="140" actId="255"/>
          <ac:spMkLst>
            <pc:docMk/>
            <pc:sldMk cId="889745429" sldId="260"/>
            <ac:spMk id="23" creationId="{0C9771E0-41D2-3ED0-33C6-0334687D0B1F}"/>
          </ac:spMkLst>
        </pc:spChg>
        <pc:spChg chg="mod">
          <ac:chgData name="Sounak Dey" userId="845f521f3482d31c" providerId="LiveId" clId="{E5D07761-BE5B-4B8A-80CD-9DA81E525FA1}" dt="2026-09-29T14:07:06.374" v="145" actId="14100"/>
          <ac:spMkLst>
            <pc:docMk/>
            <pc:sldMk cId="889745429" sldId="260"/>
            <ac:spMk id="24" creationId="{68CE819B-6A5E-803A-8935-59A6FCE9657E}"/>
          </ac:spMkLst>
        </pc:spChg>
        <pc:spChg chg="mod">
          <ac:chgData name="Sounak Dey" userId="845f521f3482d31c" providerId="LiveId" clId="{E5D07761-BE5B-4B8A-80CD-9DA81E525FA1}" dt="2026-09-29T14:02:04.885" v="114" actId="255"/>
          <ac:spMkLst>
            <pc:docMk/>
            <pc:sldMk cId="889745429" sldId="260"/>
            <ac:spMk id="25" creationId="{4D75426F-6EF9-8F6B-B29D-091B4D57408D}"/>
          </ac:spMkLst>
        </pc:spChg>
        <pc:spChg chg="mod">
          <ac:chgData name="Sounak Dey" userId="845f521f3482d31c" providerId="LiveId" clId="{E5D07761-BE5B-4B8A-80CD-9DA81E525FA1}" dt="2026-09-29T14:00:18.544" v="84" actId="255"/>
          <ac:spMkLst>
            <pc:docMk/>
            <pc:sldMk cId="889745429" sldId="260"/>
            <ac:spMk id="28" creationId="{4CA091A6-EBCD-85F9-533C-E4F6929D69C4}"/>
          </ac:spMkLst>
        </pc:spChg>
        <pc:spChg chg="mod">
          <ac:chgData name="Sounak Dey" userId="845f521f3482d31c" providerId="LiveId" clId="{E5D07761-BE5B-4B8A-80CD-9DA81E525FA1}" dt="2026-09-29T14:01:24.283" v="107" actId="14100"/>
          <ac:spMkLst>
            <pc:docMk/>
            <pc:sldMk cId="889745429" sldId="260"/>
            <ac:spMk id="31" creationId="{BB254687-317C-D0D3-FB79-51C0B757A865}"/>
          </ac:spMkLst>
        </pc:spChg>
        <pc:spChg chg="mod">
          <ac:chgData name="Sounak Dey" userId="845f521f3482d31c" providerId="LiveId" clId="{E5D07761-BE5B-4B8A-80CD-9DA81E525FA1}" dt="2026-09-29T14:01:30.816" v="108" actId="14100"/>
          <ac:spMkLst>
            <pc:docMk/>
            <pc:sldMk cId="889745429" sldId="260"/>
            <ac:spMk id="34" creationId="{5D30AC8C-43D2-6361-BDE2-93FDC7852966}"/>
          </ac:spMkLst>
        </pc:spChg>
        <pc:spChg chg="mod">
          <ac:chgData name="Sounak Dey" userId="845f521f3482d31c" providerId="LiveId" clId="{E5D07761-BE5B-4B8A-80CD-9DA81E525FA1}" dt="2026-09-29T14:01:47.965" v="112" actId="20577"/>
          <ac:spMkLst>
            <pc:docMk/>
            <pc:sldMk cId="889745429" sldId="260"/>
            <ac:spMk id="37" creationId="{2E967C71-04F2-2D81-CD88-E6E6A2FB7A2C}"/>
          </ac:spMkLst>
        </pc:spChg>
        <pc:spChg chg="mod">
          <ac:chgData name="Sounak Dey" userId="845f521f3482d31c" providerId="LiveId" clId="{E5D07761-BE5B-4B8A-80CD-9DA81E525FA1}" dt="2026-09-29T14:06:44.737" v="143" actId="20577"/>
          <ac:spMkLst>
            <pc:docMk/>
            <pc:sldMk cId="889745429" sldId="260"/>
            <ac:spMk id="40" creationId="{FAEBCFED-6BBC-F361-5B31-C909A3BCB807}"/>
          </ac:spMkLst>
        </pc:spChg>
        <pc:spChg chg="mod">
          <ac:chgData name="Sounak Dey" userId="845f521f3482d31c" providerId="LiveId" clId="{E5D07761-BE5B-4B8A-80CD-9DA81E525FA1}" dt="2026-09-29T14:00:58.827" v="104" actId="20577"/>
          <ac:spMkLst>
            <pc:docMk/>
            <pc:sldMk cId="889745429" sldId="260"/>
            <ac:spMk id="43" creationId="{5BC2EEF0-C0B8-0FCE-1A5C-883F1A2F9DAF}"/>
          </ac:spMkLst>
        </pc:spChg>
      </pc:sldChg>
      <pc:sldChg chg="modSp mod">
        <pc:chgData name="Sounak Dey" userId="845f521f3482d31c" providerId="LiveId" clId="{E5D07761-BE5B-4B8A-80CD-9DA81E525FA1}" dt="2026-09-23T10:48:03.471" v="77" actId="255"/>
        <pc:sldMkLst>
          <pc:docMk/>
          <pc:sldMk cId="2953947974" sldId="264"/>
        </pc:sldMkLst>
        <pc:spChg chg="mod">
          <ac:chgData name="Sounak Dey" userId="845f521f3482d31c" providerId="LiveId" clId="{E5D07761-BE5B-4B8A-80CD-9DA81E525FA1}" dt="2026-09-23T10:47:53.825" v="76" actId="255"/>
          <ac:spMkLst>
            <pc:docMk/>
            <pc:sldMk cId="2953947974" sldId="264"/>
            <ac:spMk id="2" creationId="{24B47E90-99C5-5C22-18C6-56735A07F210}"/>
          </ac:spMkLst>
        </pc:spChg>
        <pc:spChg chg="mod">
          <ac:chgData name="Sounak Dey" userId="845f521f3482d31c" providerId="LiveId" clId="{E5D07761-BE5B-4B8A-80CD-9DA81E525FA1}" dt="2026-09-23T10:47:13.923" v="71" actId="255"/>
          <ac:spMkLst>
            <pc:docMk/>
            <pc:sldMk cId="2953947974" sldId="264"/>
            <ac:spMk id="3" creationId="{3C8277EB-D0C1-48CA-DCD9-7B106DC3E830}"/>
          </ac:spMkLst>
        </pc:spChg>
        <pc:spChg chg="mod">
          <ac:chgData name="Sounak Dey" userId="845f521f3482d31c" providerId="LiveId" clId="{E5D07761-BE5B-4B8A-80CD-9DA81E525FA1}" dt="2026-09-23T10:47:26.234" v="72" actId="255"/>
          <ac:spMkLst>
            <pc:docMk/>
            <pc:sldMk cId="2953947974" sldId="264"/>
            <ac:spMk id="4" creationId="{7B2B1EB4-D0D3-098A-69C3-ECC7B69F4844}"/>
          </ac:spMkLst>
        </pc:spChg>
        <pc:spChg chg="mod">
          <ac:chgData name="Sounak Dey" userId="845f521f3482d31c" providerId="LiveId" clId="{E5D07761-BE5B-4B8A-80CD-9DA81E525FA1}" dt="2026-09-23T10:47:13.923" v="71" actId="255"/>
          <ac:spMkLst>
            <pc:docMk/>
            <pc:sldMk cId="2953947974" sldId="264"/>
            <ac:spMk id="5" creationId="{B2CAD319-258A-4EE8-A7D1-98A2C2C2ACD0}"/>
          </ac:spMkLst>
        </pc:spChg>
        <pc:spChg chg="mod">
          <ac:chgData name="Sounak Dey" userId="845f521f3482d31c" providerId="LiveId" clId="{E5D07761-BE5B-4B8A-80CD-9DA81E525FA1}" dt="2026-09-23T10:47:13.923" v="71" actId="255"/>
          <ac:spMkLst>
            <pc:docMk/>
            <pc:sldMk cId="2953947974" sldId="264"/>
            <ac:spMk id="10" creationId="{C7F83BFC-533B-7715-A286-6CB9E7CE2A18}"/>
          </ac:spMkLst>
        </pc:spChg>
        <pc:spChg chg="mod">
          <ac:chgData name="Sounak Dey" userId="845f521f3482d31c" providerId="LiveId" clId="{E5D07761-BE5B-4B8A-80CD-9DA81E525FA1}" dt="2026-09-23T10:47:35.386" v="73" actId="255"/>
          <ac:spMkLst>
            <pc:docMk/>
            <pc:sldMk cId="2953947974" sldId="264"/>
            <ac:spMk id="11" creationId="{7A89ABB9-9539-5FF6-13ED-D0A22CC7127F}"/>
          </ac:spMkLst>
        </pc:spChg>
        <pc:spChg chg="mod">
          <ac:chgData name="Sounak Dey" userId="845f521f3482d31c" providerId="LiveId" clId="{E5D07761-BE5B-4B8A-80CD-9DA81E525FA1}" dt="2026-09-23T10:47:13.923" v="71" actId="255"/>
          <ac:spMkLst>
            <pc:docMk/>
            <pc:sldMk cId="2953947974" sldId="264"/>
            <ac:spMk id="12" creationId="{CBB8D5AB-8D3E-4DFB-2AE9-CF15D6C7C486}"/>
          </ac:spMkLst>
        </pc:spChg>
        <pc:spChg chg="mod">
          <ac:chgData name="Sounak Dey" userId="845f521f3482d31c" providerId="LiveId" clId="{E5D07761-BE5B-4B8A-80CD-9DA81E525FA1}" dt="2026-09-23T10:47:13.923" v="71" actId="255"/>
          <ac:spMkLst>
            <pc:docMk/>
            <pc:sldMk cId="2953947974" sldId="264"/>
            <ac:spMk id="13" creationId="{A8EBCD57-9B45-1905-9133-B66C60327244}"/>
          </ac:spMkLst>
        </pc:spChg>
        <pc:spChg chg="mod">
          <ac:chgData name="Sounak Dey" userId="845f521f3482d31c" providerId="LiveId" clId="{E5D07761-BE5B-4B8A-80CD-9DA81E525FA1}" dt="2026-09-23T10:47:13.923" v="71" actId="255"/>
          <ac:spMkLst>
            <pc:docMk/>
            <pc:sldMk cId="2953947974" sldId="264"/>
            <ac:spMk id="14" creationId="{4CE56D01-9C7C-1476-193D-11BC4DC2B15D}"/>
          </ac:spMkLst>
        </pc:spChg>
        <pc:spChg chg="mod">
          <ac:chgData name="Sounak Dey" userId="845f521f3482d31c" providerId="LiveId" clId="{E5D07761-BE5B-4B8A-80CD-9DA81E525FA1}" dt="2026-09-23T10:48:03.471" v="77" actId="255"/>
          <ac:spMkLst>
            <pc:docMk/>
            <pc:sldMk cId="2953947974" sldId="264"/>
            <ac:spMk id="15" creationId="{327230F9-B8C6-A3C5-E843-A19D92B15166}"/>
          </ac:spMkLst>
        </pc:spChg>
        <pc:spChg chg="mod">
          <ac:chgData name="Sounak Dey" userId="845f521f3482d31c" providerId="LiveId" clId="{E5D07761-BE5B-4B8A-80CD-9DA81E525FA1}" dt="2026-09-23T10:47:13.923" v="71" actId="255"/>
          <ac:spMkLst>
            <pc:docMk/>
            <pc:sldMk cId="2953947974" sldId="264"/>
            <ac:spMk id="17" creationId="{8E4E7279-94B6-628F-DD75-820C8E3F69D0}"/>
          </ac:spMkLst>
        </pc:spChg>
        <pc:spChg chg="mod">
          <ac:chgData name="Sounak Dey" userId="845f521f3482d31c" providerId="LiveId" clId="{E5D07761-BE5B-4B8A-80CD-9DA81E525FA1}" dt="2026-09-23T10:47:13.923" v="71" actId="255"/>
          <ac:spMkLst>
            <pc:docMk/>
            <pc:sldMk cId="2953947974" sldId="264"/>
            <ac:spMk id="20" creationId="{0C2FDD3E-CCD8-F802-C9EA-DE998AD5F678}"/>
          </ac:spMkLst>
        </pc:spChg>
      </pc:sldChg>
      <pc:sldChg chg="modSp mod">
        <pc:chgData name="Sounak Dey" userId="845f521f3482d31c" providerId="LiveId" clId="{E5D07761-BE5B-4B8A-80CD-9DA81E525FA1}" dt="2026-09-23T10:38:29.478" v="27" actId="255"/>
        <pc:sldMkLst>
          <pc:docMk/>
          <pc:sldMk cId="1642332916" sldId="267"/>
        </pc:sldMkLst>
        <pc:spChg chg="mod">
          <ac:chgData name="Sounak Dey" userId="845f521f3482d31c" providerId="LiveId" clId="{E5D07761-BE5B-4B8A-80CD-9DA81E525FA1}" dt="2026-09-23T10:38:11.081" v="24" actId="1076"/>
          <ac:spMkLst>
            <pc:docMk/>
            <pc:sldMk cId="1642332916" sldId="267"/>
            <ac:spMk id="22" creationId="{616AD94B-0CEA-F4EF-7EDF-57F6E3576F1C}"/>
          </ac:spMkLst>
        </pc:spChg>
        <pc:spChg chg="mod">
          <ac:chgData name="Sounak Dey" userId="845f521f3482d31c" providerId="LiveId" clId="{E5D07761-BE5B-4B8A-80CD-9DA81E525FA1}" dt="2026-09-23T10:36:19.282" v="8" actId="255"/>
          <ac:spMkLst>
            <pc:docMk/>
            <pc:sldMk cId="1642332916" sldId="267"/>
            <ac:spMk id="24" creationId="{67EA6D93-EC41-18E6-CCA0-5D148979DE26}"/>
          </ac:spMkLst>
        </pc:spChg>
        <pc:spChg chg="mod">
          <ac:chgData name="Sounak Dey" userId="845f521f3482d31c" providerId="LiveId" clId="{E5D07761-BE5B-4B8A-80CD-9DA81E525FA1}" dt="2026-09-23T10:38:29.478" v="27" actId="255"/>
          <ac:spMkLst>
            <pc:docMk/>
            <pc:sldMk cId="1642332916" sldId="267"/>
            <ac:spMk id="28" creationId="{4AC3BFDA-9070-B640-A380-326DB9CBD4FE}"/>
          </ac:spMkLst>
        </pc:spChg>
        <pc:spChg chg="mod">
          <ac:chgData name="Sounak Dey" userId="845f521f3482d31c" providerId="LiveId" clId="{E5D07761-BE5B-4B8A-80CD-9DA81E525FA1}" dt="2026-09-23T10:38:24.667" v="26" actId="255"/>
          <ac:spMkLst>
            <pc:docMk/>
            <pc:sldMk cId="1642332916" sldId="267"/>
            <ac:spMk id="32" creationId="{F78E9F9C-58D1-D921-CDC2-17942AC6CC53}"/>
          </ac:spMkLst>
        </pc:spChg>
        <pc:spChg chg="mod">
          <ac:chgData name="Sounak Dey" userId="845f521f3482d31c" providerId="LiveId" clId="{E5D07761-BE5B-4B8A-80CD-9DA81E525FA1}" dt="2026-09-23T10:38:17.850" v="25" actId="255"/>
          <ac:spMkLst>
            <pc:docMk/>
            <pc:sldMk cId="1642332916" sldId="267"/>
            <ac:spMk id="36" creationId="{FBFA0CA4-4836-51FA-7A46-47982C0B0C75}"/>
          </ac:spMkLst>
        </pc:spChg>
      </pc:sldChg>
      <pc:sldChg chg="modSp mod">
        <pc:chgData name="Sounak Dey" userId="845f521f3482d31c" providerId="LiveId" clId="{E5D07761-BE5B-4B8A-80CD-9DA81E525FA1}" dt="2026-10-03T08:31:42.949" v="158" actId="255"/>
        <pc:sldMkLst>
          <pc:docMk/>
          <pc:sldMk cId="1565190185" sldId="268"/>
        </pc:sldMkLst>
        <pc:spChg chg="mod">
          <ac:chgData name="Sounak Dey" userId="845f521f3482d31c" providerId="LiveId" clId="{E5D07761-BE5B-4B8A-80CD-9DA81E525FA1}" dt="2026-09-23T10:46:41.815" v="70" actId="255"/>
          <ac:spMkLst>
            <pc:docMk/>
            <pc:sldMk cId="1565190185" sldId="268"/>
            <ac:spMk id="5" creationId="{A0593368-FC53-E02D-6474-997C43B2DA0A}"/>
          </ac:spMkLst>
        </pc:spChg>
        <pc:spChg chg="mod">
          <ac:chgData name="Sounak Dey" userId="845f521f3482d31c" providerId="LiveId" clId="{E5D07761-BE5B-4B8A-80CD-9DA81E525FA1}" dt="2026-09-23T10:46:41.815" v="70" actId="255"/>
          <ac:spMkLst>
            <pc:docMk/>
            <pc:sldMk cId="1565190185" sldId="268"/>
            <ac:spMk id="7" creationId="{59C22D83-62BD-ADCE-C199-0AEC337D54B9}"/>
          </ac:spMkLst>
        </pc:spChg>
        <pc:spChg chg="mod">
          <ac:chgData name="Sounak Dey" userId="845f521f3482d31c" providerId="LiveId" clId="{E5D07761-BE5B-4B8A-80CD-9DA81E525FA1}" dt="2026-09-23T10:46:41.815" v="70" actId="255"/>
          <ac:spMkLst>
            <pc:docMk/>
            <pc:sldMk cId="1565190185" sldId="268"/>
            <ac:spMk id="8" creationId="{FB633B6A-51CD-A583-A861-AE5372B7BA23}"/>
          </ac:spMkLst>
        </pc:spChg>
        <pc:spChg chg="mod">
          <ac:chgData name="Sounak Dey" userId="845f521f3482d31c" providerId="LiveId" clId="{E5D07761-BE5B-4B8A-80CD-9DA81E525FA1}" dt="2026-09-23T10:46:41.815" v="70" actId="255"/>
          <ac:spMkLst>
            <pc:docMk/>
            <pc:sldMk cId="1565190185" sldId="268"/>
            <ac:spMk id="14" creationId="{EA7F3905-80EC-87F8-0E66-50FD5548E7E7}"/>
          </ac:spMkLst>
        </pc:spChg>
        <pc:spChg chg="mod">
          <ac:chgData name="Sounak Dey" userId="845f521f3482d31c" providerId="LiveId" clId="{E5D07761-BE5B-4B8A-80CD-9DA81E525FA1}" dt="2026-09-23T10:46:41.815" v="70" actId="255"/>
          <ac:spMkLst>
            <pc:docMk/>
            <pc:sldMk cId="1565190185" sldId="268"/>
            <ac:spMk id="17" creationId="{4177C7BE-4C3B-84B5-6D89-702E89EA6712}"/>
          </ac:spMkLst>
        </pc:spChg>
        <pc:spChg chg="mod">
          <ac:chgData name="Sounak Dey" userId="845f521f3482d31c" providerId="LiveId" clId="{E5D07761-BE5B-4B8A-80CD-9DA81E525FA1}" dt="2026-09-23T10:40:19.978" v="39" actId="255"/>
          <ac:spMkLst>
            <pc:docMk/>
            <pc:sldMk cId="1565190185" sldId="268"/>
            <ac:spMk id="19" creationId="{2C745B27-DFE7-AE48-1E8D-AAF4A698856D}"/>
          </ac:spMkLst>
        </pc:spChg>
        <pc:spChg chg="mod">
          <ac:chgData name="Sounak Dey" userId="845f521f3482d31c" providerId="LiveId" clId="{E5D07761-BE5B-4B8A-80CD-9DA81E525FA1}" dt="2026-09-23T10:40:11.850" v="38" actId="255"/>
          <ac:spMkLst>
            <pc:docMk/>
            <pc:sldMk cId="1565190185" sldId="268"/>
            <ac:spMk id="21" creationId="{2E0D4331-29EE-D567-772F-EF46D7E6D2B5}"/>
          </ac:spMkLst>
        </pc:spChg>
        <pc:spChg chg="mod">
          <ac:chgData name="Sounak Dey" userId="845f521f3482d31c" providerId="LiveId" clId="{E5D07761-BE5B-4B8A-80CD-9DA81E525FA1}" dt="2026-09-23T10:46:41.815" v="70" actId="255"/>
          <ac:spMkLst>
            <pc:docMk/>
            <pc:sldMk cId="1565190185" sldId="268"/>
            <ac:spMk id="22" creationId="{BAC075AA-C00D-66FF-D4B2-91267FA0B6E8}"/>
          </ac:spMkLst>
        </pc:spChg>
        <pc:spChg chg="mod">
          <ac:chgData name="Sounak Dey" userId="845f521f3482d31c" providerId="LiveId" clId="{E5D07761-BE5B-4B8A-80CD-9DA81E525FA1}" dt="2026-09-23T10:46:41.815" v="70" actId="255"/>
          <ac:spMkLst>
            <pc:docMk/>
            <pc:sldMk cId="1565190185" sldId="268"/>
            <ac:spMk id="23" creationId="{A3143DFF-6F69-BC3C-BE2B-CF01F7E9A05B}"/>
          </ac:spMkLst>
        </pc:spChg>
        <pc:spChg chg="mod">
          <ac:chgData name="Sounak Dey" userId="845f521f3482d31c" providerId="LiveId" clId="{E5D07761-BE5B-4B8A-80CD-9DA81E525FA1}" dt="2026-09-23T10:46:41.815" v="70" actId="255"/>
          <ac:spMkLst>
            <pc:docMk/>
            <pc:sldMk cId="1565190185" sldId="268"/>
            <ac:spMk id="25" creationId="{894ECD38-E0BA-3439-809B-8CF0611EB673}"/>
          </ac:spMkLst>
        </pc:spChg>
        <pc:spChg chg="mod">
          <ac:chgData name="Sounak Dey" userId="845f521f3482d31c" providerId="LiveId" clId="{E5D07761-BE5B-4B8A-80CD-9DA81E525FA1}" dt="2026-10-03T08:31:42.949" v="158" actId="255"/>
          <ac:spMkLst>
            <pc:docMk/>
            <pc:sldMk cId="1565190185" sldId="268"/>
            <ac:spMk id="30" creationId="{D6A3ED6F-70DF-6E0A-9088-8D3D0B0EEF2F}"/>
          </ac:spMkLst>
        </pc:spChg>
        <pc:spChg chg="mod">
          <ac:chgData name="Sounak Dey" userId="845f521f3482d31c" providerId="LiveId" clId="{E5D07761-BE5B-4B8A-80CD-9DA81E525FA1}" dt="2026-09-23T10:46:41.815" v="70" actId="255"/>
          <ac:spMkLst>
            <pc:docMk/>
            <pc:sldMk cId="1565190185" sldId="268"/>
            <ac:spMk id="32" creationId="{7F8812B4-3F29-3F53-9E83-A2DC51DD21B8}"/>
          </ac:spMkLst>
        </pc:spChg>
        <pc:spChg chg="mod">
          <ac:chgData name="Sounak Dey" userId="845f521f3482d31c" providerId="LiveId" clId="{E5D07761-BE5B-4B8A-80CD-9DA81E525FA1}" dt="2026-09-23T10:46:41.815" v="70" actId="255"/>
          <ac:spMkLst>
            <pc:docMk/>
            <pc:sldMk cId="1565190185" sldId="268"/>
            <ac:spMk id="33" creationId="{77062089-FBB4-40A3-0AD9-A560D58FC173}"/>
          </ac:spMkLst>
        </pc:spChg>
        <pc:spChg chg="mod">
          <ac:chgData name="Sounak Dey" userId="845f521f3482d31c" providerId="LiveId" clId="{E5D07761-BE5B-4B8A-80CD-9DA81E525FA1}" dt="2026-10-03T08:31:26.592" v="156" actId="255"/>
          <ac:spMkLst>
            <pc:docMk/>
            <pc:sldMk cId="1565190185" sldId="268"/>
            <ac:spMk id="34" creationId="{7EAEBBD8-2CD6-D1DA-EB24-6F8C9C85DB05}"/>
          </ac:spMkLst>
        </pc:spChg>
      </pc:sldChg>
      <pc:sldChg chg="modSp mod">
        <pc:chgData name="Sounak Dey" userId="845f521f3482d31c" providerId="LiveId" clId="{E5D07761-BE5B-4B8A-80CD-9DA81E525FA1}" dt="2026-09-23T10:46:28.779" v="69" actId="255"/>
        <pc:sldMkLst>
          <pc:docMk/>
          <pc:sldMk cId="1727010242" sldId="269"/>
        </pc:sldMkLst>
        <pc:spChg chg="mod">
          <ac:chgData name="Sounak Dey" userId="845f521f3482d31c" providerId="LiveId" clId="{E5D07761-BE5B-4B8A-80CD-9DA81E525FA1}" dt="2026-09-23T10:46:28.779" v="69" actId="255"/>
          <ac:spMkLst>
            <pc:docMk/>
            <pc:sldMk cId="1727010242" sldId="269"/>
            <ac:spMk id="4" creationId="{FC90583C-3448-AFBB-E753-2EBEBA9D033C}"/>
          </ac:spMkLst>
        </pc:spChg>
        <pc:spChg chg="mod">
          <ac:chgData name="Sounak Dey" userId="845f521f3482d31c" providerId="LiveId" clId="{E5D07761-BE5B-4B8A-80CD-9DA81E525FA1}" dt="2026-09-23T10:46:28.779" v="69" actId="255"/>
          <ac:spMkLst>
            <pc:docMk/>
            <pc:sldMk cId="1727010242" sldId="269"/>
            <ac:spMk id="8" creationId="{3E7BA854-144D-BB57-1A6D-513DE8117A43}"/>
          </ac:spMkLst>
        </pc:spChg>
        <pc:spChg chg="mod">
          <ac:chgData name="Sounak Dey" userId="845f521f3482d31c" providerId="LiveId" clId="{E5D07761-BE5B-4B8A-80CD-9DA81E525FA1}" dt="2026-09-23T10:46:28.779" v="69" actId="255"/>
          <ac:spMkLst>
            <pc:docMk/>
            <pc:sldMk cId="1727010242" sldId="269"/>
            <ac:spMk id="18" creationId="{3146CE06-A94C-2C2F-B9F0-61AB4998B31C}"/>
          </ac:spMkLst>
        </pc:spChg>
        <pc:spChg chg="mod">
          <ac:chgData name="Sounak Dey" userId="845f521f3482d31c" providerId="LiveId" clId="{E5D07761-BE5B-4B8A-80CD-9DA81E525FA1}" dt="2026-09-23T10:40:36.586" v="41" actId="255"/>
          <ac:spMkLst>
            <pc:docMk/>
            <pc:sldMk cId="1727010242" sldId="269"/>
            <ac:spMk id="24" creationId="{6084FCB8-9F03-A34D-CBFC-1DA9E323954C}"/>
          </ac:spMkLst>
        </pc:spChg>
        <pc:spChg chg="mod">
          <ac:chgData name="Sounak Dey" userId="845f521f3482d31c" providerId="LiveId" clId="{E5D07761-BE5B-4B8A-80CD-9DA81E525FA1}" dt="2026-09-23T10:46:28.779" v="69" actId="255"/>
          <ac:spMkLst>
            <pc:docMk/>
            <pc:sldMk cId="1727010242" sldId="269"/>
            <ac:spMk id="27" creationId="{A3D17CA9-9AAD-8EB9-8489-21FD3372C749}"/>
          </ac:spMkLst>
        </pc:spChg>
        <pc:spChg chg="mod">
          <ac:chgData name="Sounak Dey" userId="845f521f3482d31c" providerId="LiveId" clId="{E5D07761-BE5B-4B8A-80CD-9DA81E525FA1}" dt="2026-09-23T10:40:41.187" v="42" actId="255"/>
          <ac:spMkLst>
            <pc:docMk/>
            <pc:sldMk cId="1727010242" sldId="269"/>
            <ac:spMk id="28" creationId="{BB7FCED5-D95E-5F8B-CD0C-BD971B6FAEC8}"/>
          </ac:spMkLst>
        </pc:spChg>
        <pc:spChg chg="mod">
          <ac:chgData name="Sounak Dey" userId="845f521f3482d31c" providerId="LiveId" clId="{E5D07761-BE5B-4B8A-80CD-9DA81E525FA1}" dt="2026-09-23T10:40:45.507" v="43" actId="255"/>
          <ac:spMkLst>
            <pc:docMk/>
            <pc:sldMk cId="1727010242" sldId="269"/>
            <ac:spMk id="32" creationId="{97E65395-1E5D-9552-011E-219A381F676A}"/>
          </ac:spMkLst>
        </pc:spChg>
        <pc:spChg chg="mod">
          <ac:chgData name="Sounak Dey" userId="845f521f3482d31c" providerId="LiveId" clId="{E5D07761-BE5B-4B8A-80CD-9DA81E525FA1}" dt="2026-09-23T10:46:28.779" v="69" actId="255"/>
          <ac:spMkLst>
            <pc:docMk/>
            <pc:sldMk cId="1727010242" sldId="269"/>
            <ac:spMk id="34" creationId="{EE039734-868B-39C8-F3FC-F4190C764030}"/>
          </ac:spMkLst>
        </pc:spChg>
        <pc:spChg chg="mod">
          <ac:chgData name="Sounak Dey" userId="845f521f3482d31c" providerId="LiveId" clId="{E5D07761-BE5B-4B8A-80CD-9DA81E525FA1}" dt="2026-09-23T10:40:49.419" v="44" actId="255"/>
          <ac:spMkLst>
            <pc:docMk/>
            <pc:sldMk cId="1727010242" sldId="269"/>
            <ac:spMk id="36" creationId="{D4B00269-15F5-6C4F-3BCB-BEB2D6E880D0}"/>
          </ac:spMkLst>
        </pc:spChg>
        <pc:spChg chg="mod">
          <ac:chgData name="Sounak Dey" userId="845f521f3482d31c" providerId="LiveId" clId="{E5D07761-BE5B-4B8A-80CD-9DA81E525FA1}" dt="2026-09-23T10:46:28.779" v="69" actId="255"/>
          <ac:spMkLst>
            <pc:docMk/>
            <pc:sldMk cId="1727010242" sldId="269"/>
            <ac:spMk id="37" creationId="{22C70D89-EF90-13E9-63BD-F766415B724B}"/>
          </ac:spMkLst>
        </pc:spChg>
        <pc:spChg chg="mod">
          <ac:chgData name="Sounak Dey" userId="845f521f3482d31c" providerId="LiveId" clId="{E5D07761-BE5B-4B8A-80CD-9DA81E525FA1}" dt="2026-09-23T10:46:28.779" v="69" actId="255"/>
          <ac:spMkLst>
            <pc:docMk/>
            <pc:sldMk cId="1727010242" sldId="269"/>
            <ac:spMk id="38" creationId="{4D22F2D9-7256-2803-CC53-87DA202A7057}"/>
          </ac:spMkLst>
        </pc:spChg>
        <pc:spChg chg="mod">
          <ac:chgData name="Sounak Dey" userId="845f521f3482d31c" providerId="LiveId" clId="{E5D07761-BE5B-4B8A-80CD-9DA81E525FA1}" dt="2026-09-23T10:46:28.779" v="69" actId="255"/>
          <ac:spMkLst>
            <pc:docMk/>
            <pc:sldMk cId="1727010242" sldId="269"/>
            <ac:spMk id="39" creationId="{3E8C7F3E-073D-508C-F547-FF6B508AA9B6}"/>
          </ac:spMkLst>
        </pc:spChg>
        <pc:spChg chg="mod">
          <ac:chgData name="Sounak Dey" userId="845f521f3482d31c" providerId="LiveId" clId="{E5D07761-BE5B-4B8A-80CD-9DA81E525FA1}" dt="2026-09-23T10:46:28.779" v="69" actId="255"/>
          <ac:spMkLst>
            <pc:docMk/>
            <pc:sldMk cId="1727010242" sldId="269"/>
            <ac:spMk id="48" creationId="{2E9A3190-2CA7-AF67-D0CE-FE541491579C}"/>
          </ac:spMkLst>
        </pc:spChg>
        <pc:spChg chg="mod">
          <ac:chgData name="Sounak Dey" userId="845f521f3482d31c" providerId="LiveId" clId="{E5D07761-BE5B-4B8A-80CD-9DA81E525FA1}" dt="2026-09-23T10:46:28.779" v="69" actId="255"/>
          <ac:spMkLst>
            <pc:docMk/>
            <pc:sldMk cId="1727010242" sldId="269"/>
            <ac:spMk id="49" creationId="{B925D160-76D5-7CEF-D30C-9A45A872FE58}"/>
          </ac:spMkLst>
        </pc:spChg>
      </pc:sldChg>
      <pc:sldChg chg="modSp mod">
        <pc:chgData name="Sounak Dey" userId="845f521f3482d31c" providerId="LiveId" clId="{E5D07761-BE5B-4B8A-80CD-9DA81E525FA1}" dt="2026-09-23T10:46:16.615" v="68" actId="255"/>
        <pc:sldMkLst>
          <pc:docMk/>
          <pc:sldMk cId="3817356778" sldId="270"/>
        </pc:sldMkLst>
        <pc:spChg chg="mod">
          <ac:chgData name="Sounak Dey" userId="845f521f3482d31c" providerId="LiveId" clId="{E5D07761-BE5B-4B8A-80CD-9DA81E525FA1}" dt="2026-09-23T10:46:16.615" v="68" actId="255"/>
          <ac:spMkLst>
            <pc:docMk/>
            <pc:sldMk cId="3817356778" sldId="270"/>
            <ac:spMk id="2" creationId="{985C65C6-ED45-E294-7C46-B41E2819844F}"/>
          </ac:spMkLst>
        </pc:spChg>
        <pc:spChg chg="mod">
          <ac:chgData name="Sounak Dey" userId="845f521f3482d31c" providerId="LiveId" clId="{E5D07761-BE5B-4B8A-80CD-9DA81E525FA1}" dt="2026-09-23T10:46:16.615" v="68" actId="255"/>
          <ac:spMkLst>
            <pc:docMk/>
            <pc:sldMk cId="3817356778" sldId="270"/>
            <ac:spMk id="3" creationId="{753E56F9-56BC-9981-45BE-415F79805C88}"/>
          </ac:spMkLst>
        </pc:spChg>
        <pc:spChg chg="mod">
          <ac:chgData name="Sounak Dey" userId="845f521f3482d31c" providerId="LiveId" clId="{E5D07761-BE5B-4B8A-80CD-9DA81E525FA1}" dt="2026-09-23T10:46:16.615" v="68" actId="255"/>
          <ac:spMkLst>
            <pc:docMk/>
            <pc:sldMk cId="3817356778" sldId="270"/>
            <ac:spMk id="5" creationId="{622ECEE6-9645-1293-F848-90E1DFF7BF9E}"/>
          </ac:spMkLst>
        </pc:spChg>
        <pc:spChg chg="mod">
          <ac:chgData name="Sounak Dey" userId="845f521f3482d31c" providerId="LiveId" clId="{E5D07761-BE5B-4B8A-80CD-9DA81E525FA1}" dt="2026-09-23T10:40:56.987" v="45" actId="255"/>
          <ac:spMkLst>
            <pc:docMk/>
            <pc:sldMk cId="3817356778" sldId="270"/>
            <ac:spMk id="8" creationId="{B9DC8162-074E-6297-FC20-1AE65A6D75F9}"/>
          </ac:spMkLst>
        </pc:spChg>
        <pc:spChg chg="mod">
          <ac:chgData name="Sounak Dey" userId="845f521f3482d31c" providerId="LiveId" clId="{E5D07761-BE5B-4B8A-80CD-9DA81E525FA1}" dt="2026-09-23T10:41:00.338" v="46" actId="255"/>
          <ac:spMkLst>
            <pc:docMk/>
            <pc:sldMk cId="3817356778" sldId="270"/>
            <ac:spMk id="12" creationId="{EADA4B82-04B9-72A7-B0BE-231BD594D71E}"/>
          </ac:spMkLst>
        </pc:spChg>
        <pc:spChg chg="mod">
          <ac:chgData name="Sounak Dey" userId="845f521f3482d31c" providerId="LiveId" clId="{E5D07761-BE5B-4B8A-80CD-9DA81E525FA1}" dt="2026-09-23T10:41:04.002" v="47" actId="255"/>
          <ac:spMkLst>
            <pc:docMk/>
            <pc:sldMk cId="3817356778" sldId="270"/>
            <ac:spMk id="16" creationId="{6B0EE367-64E1-93B5-4383-BC721CBCB6B9}"/>
          </ac:spMkLst>
        </pc:spChg>
        <pc:spChg chg="mod">
          <ac:chgData name="Sounak Dey" userId="845f521f3482d31c" providerId="LiveId" clId="{E5D07761-BE5B-4B8A-80CD-9DA81E525FA1}" dt="2026-09-23T10:46:16.615" v="68" actId="255"/>
          <ac:spMkLst>
            <pc:docMk/>
            <pc:sldMk cId="3817356778" sldId="270"/>
            <ac:spMk id="17" creationId="{998FCAAE-17FE-1542-B8D7-6C694F46FDE5}"/>
          </ac:spMkLst>
        </pc:spChg>
        <pc:spChg chg="mod">
          <ac:chgData name="Sounak Dey" userId="845f521f3482d31c" providerId="LiveId" clId="{E5D07761-BE5B-4B8A-80CD-9DA81E525FA1}" dt="2026-09-23T10:41:07.113" v="48" actId="255"/>
          <ac:spMkLst>
            <pc:docMk/>
            <pc:sldMk cId="3817356778" sldId="270"/>
            <ac:spMk id="20" creationId="{80A5ED36-3E58-EA95-C41A-E47C1729CCBB}"/>
          </ac:spMkLst>
        </pc:spChg>
        <pc:spChg chg="mod">
          <ac:chgData name="Sounak Dey" userId="845f521f3482d31c" providerId="LiveId" clId="{E5D07761-BE5B-4B8A-80CD-9DA81E525FA1}" dt="2026-09-23T10:46:16.615" v="68" actId="255"/>
          <ac:spMkLst>
            <pc:docMk/>
            <pc:sldMk cId="3817356778" sldId="270"/>
            <ac:spMk id="22" creationId="{ACEDF1B7-7D46-D970-F68E-AFA37667D609}"/>
          </ac:spMkLst>
        </pc:spChg>
        <pc:spChg chg="mod">
          <ac:chgData name="Sounak Dey" userId="845f521f3482d31c" providerId="LiveId" clId="{E5D07761-BE5B-4B8A-80CD-9DA81E525FA1}" dt="2026-09-23T10:41:10.307" v="49" actId="255"/>
          <ac:spMkLst>
            <pc:docMk/>
            <pc:sldMk cId="3817356778" sldId="270"/>
            <ac:spMk id="24" creationId="{C45D811F-5824-E538-0FFF-52CC48210A09}"/>
          </ac:spMkLst>
        </pc:spChg>
        <pc:spChg chg="mod">
          <ac:chgData name="Sounak Dey" userId="845f521f3482d31c" providerId="LiveId" clId="{E5D07761-BE5B-4B8A-80CD-9DA81E525FA1}" dt="2026-09-23T10:46:16.615" v="68" actId="255"/>
          <ac:spMkLst>
            <pc:docMk/>
            <pc:sldMk cId="3817356778" sldId="270"/>
            <ac:spMk id="28" creationId="{E9B2046A-9D0E-CAA9-444A-9B52E8B8540C}"/>
          </ac:spMkLst>
        </pc:spChg>
        <pc:spChg chg="mod">
          <ac:chgData name="Sounak Dey" userId="845f521f3482d31c" providerId="LiveId" clId="{E5D07761-BE5B-4B8A-80CD-9DA81E525FA1}" dt="2026-09-23T10:46:16.615" v="68" actId="255"/>
          <ac:spMkLst>
            <pc:docMk/>
            <pc:sldMk cId="3817356778" sldId="270"/>
            <ac:spMk id="30" creationId="{C7AEF004-6FBF-98DB-8A0E-0DFA9A6E6CB5}"/>
          </ac:spMkLst>
        </pc:spChg>
        <pc:spChg chg="mod">
          <ac:chgData name="Sounak Dey" userId="845f521f3482d31c" providerId="LiveId" clId="{E5D07761-BE5B-4B8A-80CD-9DA81E525FA1}" dt="2026-09-23T10:41:45.963" v="52" actId="20577"/>
          <ac:spMkLst>
            <pc:docMk/>
            <pc:sldMk cId="3817356778" sldId="270"/>
            <ac:spMk id="32" creationId="{0D755899-A81B-5F41-8FBB-895E4A68E85A}"/>
          </ac:spMkLst>
        </pc:spChg>
        <pc:spChg chg="mod">
          <ac:chgData name="Sounak Dey" userId="845f521f3482d31c" providerId="LiveId" clId="{E5D07761-BE5B-4B8A-80CD-9DA81E525FA1}" dt="2026-09-23T10:46:16.615" v="68" actId="255"/>
          <ac:spMkLst>
            <pc:docMk/>
            <pc:sldMk cId="3817356778" sldId="270"/>
            <ac:spMk id="33" creationId="{8D62092C-F7DA-9F5C-A3C7-629BA1969767}"/>
          </ac:spMkLst>
        </pc:spChg>
        <pc:spChg chg="mod">
          <ac:chgData name="Sounak Dey" userId="845f521f3482d31c" providerId="LiveId" clId="{E5D07761-BE5B-4B8A-80CD-9DA81E525FA1}" dt="2026-09-23T10:46:16.615" v="68" actId="255"/>
          <ac:spMkLst>
            <pc:docMk/>
            <pc:sldMk cId="3817356778" sldId="270"/>
            <ac:spMk id="35" creationId="{69CE66B8-6356-C7D5-9F9A-FC505DD1F510}"/>
          </ac:spMkLst>
        </pc:spChg>
        <pc:spChg chg="mod">
          <ac:chgData name="Sounak Dey" userId="845f521f3482d31c" providerId="LiveId" clId="{E5D07761-BE5B-4B8A-80CD-9DA81E525FA1}" dt="2026-09-23T10:46:16.615" v="68" actId="255"/>
          <ac:spMkLst>
            <pc:docMk/>
            <pc:sldMk cId="3817356778" sldId="270"/>
            <ac:spMk id="42" creationId="{191936A4-F6D4-B7A7-303B-A821FDA70A28}"/>
          </ac:spMkLst>
        </pc:spChg>
      </pc:sldChg>
      <pc:sldChg chg="modSp mod">
        <pc:chgData name="Sounak Dey" userId="845f521f3482d31c" providerId="LiveId" clId="{E5D07761-BE5B-4B8A-80CD-9DA81E525FA1}" dt="2026-09-23T10:44:46.926" v="61" actId="255"/>
        <pc:sldMkLst>
          <pc:docMk/>
          <pc:sldMk cId="3238185783" sldId="271"/>
        </pc:sldMkLst>
        <pc:spChg chg="mod">
          <ac:chgData name="Sounak Dey" userId="845f521f3482d31c" providerId="LiveId" clId="{E5D07761-BE5B-4B8A-80CD-9DA81E525FA1}" dt="2026-09-23T10:44:46.926" v="61" actId="255"/>
          <ac:spMkLst>
            <pc:docMk/>
            <pc:sldMk cId="3238185783" sldId="271"/>
            <ac:spMk id="2" creationId="{0AB54F77-F3F4-F88A-7391-78569C97C52A}"/>
          </ac:spMkLst>
        </pc:spChg>
        <pc:spChg chg="mod">
          <ac:chgData name="Sounak Dey" userId="845f521f3482d31c" providerId="LiveId" clId="{E5D07761-BE5B-4B8A-80CD-9DA81E525FA1}" dt="2026-09-23T10:44:46.926" v="61" actId="255"/>
          <ac:spMkLst>
            <pc:docMk/>
            <pc:sldMk cId="3238185783" sldId="271"/>
            <ac:spMk id="4" creationId="{A11340B7-35D8-ED3C-CB69-6650EFA7B299}"/>
          </ac:spMkLst>
        </pc:spChg>
        <pc:spChg chg="mod">
          <ac:chgData name="Sounak Dey" userId="845f521f3482d31c" providerId="LiveId" clId="{E5D07761-BE5B-4B8A-80CD-9DA81E525FA1}" dt="2026-09-23T10:44:46.926" v="61" actId="255"/>
          <ac:spMkLst>
            <pc:docMk/>
            <pc:sldMk cId="3238185783" sldId="271"/>
            <ac:spMk id="5" creationId="{06ED981F-F41A-A586-D86D-FDDC727E73D4}"/>
          </ac:spMkLst>
        </pc:spChg>
        <pc:spChg chg="mod">
          <ac:chgData name="Sounak Dey" userId="845f521f3482d31c" providerId="LiveId" clId="{E5D07761-BE5B-4B8A-80CD-9DA81E525FA1}" dt="2026-09-23T10:44:46.926" v="61" actId="255"/>
          <ac:spMkLst>
            <pc:docMk/>
            <pc:sldMk cId="3238185783" sldId="271"/>
            <ac:spMk id="7" creationId="{65284102-E023-B073-F471-F75147138537}"/>
          </ac:spMkLst>
        </pc:spChg>
        <pc:spChg chg="mod">
          <ac:chgData name="Sounak Dey" userId="845f521f3482d31c" providerId="LiveId" clId="{E5D07761-BE5B-4B8A-80CD-9DA81E525FA1}" dt="2026-09-23T10:44:46.926" v="61" actId="255"/>
          <ac:spMkLst>
            <pc:docMk/>
            <pc:sldMk cId="3238185783" sldId="271"/>
            <ac:spMk id="8" creationId="{10433B31-AA38-94E4-FCAD-B20F257DEDBA}"/>
          </ac:spMkLst>
        </pc:spChg>
        <pc:spChg chg="mod">
          <ac:chgData name="Sounak Dey" userId="845f521f3482d31c" providerId="LiveId" clId="{E5D07761-BE5B-4B8A-80CD-9DA81E525FA1}" dt="2026-09-23T10:44:46.926" v="61" actId="255"/>
          <ac:spMkLst>
            <pc:docMk/>
            <pc:sldMk cId="3238185783" sldId="271"/>
            <ac:spMk id="9" creationId="{AFB873F5-2C0B-E397-7775-C82F9320E870}"/>
          </ac:spMkLst>
        </pc:spChg>
        <pc:spChg chg="mod">
          <ac:chgData name="Sounak Dey" userId="845f521f3482d31c" providerId="LiveId" clId="{E5D07761-BE5B-4B8A-80CD-9DA81E525FA1}" dt="2026-09-23T10:44:46.926" v="61" actId="255"/>
          <ac:spMkLst>
            <pc:docMk/>
            <pc:sldMk cId="3238185783" sldId="271"/>
            <ac:spMk id="16" creationId="{C98AD3F4-C89E-0BCD-36B3-1FD3B479F396}"/>
          </ac:spMkLst>
        </pc:spChg>
        <pc:spChg chg="mod">
          <ac:chgData name="Sounak Dey" userId="845f521f3482d31c" providerId="LiveId" clId="{E5D07761-BE5B-4B8A-80CD-9DA81E525FA1}" dt="2026-09-23T10:44:46.926" v="61" actId="255"/>
          <ac:spMkLst>
            <pc:docMk/>
            <pc:sldMk cId="3238185783" sldId="271"/>
            <ac:spMk id="17" creationId="{40603156-BE9D-A73C-98D9-63F109F7C9A4}"/>
          </ac:spMkLst>
        </pc:spChg>
        <pc:spChg chg="mod">
          <ac:chgData name="Sounak Dey" userId="845f521f3482d31c" providerId="LiveId" clId="{E5D07761-BE5B-4B8A-80CD-9DA81E525FA1}" dt="2026-09-23T10:44:46.926" v="61" actId="255"/>
          <ac:spMkLst>
            <pc:docMk/>
            <pc:sldMk cId="3238185783" sldId="271"/>
            <ac:spMk id="24" creationId="{52FD3C59-46F1-D9FF-615A-2C15F75F8DAD}"/>
          </ac:spMkLst>
        </pc:spChg>
        <pc:spChg chg="mod">
          <ac:chgData name="Sounak Dey" userId="845f521f3482d31c" providerId="LiveId" clId="{E5D07761-BE5B-4B8A-80CD-9DA81E525FA1}" dt="2026-09-23T10:44:46.926" v="61" actId="255"/>
          <ac:spMkLst>
            <pc:docMk/>
            <pc:sldMk cId="3238185783" sldId="271"/>
            <ac:spMk id="28" creationId="{47E87280-F19B-103B-6314-6E4E249E0EBA}"/>
          </ac:spMkLst>
        </pc:spChg>
      </pc:sldChg>
      <pc:sldChg chg="modSp mod">
        <pc:chgData name="Sounak Dey" userId="845f521f3482d31c" providerId="LiveId" clId="{E5D07761-BE5B-4B8A-80CD-9DA81E525FA1}" dt="2026-10-03T07:34:41.667" v="147" actId="1076"/>
        <pc:sldMkLst>
          <pc:docMk/>
          <pc:sldMk cId="2210581554" sldId="272"/>
        </pc:sldMkLst>
        <pc:spChg chg="mod">
          <ac:chgData name="Sounak Dey" userId="845f521f3482d31c" providerId="LiveId" clId="{E5D07761-BE5B-4B8A-80CD-9DA81E525FA1}" dt="2026-10-03T07:34:41.667" v="147" actId="1076"/>
          <ac:spMkLst>
            <pc:docMk/>
            <pc:sldMk cId="2210581554" sldId="272"/>
            <ac:spMk id="4" creationId="{0F22F760-40D8-5979-8ED5-17DD091333B0}"/>
          </ac:spMkLst>
        </pc:spChg>
        <pc:spChg chg="mod">
          <ac:chgData name="Sounak Dey" userId="845f521f3482d31c" providerId="LiveId" clId="{E5D07761-BE5B-4B8A-80CD-9DA81E525FA1}" dt="2026-09-23T10:42:13.865" v="53" actId="255"/>
          <ac:spMkLst>
            <pc:docMk/>
            <pc:sldMk cId="2210581554" sldId="272"/>
            <ac:spMk id="7" creationId="{160025C2-D64C-8B53-A3F0-1FF6FFE8744B}"/>
          </ac:spMkLst>
        </pc:spChg>
        <pc:spChg chg="mod">
          <ac:chgData name="Sounak Dey" userId="845f521f3482d31c" providerId="LiveId" clId="{E5D07761-BE5B-4B8A-80CD-9DA81E525FA1}" dt="2026-09-23T10:42:13.865" v="53" actId="255"/>
          <ac:spMkLst>
            <pc:docMk/>
            <pc:sldMk cId="2210581554" sldId="272"/>
            <ac:spMk id="9" creationId="{BAAD32E4-57A2-B35C-6788-E4AA272ED0AD}"/>
          </ac:spMkLst>
        </pc:spChg>
        <pc:spChg chg="mod">
          <ac:chgData name="Sounak Dey" userId="845f521f3482d31c" providerId="LiveId" clId="{E5D07761-BE5B-4B8A-80CD-9DA81E525FA1}" dt="2026-09-23T10:42:13.865" v="53" actId="255"/>
          <ac:spMkLst>
            <pc:docMk/>
            <pc:sldMk cId="2210581554" sldId="272"/>
            <ac:spMk id="10" creationId="{EAC755A7-E175-295D-CD0B-9E69ED559154}"/>
          </ac:spMkLst>
        </pc:spChg>
        <pc:spChg chg="mod">
          <ac:chgData name="Sounak Dey" userId="845f521f3482d31c" providerId="LiveId" clId="{E5D07761-BE5B-4B8A-80CD-9DA81E525FA1}" dt="2026-09-23T10:42:13.865" v="53" actId="255"/>
          <ac:spMkLst>
            <pc:docMk/>
            <pc:sldMk cId="2210581554" sldId="272"/>
            <ac:spMk id="11" creationId="{7D4171DA-19A1-B398-A44F-5497DDA94E1C}"/>
          </ac:spMkLst>
        </pc:spChg>
        <pc:spChg chg="mod">
          <ac:chgData name="Sounak Dey" userId="845f521f3482d31c" providerId="LiveId" clId="{E5D07761-BE5B-4B8A-80CD-9DA81E525FA1}" dt="2026-09-23T10:45:19.432" v="66" actId="14100"/>
          <ac:spMkLst>
            <pc:docMk/>
            <pc:sldMk cId="2210581554" sldId="272"/>
            <ac:spMk id="14" creationId="{74744401-316A-561C-6A9B-70326A1B2235}"/>
          </ac:spMkLst>
        </pc:spChg>
        <pc:spChg chg="mod">
          <ac:chgData name="Sounak Dey" userId="845f521f3482d31c" providerId="LiveId" clId="{E5D07761-BE5B-4B8A-80CD-9DA81E525FA1}" dt="2026-09-23T10:42:13.865" v="53" actId="255"/>
          <ac:spMkLst>
            <pc:docMk/>
            <pc:sldMk cId="2210581554" sldId="272"/>
            <ac:spMk id="23" creationId="{D7507544-B420-85B4-3318-5BE0621F25D7}"/>
          </ac:spMkLst>
        </pc:spChg>
        <pc:spChg chg="mod">
          <ac:chgData name="Sounak Dey" userId="845f521f3482d31c" providerId="LiveId" clId="{E5D07761-BE5B-4B8A-80CD-9DA81E525FA1}" dt="2026-09-23T10:42:13.865" v="53" actId="255"/>
          <ac:spMkLst>
            <pc:docMk/>
            <pc:sldMk cId="2210581554" sldId="272"/>
            <ac:spMk id="26" creationId="{2C3E847C-C1E0-FEDC-78AB-8C649969291C}"/>
          </ac:spMkLst>
        </pc:spChg>
        <pc:spChg chg="mod">
          <ac:chgData name="Sounak Dey" userId="845f521f3482d31c" providerId="LiveId" clId="{E5D07761-BE5B-4B8A-80CD-9DA81E525FA1}" dt="2026-09-23T10:42:13.865" v="53" actId="255"/>
          <ac:spMkLst>
            <pc:docMk/>
            <pc:sldMk cId="2210581554" sldId="272"/>
            <ac:spMk id="27" creationId="{81F0A2FE-3023-637E-D4BD-3F97990E46C2}"/>
          </ac:spMkLst>
        </pc:spChg>
        <pc:spChg chg="mod">
          <ac:chgData name="Sounak Dey" userId="845f521f3482d31c" providerId="LiveId" clId="{E5D07761-BE5B-4B8A-80CD-9DA81E525FA1}" dt="2026-09-23T10:42:13.865" v="53" actId="255"/>
          <ac:spMkLst>
            <pc:docMk/>
            <pc:sldMk cId="2210581554" sldId="272"/>
            <ac:spMk id="31" creationId="{9AE0A965-332A-5293-9BC7-A04943F62D71}"/>
          </ac:spMkLst>
        </pc:spChg>
        <pc:spChg chg="mod">
          <ac:chgData name="Sounak Dey" userId="845f521f3482d31c" providerId="LiveId" clId="{E5D07761-BE5B-4B8A-80CD-9DA81E525FA1}" dt="2026-09-23T10:45:44.543" v="67" actId="20577"/>
          <ac:spMkLst>
            <pc:docMk/>
            <pc:sldMk cId="2210581554" sldId="272"/>
            <ac:spMk id="32" creationId="{339BC5DF-0555-7CE0-CB7C-12DB254FB495}"/>
          </ac:spMkLst>
        </pc:spChg>
        <pc:spChg chg="mod">
          <ac:chgData name="Sounak Dey" userId="845f521f3482d31c" providerId="LiveId" clId="{E5D07761-BE5B-4B8A-80CD-9DA81E525FA1}" dt="2026-09-23T10:42:13.865" v="53" actId="255"/>
          <ac:spMkLst>
            <pc:docMk/>
            <pc:sldMk cId="2210581554" sldId="272"/>
            <ac:spMk id="33" creationId="{EA55C69E-5639-6271-B721-AECD8F2E04A1}"/>
          </ac:spMkLst>
        </pc:spChg>
        <pc:spChg chg="mod">
          <ac:chgData name="Sounak Dey" userId="845f521f3482d31c" providerId="LiveId" clId="{E5D07761-BE5B-4B8A-80CD-9DA81E525FA1}" dt="2026-09-23T10:42:13.865" v="53" actId="255"/>
          <ac:spMkLst>
            <pc:docMk/>
            <pc:sldMk cId="2210581554" sldId="272"/>
            <ac:spMk id="34" creationId="{FB5D7F8E-06CC-77CA-9F2F-7B67E3669ACD}"/>
          </ac:spMkLst>
        </pc:spChg>
      </pc:sldChg>
      <pc:sldChg chg="modSp mod">
        <pc:chgData name="Sounak Dey" userId="845f521f3482d31c" providerId="LiveId" clId="{E5D07761-BE5B-4B8A-80CD-9DA81E525FA1}" dt="2026-09-23T10:44:21.992" v="60" actId="255"/>
        <pc:sldMkLst>
          <pc:docMk/>
          <pc:sldMk cId="3911616171" sldId="273"/>
        </pc:sldMkLst>
        <pc:spChg chg="mod">
          <ac:chgData name="Sounak Dey" userId="845f521f3482d31c" providerId="LiveId" clId="{E5D07761-BE5B-4B8A-80CD-9DA81E525FA1}" dt="2026-09-23T10:42:48.125" v="54" actId="255"/>
          <ac:spMkLst>
            <pc:docMk/>
            <pc:sldMk cId="3911616171" sldId="273"/>
            <ac:spMk id="2" creationId="{AF1CF26C-D8EF-C94A-83C6-930967088209}"/>
          </ac:spMkLst>
        </pc:spChg>
        <pc:spChg chg="mod">
          <ac:chgData name="Sounak Dey" userId="845f521f3482d31c" providerId="LiveId" clId="{E5D07761-BE5B-4B8A-80CD-9DA81E525FA1}" dt="2026-09-23T10:42:48.125" v="54" actId="255"/>
          <ac:spMkLst>
            <pc:docMk/>
            <pc:sldMk cId="3911616171" sldId="273"/>
            <ac:spMk id="3" creationId="{C54DEE86-D195-74FF-9B98-A14635B18417}"/>
          </ac:spMkLst>
        </pc:spChg>
        <pc:spChg chg="mod">
          <ac:chgData name="Sounak Dey" userId="845f521f3482d31c" providerId="LiveId" clId="{E5D07761-BE5B-4B8A-80CD-9DA81E525FA1}" dt="2026-09-23T10:42:48.125" v="54" actId="255"/>
          <ac:spMkLst>
            <pc:docMk/>
            <pc:sldMk cId="3911616171" sldId="273"/>
            <ac:spMk id="5" creationId="{A3D7C439-C019-D876-0F5B-A1025B4CC2FB}"/>
          </ac:spMkLst>
        </pc:spChg>
        <pc:spChg chg="mod">
          <ac:chgData name="Sounak Dey" userId="845f521f3482d31c" providerId="LiveId" clId="{E5D07761-BE5B-4B8A-80CD-9DA81E525FA1}" dt="2026-09-23T10:42:48.125" v="54" actId="255"/>
          <ac:spMkLst>
            <pc:docMk/>
            <pc:sldMk cId="3911616171" sldId="273"/>
            <ac:spMk id="6" creationId="{FC116742-529D-8B54-142D-D4A66AFE95FB}"/>
          </ac:spMkLst>
        </pc:spChg>
        <pc:spChg chg="mod">
          <ac:chgData name="Sounak Dey" userId="845f521f3482d31c" providerId="LiveId" clId="{E5D07761-BE5B-4B8A-80CD-9DA81E525FA1}" dt="2026-09-23T10:42:48.125" v="54" actId="255"/>
          <ac:spMkLst>
            <pc:docMk/>
            <pc:sldMk cId="3911616171" sldId="273"/>
            <ac:spMk id="10" creationId="{70CDF74B-A7B0-8C04-45A9-8DCC1C8F2AA8}"/>
          </ac:spMkLst>
        </pc:spChg>
        <pc:spChg chg="mod">
          <ac:chgData name="Sounak Dey" userId="845f521f3482d31c" providerId="LiveId" clId="{E5D07761-BE5B-4B8A-80CD-9DA81E525FA1}" dt="2026-09-23T10:42:48.125" v="54" actId="255"/>
          <ac:spMkLst>
            <pc:docMk/>
            <pc:sldMk cId="3911616171" sldId="273"/>
            <ac:spMk id="11" creationId="{098B115A-9408-E404-B854-D6745C8AA902}"/>
          </ac:spMkLst>
        </pc:spChg>
        <pc:spChg chg="mod">
          <ac:chgData name="Sounak Dey" userId="845f521f3482d31c" providerId="LiveId" clId="{E5D07761-BE5B-4B8A-80CD-9DA81E525FA1}" dt="2026-09-23T10:42:48.125" v="54" actId="255"/>
          <ac:spMkLst>
            <pc:docMk/>
            <pc:sldMk cId="3911616171" sldId="273"/>
            <ac:spMk id="15" creationId="{BB2A51C9-48C8-8019-C3DF-D7C16FC9561E}"/>
          </ac:spMkLst>
        </pc:spChg>
        <pc:spChg chg="mod">
          <ac:chgData name="Sounak Dey" userId="845f521f3482d31c" providerId="LiveId" clId="{E5D07761-BE5B-4B8A-80CD-9DA81E525FA1}" dt="2026-09-23T10:42:48.125" v="54" actId="255"/>
          <ac:spMkLst>
            <pc:docMk/>
            <pc:sldMk cId="3911616171" sldId="273"/>
            <ac:spMk id="16" creationId="{66D73DFE-36AF-6D7B-DD97-1F706D36D317}"/>
          </ac:spMkLst>
        </pc:spChg>
        <pc:spChg chg="mod">
          <ac:chgData name="Sounak Dey" userId="845f521f3482d31c" providerId="LiveId" clId="{E5D07761-BE5B-4B8A-80CD-9DA81E525FA1}" dt="2026-09-23T10:42:48.125" v="54" actId="255"/>
          <ac:spMkLst>
            <pc:docMk/>
            <pc:sldMk cId="3911616171" sldId="273"/>
            <ac:spMk id="18" creationId="{938E7E3A-ECF8-4821-2DB4-011DE346FCFF}"/>
          </ac:spMkLst>
        </pc:spChg>
        <pc:spChg chg="mod">
          <ac:chgData name="Sounak Dey" userId="845f521f3482d31c" providerId="LiveId" clId="{E5D07761-BE5B-4B8A-80CD-9DA81E525FA1}" dt="2026-09-23T10:43:37.641" v="55" actId="255"/>
          <ac:spMkLst>
            <pc:docMk/>
            <pc:sldMk cId="3911616171" sldId="273"/>
            <ac:spMk id="20" creationId="{C8030B15-54D8-231C-CE9C-2CC5375DF799}"/>
          </ac:spMkLst>
        </pc:spChg>
        <pc:spChg chg="mod">
          <ac:chgData name="Sounak Dey" userId="845f521f3482d31c" providerId="LiveId" clId="{E5D07761-BE5B-4B8A-80CD-9DA81E525FA1}" dt="2026-09-23T10:44:04.623" v="58" actId="255"/>
          <ac:spMkLst>
            <pc:docMk/>
            <pc:sldMk cId="3911616171" sldId="273"/>
            <ac:spMk id="21" creationId="{6C6357A8-96F4-03A3-2567-F2C3226DC6C8}"/>
          </ac:spMkLst>
        </pc:spChg>
        <pc:spChg chg="mod">
          <ac:chgData name="Sounak Dey" userId="845f521f3482d31c" providerId="LiveId" clId="{E5D07761-BE5B-4B8A-80CD-9DA81E525FA1}" dt="2026-09-23T10:44:21.992" v="60" actId="255"/>
          <ac:spMkLst>
            <pc:docMk/>
            <pc:sldMk cId="3911616171" sldId="273"/>
            <ac:spMk id="22" creationId="{9F745DB6-FB38-D502-5291-ED426E63FC5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C85A13-90DB-4653-A8F4-E9A91D78E827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F5B51D-1040-46E5-915F-06EDFA9E37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084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F5B51D-1040-46E5-915F-06EDFA9E371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575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AF513-F409-B092-2201-3EE1FAC827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650398-7250-7702-6EB0-B809664710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974F2-0C68-8CB4-EFAC-760B166D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09FA-0E40-4FDB-9397-E331AAAF2E6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A5B97-1AF1-F760-6587-F489B5B34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8CB0C-DBAC-8E50-E4F3-05316685D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5F47-B249-4040-BD71-649E10DDC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818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96F32-8290-132B-CC4A-EA732C7AE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8D14A-8FA2-6D6C-C02D-47EE3D631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86CE0-7A77-52B4-B080-115FF59AE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09FA-0E40-4FDB-9397-E331AAAF2E6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E5604-BB03-46CD-36D2-33D00FB8F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249FA-28C8-F370-AA2A-8E4DBED29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5F47-B249-4040-BD71-649E10DDC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676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3DF30-248A-C907-1D1F-0C6C46032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B4C485-C660-695A-25B2-491891DC3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BB62E-8F72-C8A1-72AF-554E6EF51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09FA-0E40-4FDB-9397-E331AAAF2E6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3C2A4-DBF1-7480-D7A5-3A05F5D9E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A0135-1EE9-2CF2-12E1-2666D6A2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5F47-B249-4040-BD71-649E10DDC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296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AE4E-CD58-B1E0-D2BF-D9C64B059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0FBC7-8B7B-66E6-F858-001FAAFEA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C632B9-9149-401C-FEDA-830E2E003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091838-D2E3-4ABD-0252-F20B399EF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09FA-0E40-4FDB-9397-E331AAAF2E6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3431C-D155-D556-EF79-5BAC972FC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196529-89CA-0E81-240A-FEB87073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5F47-B249-4040-BD71-649E10DDC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346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823DF-1809-A225-EFCF-A718512BE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2CC40-9EB0-DDAB-32F3-AC70CCEDB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61EEDF-87CB-F66B-20F3-2038590F2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995223-729C-52AB-52AB-9A861413D0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A5577E-FFDD-921D-8274-CFE48FD4F6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1DA257-23DB-5EFB-BF9B-9984CE4A9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09FA-0E40-4FDB-9397-E331AAAF2E6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BF5BB7-40FE-5425-E06F-D6950960E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1667C5-4162-3CBF-284A-943D47EC6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5F47-B249-4040-BD71-649E10DDC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062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EF6F3-DDF9-7D7B-161B-A2889025B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7E03F7-59A4-556F-F7A3-E4616CEB1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09FA-0E40-4FDB-9397-E331AAAF2E6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9141E1-733B-B5D1-E052-7833CE517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4F001E-F19E-021C-B3BC-BF7220A41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5F47-B249-4040-BD71-649E10DDC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295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A82991-855C-FD14-189B-BFD7EC0C9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09FA-0E40-4FDB-9397-E331AAAF2E6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FA294F-4B00-2D4D-FA27-9937F73CD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D0874-C69C-B0C8-3189-C05EE05FD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5F47-B249-4040-BD71-649E10DDC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940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115C6-6F2A-EC97-4ED2-664C49716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56D9C-E8F8-6588-871D-43B864EA4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5942BD-70F3-02CF-86C7-CA4037B31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7917A-3612-0776-E080-7A7E487AF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09FA-0E40-4FDB-9397-E331AAAF2E6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40317-C14A-5487-B015-88DA42D28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E9379-A1EC-85C7-34B8-77C01BAA9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5F47-B249-4040-BD71-649E10DDC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416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8E46D-AC82-EF34-9FF9-2B6997D20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7D530-058D-CAC6-CA32-EFFB0AD0F8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13B845-DFC2-4626-2445-4569F42B36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01211-85EA-7CB6-9DB5-E12C36DC0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09FA-0E40-4FDB-9397-E331AAAF2E6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BD19A-94F9-5AF1-AF3E-D1CFA357F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9E4B6-9D1E-3801-1CB0-745B9FD77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5F47-B249-4040-BD71-649E10DDC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821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54FC9-66E3-95A6-7AAF-7EA3979AE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249A0E-A665-F12E-2A10-E6F3E44A3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2A69F-0B9D-D532-5FE1-525809192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09FA-0E40-4FDB-9397-E331AAAF2E6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D5DB1-1FD0-19EA-9E5D-1E2BD5440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B1C2A-A19A-F58E-AA59-F9F755FD1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5F47-B249-4040-BD71-649E10DDC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323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097A30-3DE1-BC3F-8B94-7DC8E04036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8E2AE9-4EC9-725C-3C9B-F4C76BF72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7ECE3-98C8-FCB6-C5BC-74978D36B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09FA-0E40-4FDB-9397-E331AAAF2E6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563B5-D431-EDCA-688B-1797179EC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E686C-897C-2745-9670-83C167345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5F47-B249-4040-BD71-649E10DDC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875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88F5CD-B590-2875-D3EE-B4FE2B815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EDDDA-E528-1468-00D6-FEEA44831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600C9-FCE8-4B92-272E-3A0174D01F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4E09FA-0E40-4FDB-9397-E331AAAF2E6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36EB3-BDD9-0C53-DA3F-CF8EB93E9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849BB-244C-4A84-6004-6BB4F5B221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B5F47-B249-4040-BD71-649E10DDC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331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4ED8A1-8D72-6A0E-F025-706E7298EC6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53CD7D-4518-1919-3390-8A19905777C2}"/>
              </a:ext>
            </a:extLst>
          </p:cNvPr>
          <p:cNvSpPr/>
          <p:nvPr/>
        </p:nvSpPr>
        <p:spPr>
          <a:xfrm>
            <a:off x="-51214" y="0"/>
            <a:ext cx="12319411" cy="6926826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 cap="flat" cmpd="sng" algn="ctr">
            <a:solidFill>
              <a:srgbClr val="0B3D9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B268CF-E5FF-CF4D-9628-3347EB8A2A36}"/>
              </a:ext>
            </a:extLst>
          </p:cNvPr>
          <p:cNvSpPr txBox="1"/>
          <p:nvPr/>
        </p:nvSpPr>
        <p:spPr>
          <a:xfrm>
            <a:off x="-10242" y="302362"/>
            <a:ext cx="12171516" cy="241092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lang="en-IN" sz="1400" b="1" dirty="0">
                <a:solidFill>
                  <a:srgbClr val="004C8F"/>
                </a:solidFill>
                <a:latin typeface="Aptos" panose="020B0004020202020204" pitchFamily="34" charset="0"/>
              </a:rPr>
              <a:t>FINANCIAL INSIGHTS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93F615-78B3-E475-504A-864E5ACC6A26}"/>
              </a:ext>
            </a:extLst>
          </p:cNvPr>
          <p:cNvSpPr txBox="1"/>
          <p:nvPr/>
        </p:nvSpPr>
        <p:spPr>
          <a:xfrm>
            <a:off x="52645" y="791148"/>
            <a:ext cx="12171515" cy="502702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lang="en-US" sz="3100" b="1" dirty="0">
                <a:solidFill>
                  <a:srgbClr val="004C8F"/>
                </a:solidFill>
                <a:latin typeface="Aptos Display" panose="020B0004020202020204" pitchFamily="34" charset="0"/>
              </a:rPr>
              <a:t>OF</a:t>
            </a:r>
            <a:r>
              <a:rPr lang="en-US" sz="3100" b="1" dirty="0">
                <a:latin typeface="Aptos Display" panose="020B0004020202020204" pitchFamily="34" charset="0"/>
              </a:rPr>
              <a:t> </a:t>
            </a:r>
            <a:r>
              <a:rPr lang="en-US" sz="3100" b="1" dirty="0">
                <a:solidFill>
                  <a:srgbClr val="000000"/>
                </a:solidFill>
                <a:latin typeface="Aptos Display" panose="020B0004020202020204" pitchFamily="34" charset="0"/>
              </a:rPr>
              <a:t>                              </a:t>
            </a:r>
            <a:r>
              <a:rPr lang="en-US" sz="3100" b="1" dirty="0">
                <a:solidFill>
                  <a:srgbClr val="004C8F"/>
                </a:solidFill>
                <a:latin typeface="Aptos Display" panose="020B0004020202020204" pitchFamily="34" charset="0"/>
              </a:rPr>
              <a:t>using Power BI</a:t>
            </a:r>
            <a:endParaRPr lang="en-IN" sz="3100" b="1" dirty="0">
              <a:solidFill>
                <a:srgbClr val="004C8F"/>
              </a:solidFill>
              <a:latin typeface="Aptos Display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ED439F-C6C1-9713-9715-C7882B0CA3F0}"/>
              </a:ext>
            </a:extLst>
          </p:cNvPr>
          <p:cNvSpPr txBox="1"/>
          <p:nvPr/>
        </p:nvSpPr>
        <p:spPr>
          <a:xfrm>
            <a:off x="10241" y="1574898"/>
            <a:ext cx="12192001" cy="287258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lang="en-IN" sz="1700" b="1" dirty="0">
                <a:solidFill>
                  <a:srgbClr val="004C8F"/>
                </a:solidFill>
                <a:latin typeface="Aptos" panose="020B0004020202020204" pitchFamily="34" charset="0"/>
              </a:rPr>
              <a:t>Interactive Banking Analytics Dashboard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13A3C7-57C0-2F89-40DE-5DDB29637AB5}"/>
              </a:ext>
            </a:extLst>
          </p:cNvPr>
          <p:cNvSpPr txBox="1"/>
          <p:nvPr/>
        </p:nvSpPr>
        <p:spPr>
          <a:xfrm>
            <a:off x="-23349" y="5548454"/>
            <a:ext cx="12151029" cy="21031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lang="en-US" sz="1200" b="1" dirty="0" err="1">
                <a:solidFill>
                  <a:srgbClr val="004C8F"/>
                </a:solidFill>
                <a:latin typeface="Aptos" panose="020B0004020202020204" pitchFamily="34" charset="0"/>
              </a:rPr>
              <a:t>B.Tech</a:t>
            </a:r>
            <a:r>
              <a:rPr lang="en-US" sz="1200" b="1" dirty="0">
                <a:solidFill>
                  <a:srgbClr val="004C8F"/>
                </a:solidFill>
                <a:latin typeface="Aptos" panose="020B0004020202020204" pitchFamily="34" charset="0"/>
              </a:rPr>
              <a:t> in Computer Science &amp; Engineering</a:t>
            </a:r>
            <a:endParaRPr lang="en-IN" sz="1200" b="1" dirty="0">
              <a:solidFill>
                <a:srgbClr val="004C8F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911E09-EDDA-36D3-889A-9F66505930C4}"/>
              </a:ext>
            </a:extLst>
          </p:cNvPr>
          <p:cNvSpPr txBox="1"/>
          <p:nvPr/>
        </p:nvSpPr>
        <p:spPr>
          <a:xfrm>
            <a:off x="-51214" y="5849053"/>
            <a:ext cx="12151028" cy="21031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lang="en-IN" sz="1200" b="1" dirty="0">
                <a:solidFill>
                  <a:srgbClr val="004C8F"/>
                </a:solidFill>
                <a:latin typeface="Aptos" panose="020B0004020202020204" pitchFamily="34" charset="0"/>
              </a:rPr>
              <a:t>Name-SOUNAK DEY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20231D-5874-A3FB-F525-CC42D559A312}"/>
              </a:ext>
            </a:extLst>
          </p:cNvPr>
          <p:cNvSpPr txBox="1"/>
          <p:nvPr/>
        </p:nvSpPr>
        <p:spPr>
          <a:xfrm>
            <a:off x="-23349" y="6121221"/>
            <a:ext cx="12151029" cy="194925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lang="en-US" sz="1100" b="1" dirty="0">
                <a:solidFill>
                  <a:srgbClr val="004C8F"/>
                </a:solidFill>
                <a:latin typeface="Aptos" panose="020B0004020202020204" pitchFamily="34" charset="0"/>
              </a:rPr>
              <a:t>Power BI Data Analytics Project  |  Academic Year 2026</a:t>
            </a:r>
            <a:endParaRPr lang="en-IN" sz="1100" b="1" dirty="0">
              <a:solidFill>
                <a:srgbClr val="004C8F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07F1A1-A0AD-5A95-AD87-CAF9E1EA7DD3}"/>
              </a:ext>
            </a:extLst>
          </p:cNvPr>
          <p:cNvSpPr txBox="1"/>
          <p:nvPr/>
        </p:nvSpPr>
        <p:spPr>
          <a:xfrm>
            <a:off x="-51214" y="6392289"/>
            <a:ext cx="12243214" cy="179536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lang="en-IN" sz="1000" b="1" dirty="0" err="1">
                <a:solidFill>
                  <a:srgbClr val="004C8F"/>
                </a:solidFill>
                <a:latin typeface="Aptos" panose="020B0004020202020204" pitchFamily="34" charset="0"/>
              </a:rPr>
              <a:t>IAnudip</a:t>
            </a:r>
            <a:r>
              <a:rPr lang="en-IN" sz="1000" b="1" dirty="0">
                <a:solidFill>
                  <a:srgbClr val="004C8F"/>
                </a:solidFill>
                <a:latin typeface="Aptos" panose="020B0004020202020204" pitchFamily="34" charset="0"/>
              </a:rPr>
              <a:t> Foundation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E737720-717F-B93E-E7BB-86E8407228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23" y="-585050"/>
            <a:ext cx="2438401" cy="32550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FC08F8-5DF0-087D-F435-783A312260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214" y="0"/>
            <a:ext cx="12420927" cy="692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671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0F6CC8-9C03-5EBC-B8EF-F56BF07DA97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F2FB"/>
          </a:solidFill>
          <a:ln w="12700" cap="flat" cmpd="sng" algn="ctr">
            <a:solidFill>
              <a:srgbClr val="EAF2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C19683-0B19-B56E-6187-73615316031E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F3C8BF-84B8-07DF-6494-5919DD551AE3}"/>
              </a:ext>
            </a:extLst>
          </p:cNvPr>
          <p:cNvSpPr txBox="1"/>
          <p:nvPr/>
        </p:nvSpPr>
        <p:spPr>
          <a:xfrm>
            <a:off x="508000" y="317500"/>
            <a:ext cx="8509000" cy="394980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2400" b="1">
                <a:solidFill>
                  <a:srgbClr val="0B3D91"/>
                </a:solidFill>
                <a:latin typeface="Aptos Display" panose="020B0004020202020204" pitchFamily="34" charset="0"/>
              </a:rPr>
              <a:t>Project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861917-7519-25B6-CB36-77E516754C95}"/>
              </a:ext>
            </a:extLst>
          </p:cNvPr>
          <p:cNvSpPr txBox="1"/>
          <p:nvPr/>
        </p:nvSpPr>
        <p:spPr>
          <a:xfrm>
            <a:off x="533400" y="762000"/>
            <a:ext cx="9601200" cy="17184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950">
                <a:solidFill>
                  <a:srgbClr val="8A969F"/>
                </a:solidFill>
                <a:latin typeface="Aptos" panose="020B0004020202020204" pitchFamily="34" charset="0"/>
              </a:rPr>
              <a:t>A decision-support layer for customer, account and transaction analytics</a:t>
            </a:r>
            <a:endParaRPr lang="en-IN" sz="95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D953F7-DD80-76A3-5577-2A797F7021B8}"/>
              </a:ext>
            </a:extLst>
          </p:cNvPr>
          <p:cNvSpPr txBox="1"/>
          <p:nvPr/>
        </p:nvSpPr>
        <p:spPr>
          <a:xfrm>
            <a:off x="546100" y="1168400"/>
            <a:ext cx="10972800" cy="51809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600" b="1">
                <a:solidFill>
                  <a:srgbClr val="0B3D91"/>
                </a:solidFill>
                <a:latin typeface="Aptos" panose="020B0004020202020204" pitchFamily="34" charset="0"/>
              </a:rPr>
              <a:t>This project combines customer account details with banking transactions to make financial patterns visible, comparable and actionable.</a:t>
            </a:r>
            <a:endParaRPr lang="en-IN" sz="1600" b="1">
              <a:solidFill>
                <a:srgbClr val="0B3D91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E5ED32-39EB-75D5-EC8F-B2A399DF55C4}"/>
              </a:ext>
            </a:extLst>
          </p:cNvPr>
          <p:cNvSpPr/>
          <p:nvPr/>
        </p:nvSpPr>
        <p:spPr>
          <a:xfrm>
            <a:off x="571500" y="2146300"/>
            <a:ext cx="1295400" cy="6223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72C9CE-595D-6F02-FF8A-9568FE3D91D5}"/>
              </a:ext>
            </a:extLst>
          </p:cNvPr>
          <p:cNvSpPr txBox="1"/>
          <p:nvPr/>
        </p:nvSpPr>
        <p:spPr>
          <a:xfrm>
            <a:off x="622300" y="2273300"/>
            <a:ext cx="1193800" cy="179536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Aptos" panose="020B0004020202020204" pitchFamily="34" charset="0"/>
              </a:rPr>
              <a:t>Raw banking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019643-CB94-1570-2A3C-C3B2C22F42D7}"/>
              </a:ext>
            </a:extLst>
          </p:cNvPr>
          <p:cNvSpPr txBox="1"/>
          <p:nvPr/>
        </p:nvSpPr>
        <p:spPr>
          <a:xfrm>
            <a:off x="1892300" y="2273300"/>
            <a:ext cx="254000" cy="271869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600" b="1">
                <a:solidFill>
                  <a:srgbClr val="00A3E0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F9BDC4-AA5F-2CCE-BD82-588A240B63B8}"/>
              </a:ext>
            </a:extLst>
          </p:cNvPr>
          <p:cNvSpPr/>
          <p:nvPr/>
        </p:nvSpPr>
        <p:spPr>
          <a:xfrm>
            <a:off x="2197100" y="2146300"/>
            <a:ext cx="1295400" cy="622300"/>
          </a:xfrm>
          <a:prstGeom prst="rect">
            <a:avLst/>
          </a:prstGeom>
          <a:solidFill>
            <a:srgbClr val="0B3D91"/>
          </a:solidFill>
          <a:ln w="12700" cap="flat" cmpd="sng" algn="ctr">
            <a:solidFill>
              <a:srgbClr val="0B3D9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CF4D6D-9A55-7EF9-7E50-93E92F0983F6}"/>
              </a:ext>
            </a:extLst>
          </p:cNvPr>
          <p:cNvSpPr txBox="1"/>
          <p:nvPr/>
        </p:nvSpPr>
        <p:spPr>
          <a:xfrm>
            <a:off x="2247900" y="2273300"/>
            <a:ext cx="1193800" cy="179536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Aptos" panose="020B0004020202020204" pitchFamily="34" charset="0"/>
              </a:rPr>
              <a:t>Data cleaning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86E9B1-CAB9-A287-B85B-E92C2333D2DB}"/>
              </a:ext>
            </a:extLst>
          </p:cNvPr>
          <p:cNvSpPr txBox="1"/>
          <p:nvPr/>
        </p:nvSpPr>
        <p:spPr>
          <a:xfrm>
            <a:off x="3517900" y="2273300"/>
            <a:ext cx="254000" cy="271869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600" b="1">
                <a:solidFill>
                  <a:srgbClr val="00A3E0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95A7AF-CED7-C7BF-D878-4928C852209B}"/>
              </a:ext>
            </a:extLst>
          </p:cNvPr>
          <p:cNvSpPr/>
          <p:nvPr/>
        </p:nvSpPr>
        <p:spPr>
          <a:xfrm>
            <a:off x="3822700" y="2146300"/>
            <a:ext cx="1295400" cy="6223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ECE1ED-BF55-5E73-7D7F-937DD469D3F4}"/>
              </a:ext>
            </a:extLst>
          </p:cNvPr>
          <p:cNvSpPr txBox="1"/>
          <p:nvPr/>
        </p:nvSpPr>
        <p:spPr>
          <a:xfrm>
            <a:off x="3873500" y="2273300"/>
            <a:ext cx="1193800" cy="33342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Aptos" panose="020B0004020202020204" pitchFamily="34" charset="0"/>
              </a:rPr>
              <a:t>Data transformation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10C9B6-93F5-AC7A-95E0-003A19273BA8}"/>
              </a:ext>
            </a:extLst>
          </p:cNvPr>
          <p:cNvSpPr txBox="1"/>
          <p:nvPr/>
        </p:nvSpPr>
        <p:spPr>
          <a:xfrm>
            <a:off x="5143500" y="2273300"/>
            <a:ext cx="254000" cy="271869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600" b="1">
                <a:solidFill>
                  <a:srgbClr val="00A3E0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925528-B040-39BB-248A-58070FE30825}"/>
              </a:ext>
            </a:extLst>
          </p:cNvPr>
          <p:cNvSpPr/>
          <p:nvPr/>
        </p:nvSpPr>
        <p:spPr>
          <a:xfrm>
            <a:off x="5448300" y="2146300"/>
            <a:ext cx="1295400" cy="622300"/>
          </a:xfrm>
          <a:prstGeom prst="rect">
            <a:avLst/>
          </a:prstGeom>
          <a:solidFill>
            <a:srgbClr val="0B3D91"/>
          </a:solidFill>
          <a:ln w="12700" cap="flat" cmpd="sng" algn="ctr">
            <a:solidFill>
              <a:srgbClr val="0B3D9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85E492-E20F-227A-CA24-68D1207E073D}"/>
              </a:ext>
            </a:extLst>
          </p:cNvPr>
          <p:cNvSpPr txBox="1"/>
          <p:nvPr/>
        </p:nvSpPr>
        <p:spPr>
          <a:xfrm>
            <a:off x="5499100" y="2273300"/>
            <a:ext cx="1193800" cy="179536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Aptos" panose="020B0004020202020204" pitchFamily="34" charset="0"/>
              </a:rPr>
              <a:t>Data modeling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1D9625-0517-D30E-463D-910A0E36AF46}"/>
              </a:ext>
            </a:extLst>
          </p:cNvPr>
          <p:cNvSpPr txBox="1"/>
          <p:nvPr/>
        </p:nvSpPr>
        <p:spPr>
          <a:xfrm>
            <a:off x="6781800" y="2273300"/>
            <a:ext cx="254000" cy="271869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600" b="1">
                <a:solidFill>
                  <a:srgbClr val="00A3E0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391B1E-008C-9BA7-8C76-14B42C5F8D2A}"/>
              </a:ext>
            </a:extLst>
          </p:cNvPr>
          <p:cNvSpPr/>
          <p:nvPr/>
        </p:nvSpPr>
        <p:spPr>
          <a:xfrm>
            <a:off x="7073900" y="2146300"/>
            <a:ext cx="1295400" cy="6223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4558C4-2EF7-D3F0-AF5F-2FBB4A8D1798}"/>
              </a:ext>
            </a:extLst>
          </p:cNvPr>
          <p:cNvSpPr txBox="1"/>
          <p:nvPr/>
        </p:nvSpPr>
        <p:spPr>
          <a:xfrm>
            <a:off x="7137400" y="2273300"/>
            <a:ext cx="1193800" cy="179536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Aptos" panose="020B0004020202020204" pitchFamily="34" charset="0"/>
              </a:rPr>
              <a:t>DAX measures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519847-D244-6031-DDF9-B74F37F10E51}"/>
              </a:ext>
            </a:extLst>
          </p:cNvPr>
          <p:cNvSpPr txBox="1"/>
          <p:nvPr/>
        </p:nvSpPr>
        <p:spPr>
          <a:xfrm>
            <a:off x="8407400" y="2273300"/>
            <a:ext cx="254000" cy="271869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600" b="1">
                <a:solidFill>
                  <a:srgbClr val="00A3E0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443921D-B769-4EBF-63B0-51DEEA03D019}"/>
              </a:ext>
            </a:extLst>
          </p:cNvPr>
          <p:cNvSpPr/>
          <p:nvPr/>
        </p:nvSpPr>
        <p:spPr>
          <a:xfrm>
            <a:off x="8699500" y="2146300"/>
            <a:ext cx="1295400" cy="622300"/>
          </a:xfrm>
          <a:prstGeom prst="rect">
            <a:avLst/>
          </a:prstGeom>
          <a:solidFill>
            <a:srgbClr val="0B3D91"/>
          </a:solidFill>
          <a:ln w="12700" cap="flat" cmpd="sng" algn="ctr">
            <a:solidFill>
              <a:srgbClr val="0B3D9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551807-CDF7-0007-9618-9198C1936BBB}"/>
              </a:ext>
            </a:extLst>
          </p:cNvPr>
          <p:cNvSpPr txBox="1"/>
          <p:nvPr/>
        </p:nvSpPr>
        <p:spPr>
          <a:xfrm>
            <a:off x="8763000" y="2273300"/>
            <a:ext cx="1193800" cy="179536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Aptos" panose="020B0004020202020204" pitchFamily="34" charset="0"/>
              </a:rPr>
              <a:t>Power BI visuals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EBF08F-42D7-D5E0-74AB-5DD952F515FA}"/>
              </a:ext>
            </a:extLst>
          </p:cNvPr>
          <p:cNvSpPr txBox="1"/>
          <p:nvPr/>
        </p:nvSpPr>
        <p:spPr>
          <a:xfrm>
            <a:off x="10033000" y="2273300"/>
            <a:ext cx="254000" cy="271869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600" b="1">
                <a:solidFill>
                  <a:srgbClr val="00A3E0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33F145A-1B73-C9D2-3EC8-5B036FC22067}"/>
              </a:ext>
            </a:extLst>
          </p:cNvPr>
          <p:cNvSpPr/>
          <p:nvPr/>
        </p:nvSpPr>
        <p:spPr>
          <a:xfrm>
            <a:off x="10337800" y="2146300"/>
            <a:ext cx="1295400" cy="6223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511BAF-5784-3938-6D13-0847925EAE0B}"/>
              </a:ext>
            </a:extLst>
          </p:cNvPr>
          <p:cNvSpPr txBox="1"/>
          <p:nvPr/>
        </p:nvSpPr>
        <p:spPr>
          <a:xfrm>
            <a:off x="10388600" y="2273300"/>
            <a:ext cx="1193800" cy="179536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Aptos" panose="020B0004020202020204" pitchFamily="34" charset="0"/>
              </a:rPr>
              <a:t>Insights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06C42C-CACC-4BB9-D5DC-DA4010EE9649}"/>
              </a:ext>
            </a:extLst>
          </p:cNvPr>
          <p:cNvSpPr/>
          <p:nvPr/>
        </p:nvSpPr>
        <p:spPr>
          <a:xfrm>
            <a:off x="660400" y="34417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15D841-321D-2713-4A07-9245FDA74757}"/>
              </a:ext>
            </a:extLst>
          </p:cNvPr>
          <p:cNvSpPr txBox="1"/>
          <p:nvPr/>
        </p:nvSpPr>
        <p:spPr>
          <a:xfrm>
            <a:off x="825500" y="3340100"/>
            <a:ext cx="4953000" cy="425758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300">
                <a:solidFill>
                  <a:srgbClr val="17365D"/>
                </a:solidFill>
                <a:latin typeface="Aptos" panose="020B0004020202020204" pitchFamily="34" charset="0"/>
              </a:rPr>
              <a:t>Two source datasets: Customer Account Details and Banking Transactions</a:t>
            </a:r>
            <a:endParaRPr lang="en-IN" sz="130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7A2534-B712-7610-671A-FAA92E8D6EF5}"/>
              </a:ext>
            </a:extLst>
          </p:cNvPr>
          <p:cNvSpPr/>
          <p:nvPr/>
        </p:nvSpPr>
        <p:spPr>
          <a:xfrm>
            <a:off x="660400" y="38354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D5B5C5-7752-F616-8484-382ADE87C444}"/>
              </a:ext>
            </a:extLst>
          </p:cNvPr>
          <p:cNvSpPr txBox="1"/>
          <p:nvPr/>
        </p:nvSpPr>
        <p:spPr>
          <a:xfrm>
            <a:off x="825500" y="3733800"/>
            <a:ext cx="4953000" cy="425758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300">
                <a:solidFill>
                  <a:srgbClr val="17365D"/>
                </a:solidFill>
                <a:latin typeface="Aptos" panose="020B0004020202020204" pitchFamily="34" charset="0"/>
              </a:rPr>
              <a:t>Interactive dashboard for exploratory analysis and viva demonstration</a:t>
            </a:r>
            <a:endParaRPr lang="en-IN" sz="130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EF0C1A7-DC32-89B4-DDAC-411D82EE4C96}"/>
              </a:ext>
            </a:extLst>
          </p:cNvPr>
          <p:cNvSpPr/>
          <p:nvPr/>
        </p:nvSpPr>
        <p:spPr>
          <a:xfrm>
            <a:off x="660400" y="42291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EC49CD-54C3-58E5-55AE-FF37B49959B3}"/>
              </a:ext>
            </a:extLst>
          </p:cNvPr>
          <p:cNvSpPr txBox="1"/>
          <p:nvPr/>
        </p:nvSpPr>
        <p:spPr>
          <a:xfrm>
            <a:off x="825500" y="4127500"/>
            <a:ext cx="4953000" cy="425758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300">
                <a:solidFill>
                  <a:srgbClr val="17365D"/>
                </a:solidFill>
                <a:latin typeface="Aptos" panose="020B0004020202020204" pitchFamily="34" charset="0"/>
              </a:rPr>
              <a:t>Focus areas: balances, credit scores, income proxies, activity and branch codes</a:t>
            </a:r>
            <a:endParaRPr lang="en-IN" sz="130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FF47C2C-3FC3-448D-47B4-6EC0C963A964}"/>
              </a:ext>
            </a:extLst>
          </p:cNvPr>
          <p:cNvSpPr/>
          <p:nvPr/>
        </p:nvSpPr>
        <p:spPr>
          <a:xfrm>
            <a:off x="6451600" y="3276600"/>
            <a:ext cx="5080000" cy="19431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E22248-10C9-267D-F368-2A156BD7AE33}"/>
              </a:ext>
            </a:extLst>
          </p:cNvPr>
          <p:cNvSpPr txBox="1"/>
          <p:nvPr/>
        </p:nvSpPr>
        <p:spPr>
          <a:xfrm>
            <a:off x="6718300" y="3530600"/>
            <a:ext cx="4394200" cy="256480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500" b="1">
                <a:solidFill>
                  <a:srgbClr val="0B3D91"/>
                </a:solidFill>
                <a:latin typeface="Aptos Display" panose="020B0004020202020204" pitchFamily="34" charset="0"/>
              </a:rPr>
              <a:t>Why banking analytics matters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4ECBC98-E416-2A46-A771-3DC3460C4114}"/>
              </a:ext>
            </a:extLst>
          </p:cNvPr>
          <p:cNvSpPr/>
          <p:nvPr/>
        </p:nvSpPr>
        <p:spPr>
          <a:xfrm>
            <a:off x="6718300" y="40386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9D7F9C-A234-98D3-BAD2-BDBFC5841D75}"/>
              </a:ext>
            </a:extLst>
          </p:cNvPr>
          <p:cNvSpPr txBox="1"/>
          <p:nvPr/>
        </p:nvSpPr>
        <p:spPr>
          <a:xfrm>
            <a:off x="6883400" y="3937000"/>
            <a:ext cx="4127500" cy="19492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100">
                <a:solidFill>
                  <a:srgbClr val="17365D"/>
                </a:solidFill>
                <a:latin typeface="Aptos" panose="020B0004020202020204" pitchFamily="34" charset="0"/>
              </a:rPr>
              <a:t>Turns operational records into a shared business view</a:t>
            </a:r>
            <a:endParaRPr lang="en-IN" sz="110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610A8FB-CB05-416D-B92B-AD7101231EDD}"/>
              </a:ext>
            </a:extLst>
          </p:cNvPr>
          <p:cNvSpPr/>
          <p:nvPr/>
        </p:nvSpPr>
        <p:spPr>
          <a:xfrm>
            <a:off x="6718300" y="44323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62DEFE2-45A5-5410-2C6C-E942C8BEB43D}"/>
              </a:ext>
            </a:extLst>
          </p:cNvPr>
          <p:cNvSpPr txBox="1"/>
          <p:nvPr/>
        </p:nvSpPr>
        <p:spPr>
          <a:xfrm>
            <a:off x="6883400" y="4330700"/>
            <a:ext cx="4127500" cy="19492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100">
                <a:solidFill>
                  <a:srgbClr val="17365D"/>
                </a:solidFill>
                <a:latin typeface="Aptos" panose="020B0004020202020204" pitchFamily="34" charset="0"/>
              </a:rPr>
              <a:t>Supports customer segmentation and risk monitoring</a:t>
            </a:r>
            <a:endParaRPr lang="en-IN" sz="110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D98DABD-B5EE-DE89-BAD5-D44BAB878B34}"/>
              </a:ext>
            </a:extLst>
          </p:cNvPr>
          <p:cNvSpPr/>
          <p:nvPr/>
        </p:nvSpPr>
        <p:spPr>
          <a:xfrm>
            <a:off x="6718300" y="48260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8FFE4C-1583-C9DF-539C-070058778F33}"/>
              </a:ext>
            </a:extLst>
          </p:cNvPr>
          <p:cNvSpPr txBox="1"/>
          <p:nvPr/>
        </p:nvSpPr>
        <p:spPr>
          <a:xfrm>
            <a:off x="6883400" y="4724400"/>
            <a:ext cx="4127500" cy="19492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100">
                <a:solidFill>
                  <a:srgbClr val="17365D"/>
                </a:solidFill>
                <a:latin typeface="Aptos" panose="020B0004020202020204" pitchFamily="34" charset="0"/>
              </a:rPr>
              <a:t>Reduces time spent on manual reporting</a:t>
            </a:r>
            <a:endParaRPr lang="en-IN" sz="110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D94E840-8027-98AC-3271-52993ACDC323}"/>
              </a:ext>
            </a:extLst>
          </p:cNvPr>
          <p:cNvCxnSpPr/>
          <p:nvPr/>
        </p:nvCxnSpPr>
        <p:spPr>
          <a:xfrm>
            <a:off x="508000" y="6477000"/>
            <a:ext cx="11176000" cy="0"/>
          </a:xfrm>
          <a:prstGeom prst="line">
            <a:avLst/>
          </a:prstGeom>
          <a:ln w="10160">
            <a:solidFill>
              <a:srgbClr val="EBE8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7BC258B-8916-E59E-8B3C-8615FA5C6A11}"/>
              </a:ext>
            </a:extLst>
          </p:cNvPr>
          <p:cNvSpPr txBox="1"/>
          <p:nvPr/>
        </p:nvSpPr>
        <p:spPr>
          <a:xfrm>
            <a:off x="533400" y="6515100"/>
            <a:ext cx="7950200" cy="14106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750">
                <a:solidFill>
                  <a:srgbClr val="8A969F"/>
                </a:solidFill>
                <a:latin typeface="Aptos" panose="020B0004020202020204" pitchFamily="34" charset="0"/>
              </a:rPr>
              <a:t>Financial Insights in Banking Data using Power BI  |  SOUNAK DEY</a:t>
            </a:r>
            <a:endParaRPr lang="en-IN" sz="75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70694DF-CC8B-D5CB-57E1-663B4C08F703}"/>
              </a:ext>
            </a:extLst>
          </p:cNvPr>
          <p:cNvSpPr txBox="1"/>
          <p:nvPr/>
        </p:nvSpPr>
        <p:spPr>
          <a:xfrm>
            <a:off x="11150600" y="6489700"/>
            <a:ext cx="508000" cy="148759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800" b="1">
                <a:solidFill>
                  <a:srgbClr val="0B3D91"/>
                </a:solidFill>
                <a:latin typeface="Aptos" panose="020B0004020202020204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754211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9BE953-BDAB-7823-16E7-6E777434AC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4A2FB9-60A4-1BAF-73AB-94C6653D7E44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8A3F59-DB51-CEC8-8362-79BA65A1CECE}"/>
              </a:ext>
            </a:extLst>
          </p:cNvPr>
          <p:cNvSpPr txBox="1"/>
          <p:nvPr/>
        </p:nvSpPr>
        <p:spPr>
          <a:xfrm>
            <a:off x="508000" y="317500"/>
            <a:ext cx="8509000" cy="394980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2400" b="1">
                <a:solidFill>
                  <a:srgbClr val="0B3D91"/>
                </a:solidFill>
                <a:latin typeface="Aptos Display" panose="020B0004020202020204" pitchFamily="34" charset="0"/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916509-8A73-EEE1-1AD4-97FD381E05A8}"/>
              </a:ext>
            </a:extLst>
          </p:cNvPr>
          <p:cNvSpPr txBox="1"/>
          <p:nvPr/>
        </p:nvSpPr>
        <p:spPr>
          <a:xfrm>
            <a:off x="533400" y="762000"/>
            <a:ext cx="9601200" cy="17184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950">
                <a:solidFill>
                  <a:srgbClr val="8A969F"/>
                </a:solidFill>
                <a:latin typeface="Aptos" panose="020B0004020202020204" pitchFamily="34" charset="0"/>
              </a:rPr>
              <a:t>From fragmented records to an explainable banking intelligence workflow</a:t>
            </a:r>
            <a:endParaRPr lang="en-IN" sz="95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D48500-194D-D730-389A-077DEF705A5A}"/>
              </a:ext>
            </a:extLst>
          </p:cNvPr>
          <p:cNvSpPr/>
          <p:nvPr/>
        </p:nvSpPr>
        <p:spPr>
          <a:xfrm>
            <a:off x="596900" y="1231900"/>
            <a:ext cx="5397500" cy="4483100"/>
          </a:xfrm>
          <a:prstGeom prst="rect">
            <a:avLst/>
          </a:prstGeom>
          <a:solidFill>
            <a:srgbClr val="EAF2FB"/>
          </a:solidFill>
          <a:ln w="12700" cap="flat" cmpd="sng" algn="ctr">
            <a:solidFill>
              <a:srgbClr val="EAF2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BCE9B6-647D-213E-9BAF-AE0B9A21759D}"/>
              </a:ext>
            </a:extLst>
          </p:cNvPr>
          <p:cNvSpPr txBox="1"/>
          <p:nvPr/>
        </p:nvSpPr>
        <p:spPr>
          <a:xfrm>
            <a:off x="863600" y="1549400"/>
            <a:ext cx="4203700" cy="318036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900" b="1">
                <a:solidFill>
                  <a:srgbClr val="0B3D91"/>
                </a:solidFill>
                <a:latin typeface="Aptos Display" panose="020B0004020202020204" pitchFamily="34" charset="0"/>
              </a:rPr>
              <a:t>Business challenge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752808-893F-9DEB-B59D-735E73EDCE7D}"/>
              </a:ext>
            </a:extLst>
          </p:cNvPr>
          <p:cNvSpPr/>
          <p:nvPr/>
        </p:nvSpPr>
        <p:spPr>
          <a:xfrm>
            <a:off x="901700" y="22606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0739AE-9095-D8F5-0C50-9F305E83C537}"/>
              </a:ext>
            </a:extLst>
          </p:cNvPr>
          <p:cNvSpPr txBox="1"/>
          <p:nvPr/>
        </p:nvSpPr>
        <p:spPr>
          <a:xfrm>
            <a:off x="1066800" y="2146300"/>
            <a:ext cx="4457700" cy="45653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400">
                <a:solidFill>
                  <a:srgbClr val="17365D"/>
                </a:solidFill>
                <a:latin typeface="Aptos" panose="020B0004020202020204" pitchFamily="34" charset="0"/>
              </a:rPr>
              <a:t>High-volume customer and transaction records are difficult to interpret in raw form</a:t>
            </a:r>
            <a:endParaRPr lang="en-IN" sz="140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417EA2-7345-C4CD-4A89-720ECEAE9AA1}"/>
              </a:ext>
            </a:extLst>
          </p:cNvPr>
          <p:cNvSpPr/>
          <p:nvPr/>
        </p:nvSpPr>
        <p:spPr>
          <a:xfrm>
            <a:off x="901700" y="26543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1E6A08-560A-FBC8-BA35-5ED46F887A02}"/>
              </a:ext>
            </a:extLst>
          </p:cNvPr>
          <p:cNvSpPr txBox="1"/>
          <p:nvPr/>
        </p:nvSpPr>
        <p:spPr>
          <a:xfrm>
            <a:off x="1066800" y="2540000"/>
            <a:ext cx="4457700" cy="45653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400">
                <a:solidFill>
                  <a:srgbClr val="17365D"/>
                </a:solidFill>
                <a:latin typeface="Aptos" panose="020B0004020202020204" pitchFamily="34" charset="0"/>
              </a:rPr>
              <a:t>Important patterns may remain hidden across separate tables</a:t>
            </a:r>
            <a:endParaRPr lang="en-IN" sz="140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70249A-B9D0-7D56-DE0F-3AB46BCE03AF}"/>
              </a:ext>
            </a:extLst>
          </p:cNvPr>
          <p:cNvSpPr/>
          <p:nvPr/>
        </p:nvSpPr>
        <p:spPr>
          <a:xfrm>
            <a:off x="901700" y="30480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A8A4F7-E3EC-8FA5-E385-23CDE9FD79F0}"/>
              </a:ext>
            </a:extLst>
          </p:cNvPr>
          <p:cNvSpPr txBox="1"/>
          <p:nvPr/>
        </p:nvSpPr>
        <p:spPr>
          <a:xfrm>
            <a:off x="1066800" y="2933700"/>
            <a:ext cx="4457700" cy="45653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400">
                <a:solidFill>
                  <a:srgbClr val="17365D"/>
                </a:solidFill>
                <a:latin typeface="Aptos" panose="020B0004020202020204" pitchFamily="34" charset="0"/>
              </a:rPr>
              <a:t>Traditional reporting is slow to refresh and difficult to filter</a:t>
            </a:r>
            <a:endParaRPr lang="en-IN" sz="140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2FD454-75B4-56DE-E33E-A55D3824180E}"/>
              </a:ext>
            </a:extLst>
          </p:cNvPr>
          <p:cNvSpPr/>
          <p:nvPr/>
        </p:nvSpPr>
        <p:spPr>
          <a:xfrm>
            <a:off x="901700" y="34417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454DC4-6595-576B-213D-D66D7C8A4AED}"/>
              </a:ext>
            </a:extLst>
          </p:cNvPr>
          <p:cNvSpPr txBox="1"/>
          <p:nvPr/>
        </p:nvSpPr>
        <p:spPr>
          <a:xfrm>
            <a:off x="1066800" y="3327400"/>
            <a:ext cx="4457700" cy="45653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400">
                <a:solidFill>
                  <a:srgbClr val="17365D"/>
                </a:solidFill>
                <a:latin typeface="Aptos" panose="020B0004020202020204" pitchFamily="34" charset="0"/>
              </a:rPr>
              <a:t>Decision-makers need consistent, visual evidence rather than isolated spreadsheets</a:t>
            </a:r>
            <a:endParaRPr lang="en-IN" sz="140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C7E0DC-CEE0-F5BA-EB9E-990FFE437EAA}"/>
              </a:ext>
            </a:extLst>
          </p:cNvPr>
          <p:cNvSpPr/>
          <p:nvPr/>
        </p:nvSpPr>
        <p:spPr>
          <a:xfrm>
            <a:off x="6400800" y="1231900"/>
            <a:ext cx="5118100" cy="4483100"/>
          </a:xfrm>
          <a:prstGeom prst="rect">
            <a:avLst/>
          </a:prstGeom>
          <a:solidFill>
            <a:srgbClr val="0B3D91"/>
          </a:solidFill>
          <a:ln w="12700" cap="flat" cmpd="sng" algn="ctr">
            <a:solidFill>
              <a:srgbClr val="0B3D9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C32EB8-0FE7-8221-148E-3394E61A32CB}"/>
              </a:ext>
            </a:extLst>
          </p:cNvPr>
          <p:cNvSpPr txBox="1"/>
          <p:nvPr/>
        </p:nvSpPr>
        <p:spPr>
          <a:xfrm>
            <a:off x="6718300" y="1574800"/>
            <a:ext cx="4292600" cy="318036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900" b="1">
                <a:solidFill>
                  <a:srgbClr val="FFFFFF"/>
                </a:solidFill>
                <a:latin typeface="Aptos Display" panose="020B0004020202020204" pitchFamily="34" charset="0"/>
              </a:rPr>
              <a:t>Power BI response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C6A084-14FE-FED4-E06C-C828E84A9CE2}"/>
              </a:ext>
            </a:extLst>
          </p:cNvPr>
          <p:cNvSpPr/>
          <p:nvPr/>
        </p:nvSpPr>
        <p:spPr>
          <a:xfrm>
            <a:off x="6743700" y="22606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9916F3-AA3D-E480-7333-2D5B74A6E56D}"/>
              </a:ext>
            </a:extLst>
          </p:cNvPr>
          <p:cNvSpPr txBox="1"/>
          <p:nvPr/>
        </p:nvSpPr>
        <p:spPr>
          <a:xfrm>
            <a:off x="6908800" y="2146300"/>
            <a:ext cx="41275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400">
                <a:solidFill>
                  <a:srgbClr val="FFFFFF"/>
                </a:solidFill>
                <a:latin typeface="Aptos" panose="020B0004020202020204" pitchFamily="34" charset="0"/>
              </a:rPr>
              <a:t>Connect account and transaction perspectives</a:t>
            </a:r>
            <a:endParaRPr lang="en-IN" sz="14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CA0B1C-3C22-045C-30E7-7DEDC8ADEA0C}"/>
              </a:ext>
            </a:extLst>
          </p:cNvPr>
          <p:cNvSpPr/>
          <p:nvPr/>
        </p:nvSpPr>
        <p:spPr>
          <a:xfrm>
            <a:off x="6743700" y="26543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87C47B-0AE3-512B-6C78-6A77C2473870}"/>
              </a:ext>
            </a:extLst>
          </p:cNvPr>
          <p:cNvSpPr txBox="1"/>
          <p:nvPr/>
        </p:nvSpPr>
        <p:spPr>
          <a:xfrm>
            <a:off x="6908800" y="2540000"/>
            <a:ext cx="41275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400">
                <a:solidFill>
                  <a:srgbClr val="FFFFFF"/>
                </a:solidFill>
                <a:latin typeface="Aptos" panose="020B0004020202020204" pitchFamily="34" charset="0"/>
              </a:rPr>
              <a:t>Apply cleaning and standardized business logic</a:t>
            </a:r>
            <a:endParaRPr lang="en-IN" sz="14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FF919C-C726-B782-7794-592B420ACC7F}"/>
              </a:ext>
            </a:extLst>
          </p:cNvPr>
          <p:cNvSpPr/>
          <p:nvPr/>
        </p:nvSpPr>
        <p:spPr>
          <a:xfrm>
            <a:off x="6743700" y="30480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4C104F-7449-2A9C-2A5C-0206DE80605D}"/>
              </a:ext>
            </a:extLst>
          </p:cNvPr>
          <p:cNvSpPr txBox="1"/>
          <p:nvPr/>
        </p:nvSpPr>
        <p:spPr>
          <a:xfrm>
            <a:off x="6908800" y="2933700"/>
            <a:ext cx="41275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400">
                <a:solidFill>
                  <a:srgbClr val="FFFFFF"/>
                </a:solidFill>
                <a:latin typeface="Aptos" panose="020B0004020202020204" pitchFamily="34" charset="0"/>
              </a:rPr>
              <a:t>Expose KPIs, filters and comparative visuals</a:t>
            </a:r>
            <a:endParaRPr lang="en-IN" sz="14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C03396-7FA1-9DB6-C7B3-21A66C484458}"/>
              </a:ext>
            </a:extLst>
          </p:cNvPr>
          <p:cNvSpPr/>
          <p:nvPr/>
        </p:nvSpPr>
        <p:spPr>
          <a:xfrm>
            <a:off x="6743700" y="34417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1B23D8-976E-6B00-EF3E-533156B13D86}"/>
              </a:ext>
            </a:extLst>
          </p:cNvPr>
          <p:cNvSpPr txBox="1"/>
          <p:nvPr/>
        </p:nvSpPr>
        <p:spPr>
          <a:xfrm>
            <a:off x="6908800" y="3327400"/>
            <a:ext cx="4127500" cy="45653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400">
                <a:solidFill>
                  <a:srgbClr val="FFFFFF"/>
                </a:solidFill>
                <a:latin typeface="Aptos" panose="020B0004020202020204" pitchFamily="34" charset="0"/>
              </a:rPr>
              <a:t>Create a reusable narrative for academic demonstration</a:t>
            </a:r>
            <a:endParaRPr lang="en-IN" sz="14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A603BE-7F9B-5A8B-D24B-A86183DF3661}"/>
              </a:ext>
            </a:extLst>
          </p:cNvPr>
          <p:cNvSpPr txBox="1"/>
          <p:nvPr/>
        </p:nvSpPr>
        <p:spPr>
          <a:xfrm>
            <a:off x="6743700" y="4889500"/>
            <a:ext cx="4165600" cy="45653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400" b="1">
                <a:solidFill>
                  <a:srgbClr val="00A3E0"/>
                </a:solidFill>
                <a:latin typeface="Aptos" panose="020B0004020202020204" pitchFamily="34" charset="0"/>
              </a:rPr>
              <a:t>The outcome is not only a dashboard; it is a repeatable analytical method.</a:t>
            </a:r>
            <a:endParaRPr lang="en-IN" sz="1400" b="1">
              <a:solidFill>
                <a:srgbClr val="00A3E0"/>
              </a:solidFill>
              <a:latin typeface="Aptos" panose="020B0004020202020204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3DD78B6-F570-B944-C86C-318D2AAAB3C7}"/>
              </a:ext>
            </a:extLst>
          </p:cNvPr>
          <p:cNvCxnSpPr/>
          <p:nvPr/>
        </p:nvCxnSpPr>
        <p:spPr>
          <a:xfrm>
            <a:off x="508000" y="6477000"/>
            <a:ext cx="11176000" cy="0"/>
          </a:xfrm>
          <a:prstGeom prst="line">
            <a:avLst/>
          </a:prstGeom>
          <a:ln w="10160">
            <a:solidFill>
              <a:srgbClr val="EBE8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75A0971-EDDB-9A94-4CE6-31C0EB4B419D}"/>
              </a:ext>
            </a:extLst>
          </p:cNvPr>
          <p:cNvSpPr txBox="1"/>
          <p:nvPr/>
        </p:nvSpPr>
        <p:spPr>
          <a:xfrm>
            <a:off x="533400" y="6515100"/>
            <a:ext cx="7950200" cy="14106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750">
                <a:solidFill>
                  <a:srgbClr val="8A969F"/>
                </a:solidFill>
                <a:latin typeface="Aptos" panose="020B0004020202020204" pitchFamily="34" charset="0"/>
              </a:rPr>
              <a:t>Financial Insights in Banking Data using Power BI  |  SOUNAK DEY</a:t>
            </a:r>
            <a:endParaRPr lang="en-IN" sz="75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AC8CF9-6EDC-BEAD-9BE9-9B192E7B930C}"/>
              </a:ext>
            </a:extLst>
          </p:cNvPr>
          <p:cNvSpPr txBox="1"/>
          <p:nvPr/>
        </p:nvSpPr>
        <p:spPr>
          <a:xfrm>
            <a:off x="11150600" y="6489700"/>
            <a:ext cx="508000" cy="148759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800" b="1">
                <a:solidFill>
                  <a:srgbClr val="0B3D91"/>
                </a:solidFill>
                <a:latin typeface="Aptos" panose="020B00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654725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AAF3AC-26A9-59E0-8216-4F7F700A903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F2FB"/>
          </a:solidFill>
          <a:ln w="12700" cap="flat" cmpd="sng" algn="ctr">
            <a:solidFill>
              <a:srgbClr val="EAF2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60F703-FC1A-ECDB-D7CC-ADD61CE78523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0A89EF-41B5-2DFC-8435-03E1A0E4A212}"/>
              </a:ext>
            </a:extLst>
          </p:cNvPr>
          <p:cNvSpPr txBox="1"/>
          <p:nvPr/>
        </p:nvSpPr>
        <p:spPr>
          <a:xfrm>
            <a:off x="508000" y="317500"/>
            <a:ext cx="8509000" cy="394980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2400" b="1">
                <a:solidFill>
                  <a:srgbClr val="0B3D91"/>
                </a:solidFill>
                <a:latin typeface="Aptos Display" panose="020B0004020202020204" pitchFamily="34" charset="0"/>
              </a:rPr>
              <a:t>Project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1F9E29-2DC4-E426-A4EF-8EC72CEE4445}"/>
              </a:ext>
            </a:extLst>
          </p:cNvPr>
          <p:cNvSpPr txBox="1"/>
          <p:nvPr/>
        </p:nvSpPr>
        <p:spPr>
          <a:xfrm>
            <a:off x="533400" y="762000"/>
            <a:ext cx="9601200" cy="17184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950">
                <a:solidFill>
                  <a:srgbClr val="8A969F"/>
                </a:solidFill>
                <a:latin typeface="Aptos" panose="020B0004020202020204" pitchFamily="34" charset="0"/>
              </a:rPr>
              <a:t>What the dashboard is designed to answer</a:t>
            </a:r>
            <a:endParaRPr lang="en-IN" sz="95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721F5-F2CC-6012-DB44-2A29B866A7A1}"/>
              </a:ext>
            </a:extLst>
          </p:cNvPr>
          <p:cNvSpPr/>
          <p:nvPr/>
        </p:nvSpPr>
        <p:spPr>
          <a:xfrm>
            <a:off x="685800" y="1320800"/>
            <a:ext cx="457200" cy="457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FDEA35-BD2E-86C7-6BAC-CFC3C878616A}"/>
              </a:ext>
            </a:extLst>
          </p:cNvPr>
          <p:cNvSpPr txBox="1"/>
          <p:nvPr/>
        </p:nvSpPr>
        <p:spPr>
          <a:xfrm>
            <a:off x="762000" y="1447800"/>
            <a:ext cx="304800" cy="19492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D7416-116D-ABC6-5C88-28749204C0F4}"/>
              </a:ext>
            </a:extLst>
          </p:cNvPr>
          <p:cNvSpPr txBox="1"/>
          <p:nvPr/>
        </p:nvSpPr>
        <p:spPr>
          <a:xfrm>
            <a:off x="1346200" y="1358900"/>
            <a:ext cx="4572000" cy="225703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300" b="1">
                <a:solidFill>
                  <a:srgbClr val="0B3D91"/>
                </a:solidFill>
                <a:latin typeface="Aptos" panose="020B0004020202020204" pitchFamily="34" charset="0"/>
              </a:rPr>
              <a:t>Profile customer demographics and account types</a:t>
            </a:r>
            <a:endParaRPr lang="en-IN" sz="1300" b="1">
              <a:solidFill>
                <a:srgbClr val="0B3D91"/>
              </a:solidFill>
              <a:latin typeface="Aptos" panose="020B0004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B224DA9-D180-1798-87F7-379835B5E27B}"/>
              </a:ext>
            </a:extLst>
          </p:cNvPr>
          <p:cNvCxnSpPr/>
          <p:nvPr/>
        </p:nvCxnSpPr>
        <p:spPr>
          <a:xfrm>
            <a:off x="1346200" y="1905000"/>
            <a:ext cx="4419600" cy="0"/>
          </a:xfrm>
          <a:prstGeom prst="line">
            <a:avLst/>
          </a:prstGeom>
          <a:ln w="8890">
            <a:solidFill>
              <a:srgbClr val="EBE8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ACA0B69-C69D-4F76-C851-A863905E75FD}"/>
              </a:ext>
            </a:extLst>
          </p:cNvPr>
          <p:cNvSpPr/>
          <p:nvPr/>
        </p:nvSpPr>
        <p:spPr>
          <a:xfrm>
            <a:off x="685800" y="2463800"/>
            <a:ext cx="457200" cy="457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21D97E-636A-DB70-3D25-49BBFEF11315}"/>
              </a:ext>
            </a:extLst>
          </p:cNvPr>
          <p:cNvSpPr txBox="1"/>
          <p:nvPr/>
        </p:nvSpPr>
        <p:spPr>
          <a:xfrm>
            <a:off x="762000" y="2578100"/>
            <a:ext cx="304800" cy="19492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A77398-F344-CA80-B034-3EBD540F1028}"/>
              </a:ext>
            </a:extLst>
          </p:cNvPr>
          <p:cNvSpPr txBox="1"/>
          <p:nvPr/>
        </p:nvSpPr>
        <p:spPr>
          <a:xfrm>
            <a:off x="1346200" y="2501900"/>
            <a:ext cx="4572000" cy="225703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300" b="1">
                <a:solidFill>
                  <a:srgbClr val="0B3D91"/>
                </a:solidFill>
                <a:latin typeface="Aptos" panose="020B0004020202020204" pitchFamily="34" charset="0"/>
              </a:rPr>
              <a:t>Measure total and average account balances</a:t>
            </a:r>
            <a:endParaRPr lang="en-IN" sz="1300" b="1">
              <a:solidFill>
                <a:srgbClr val="0B3D91"/>
              </a:solidFill>
              <a:latin typeface="Aptos" panose="020B000402020202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87447AA-C6EA-99C2-C9BF-B45CC181110F}"/>
              </a:ext>
            </a:extLst>
          </p:cNvPr>
          <p:cNvCxnSpPr/>
          <p:nvPr/>
        </p:nvCxnSpPr>
        <p:spPr>
          <a:xfrm>
            <a:off x="1346200" y="3035300"/>
            <a:ext cx="4419600" cy="0"/>
          </a:xfrm>
          <a:prstGeom prst="line">
            <a:avLst/>
          </a:prstGeom>
          <a:ln w="8890">
            <a:solidFill>
              <a:srgbClr val="EBE8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BC464AE-0B31-22A5-FAF4-185A5CA1FDBC}"/>
              </a:ext>
            </a:extLst>
          </p:cNvPr>
          <p:cNvSpPr/>
          <p:nvPr/>
        </p:nvSpPr>
        <p:spPr>
          <a:xfrm>
            <a:off x="685800" y="3594100"/>
            <a:ext cx="457200" cy="457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64C57D-756C-0B8E-69F5-9BEAF4FD20DC}"/>
              </a:ext>
            </a:extLst>
          </p:cNvPr>
          <p:cNvSpPr txBox="1"/>
          <p:nvPr/>
        </p:nvSpPr>
        <p:spPr>
          <a:xfrm>
            <a:off x="762000" y="3708400"/>
            <a:ext cx="304800" cy="19492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3F3AC9-60F4-EA1B-4E3E-8416FFFA5826}"/>
              </a:ext>
            </a:extLst>
          </p:cNvPr>
          <p:cNvSpPr txBox="1"/>
          <p:nvPr/>
        </p:nvSpPr>
        <p:spPr>
          <a:xfrm>
            <a:off x="1346200" y="3632200"/>
            <a:ext cx="4572000" cy="225703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300" b="1">
                <a:solidFill>
                  <a:srgbClr val="0B3D91"/>
                </a:solidFill>
                <a:latin typeface="Aptos" panose="020B0004020202020204" pitchFamily="34" charset="0"/>
              </a:rPr>
              <a:t>Assess credit-score distributions and risk bands</a:t>
            </a:r>
            <a:endParaRPr lang="en-IN" sz="1300" b="1">
              <a:solidFill>
                <a:srgbClr val="0B3D91"/>
              </a:solidFill>
              <a:latin typeface="Aptos" panose="020B00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A52E831-0EAA-F956-43D3-9A3350617D88}"/>
              </a:ext>
            </a:extLst>
          </p:cNvPr>
          <p:cNvCxnSpPr/>
          <p:nvPr/>
        </p:nvCxnSpPr>
        <p:spPr>
          <a:xfrm>
            <a:off x="1346200" y="4165600"/>
            <a:ext cx="4419600" cy="0"/>
          </a:xfrm>
          <a:prstGeom prst="line">
            <a:avLst/>
          </a:prstGeom>
          <a:ln w="8890">
            <a:solidFill>
              <a:srgbClr val="EBE8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099A10C-B332-5EA5-D9EB-EC0B39295E87}"/>
              </a:ext>
            </a:extLst>
          </p:cNvPr>
          <p:cNvSpPr/>
          <p:nvPr/>
        </p:nvSpPr>
        <p:spPr>
          <a:xfrm>
            <a:off x="685800" y="4724400"/>
            <a:ext cx="457200" cy="457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C906D5-5576-1F00-896E-129EE44AA49F}"/>
              </a:ext>
            </a:extLst>
          </p:cNvPr>
          <p:cNvSpPr txBox="1"/>
          <p:nvPr/>
        </p:nvSpPr>
        <p:spPr>
          <a:xfrm>
            <a:off x="762000" y="4851400"/>
            <a:ext cx="304800" cy="19492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1595C0-AE0E-68C5-390C-0DD018E76A3C}"/>
              </a:ext>
            </a:extLst>
          </p:cNvPr>
          <p:cNvSpPr txBox="1"/>
          <p:nvPr/>
        </p:nvSpPr>
        <p:spPr>
          <a:xfrm>
            <a:off x="1346200" y="4762500"/>
            <a:ext cx="4572000" cy="225703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300" b="1">
                <a:solidFill>
                  <a:srgbClr val="0B3D91"/>
                </a:solidFill>
                <a:latin typeface="Aptos" panose="020B0004020202020204" pitchFamily="34" charset="0"/>
              </a:rPr>
              <a:t>Compare income/financial-value signals where available</a:t>
            </a:r>
            <a:endParaRPr lang="en-IN" sz="1300" b="1">
              <a:solidFill>
                <a:srgbClr val="0B3D91"/>
              </a:solidFill>
              <a:latin typeface="Aptos" panose="020B0004020202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DAEB81D-F4C5-09F6-8C1B-AF2D70802C1A}"/>
              </a:ext>
            </a:extLst>
          </p:cNvPr>
          <p:cNvCxnSpPr/>
          <p:nvPr/>
        </p:nvCxnSpPr>
        <p:spPr>
          <a:xfrm>
            <a:off x="1346200" y="5308600"/>
            <a:ext cx="4419600" cy="0"/>
          </a:xfrm>
          <a:prstGeom prst="line">
            <a:avLst/>
          </a:prstGeom>
          <a:ln w="8890">
            <a:solidFill>
              <a:srgbClr val="EBE8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47016839-82EB-BDDD-812D-6AA75A6EAC6C}"/>
              </a:ext>
            </a:extLst>
          </p:cNvPr>
          <p:cNvSpPr/>
          <p:nvPr/>
        </p:nvSpPr>
        <p:spPr>
          <a:xfrm>
            <a:off x="6261100" y="1320800"/>
            <a:ext cx="457200" cy="457200"/>
          </a:xfrm>
          <a:prstGeom prst="rect">
            <a:avLst/>
          </a:prstGeom>
          <a:solidFill>
            <a:srgbClr val="00A3E0"/>
          </a:solidFill>
          <a:ln w="12700" cap="flat" cmpd="sng" algn="ctr">
            <a:solidFill>
              <a:srgbClr val="00A3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272076-AE67-50C2-8CB3-F57BE00EFBE1}"/>
              </a:ext>
            </a:extLst>
          </p:cNvPr>
          <p:cNvSpPr txBox="1"/>
          <p:nvPr/>
        </p:nvSpPr>
        <p:spPr>
          <a:xfrm>
            <a:off x="6337300" y="1447800"/>
            <a:ext cx="304800" cy="19492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2BAC4F-8CAE-4CDB-7A86-284BBCBC1145}"/>
              </a:ext>
            </a:extLst>
          </p:cNvPr>
          <p:cNvSpPr txBox="1"/>
          <p:nvPr/>
        </p:nvSpPr>
        <p:spPr>
          <a:xfrm>
            <a:off x="6921500" y="1358900"/>
            <a:ext cx="4572000" cy="225703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300" b="1">
                <a:solidFill>
                  <a:srgbClr val="0B3D91"/>
                </a:solidFill>
                <a:latin typeface="Aptos" panose="020B0004020202020204" pitchFamily="34" charset="0"/>
              </a:rPr>
              <a:t>Identify high-value and potentially dormant customers</a:t>
            </a:r>
            <a:endParaRPr lang="en-IN" sz="1300" b="1">
              <a:solidFill>
                <a:srgbClr val="0B3D91"/>
              </a:solidFill>
              <a:latin typeface="Aptos" panose="020B000402020202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4F0B49F-F0C5-B809-9CBB-DB9A0DEE5D28}"/>
              </a:ext>
            </a:extLst>
          </p:cNvPr>
          <p:cNvCxnSpPr/>
          <p:nvPr/>
        </p:nvCxnSpPr>
        <p:spPr>
          <a:xfrm>
            <a:off x="6921500" y="1905000"/>
            <a:ext cx="4419600" cy="0"/>
          </a:xfrm>
          <a:prstGeom prst="line">
            <a:avLst/>
          </a:prstGeom>
          <a:ln w="8890">
            <a:solidFill>
              <a:srgbClr val="EBE8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A1EC559A-9FAF-2FF8-BB21-7ACC1B2E9EBF}"/>
              </a:ext>
            </a:extLst>
          </p:cNvPr>
          <p:cNvSpPr/>
          <p:nvPr/>
        </p:nvSpPr>
        <p:spPr>
          <a:xfrm>
            <a:off x="6261100" y="2463800"/>
            <a:ext cx="457200" cy="457200"/>
          </a:xfrm>
          <a:prstGeom prst="rect">
            <a:avLst/>
          </a:prstGeom>
          <a:solidFill>
            <a:srgbClr val="00A3E0"/>
          </a:solidFill>
          <a:ln w="12700" cap="flat" cmpd="sng" algn="ctr">
            <a:solidFill>
              <a:srgbClr val="00A3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2C4418-F2BB-3D13-1D4E-96940026FCA5}"/>
              </a:ext>
            </a:extLst>
          </p:cNvPr>
          <p:cNvSpPr txBox="1"/>
          <p:nvPr/>
        </p:nvSpPr>
        <p:spPr>
          <a:xfrm>
            <a:off x="6337300" y="2578100"/>
            <a:ext cx="304800" cy="19492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CE94FF-80D3-0005-9192-0FDC57E45EFB}"/>
              </a:ext>
            </a:extLst>
          </p:cNvPr>
          <p:cNvSpPr txBox="1"/>
          <p:nvPr/>
        </p:nvSpPr>
        <p:spPr>
          <a:xfrm>
            <a:off x="6921500" y="2501900"/>
            <a:ext cx="4572000" cy="225703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300" b="1">
                <a:solidFill>
                  <a:srgbClr val="0B3D91"/>
                </a:solidFill>
                <a:latin typeface="Aptos" panose="020B0004020202020204" pitchFamily="34" charset="0"/>
              </a:rPr>
              <a:t>Analyze transaction mix, amounts and activity</a:t>
            </a:r>
            <a:endParaRPr lang="en-IN" sz="1300" b="1">
              <a:solidFill>
                <a:srgbClr val="0B3D91"/>
              </a:solidFill>
              <a:latin typeface="Aptos" panose="020B000402020202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65F15E9-6439-AF5E-8CB7-E05374AF03A0}"/>
              </a:ext>
            </a:extLst>
          </p:cNvPr>
          <p:cNvCxnSpPr/>
          <p:nvPr/>
        </p:nvCxnSpPr>
        <p:spPr>
          <a:xfrm>
            <a:off x="6921500" y="3035300"/>
            <a:ext cx="4419600" cy="0"/>
          </a:xfrm>
          <a:prstGeom prst="line">
            <a:avLst/>
          </a:prstGeom>
          <a:ln w="8890">
            <a:solidFill>
              <a:srgbClr val="EBE8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DAE2E130-AF77-FED8-58B5-3CE0ECAB32E9}"/>
              </a:ext>
            </a:extLst>
          </p:cNvPr>
          <p:cNvSpPr/>
          <p:nvPr/>
        </p:nvSpPr>
        <p:spPr>
          <a:xfrm>
            <a:off x="6261100" y="3594100"/>
            <a:ext cx="457200" cy="457200"/>
          </a:xfrm>
          <a:prstGeom prst="rect">
            <a:avLst/>
          </a:prstGeom>
          <a:solidFill>
            <a:srgbClr val="00A3E0"/>
          </a:solidFill>
          <a:ln w="12700" cap="flat" cmpd="sng" algn="ctr">
            <a:solidFill>
              <a:srgbClr val="00A3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0B0C6D-954C-3AD4-7D73-6E59B53811AB}"/>
              </a:ext>
            </a:extLst>
          </p:cNvPr>
          <p:cNvSpPr txBox="1"/>
          <p:nvPr/>
        </p:nvSpPr>
        <p:spPr>
          <a:xfrm>
            <a:off x="6337300" y="3708400"/>
            <a:ext cx="304800" cy="19492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99671C-721A-1F6E-1BF0-968ABAF928AB}"/>
              </a:ext>
            </a:extLst>
          </p:cNvPr>
          <p:cNvSpPr txBox="1"/>
          <p:nvPr/>
        </p:nvSpPr>
        <p:spPr>
          <a:xfrm>
            <a:off x="6921500" y="3632200"/>
            <a:ext cx="4572000" cy="425758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300" b="1">
                <a:solidFill>
                  <a:srgbClr val="0B3D91"/>
                </a:solidFill>
                <a:latin typeface="Aptos" panose="020B0004020202020204" pitchFamily="34" charset="0"/>
              </a:rPr>
              <a:t>Compare branch-code activity without inventing geographic regions</a:t>
            </a:r>
            <a:endParaRPr lang="en-IN" sz="1300" b="1">
              <a:solidFill>
                <a:srgbClr val="0B3D91"/>
              </a:solidFill>
              <a:latin typeface="Aptos" panose="020B0004020202020204" pitchFamily="34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6066FC2-A995-E31C-E747-30F48BE6C380}"/>
              </a:ext>
            </a:extLst>
          </p:cNvPr>
          <p:cNvCxnSpPr/>
          <p:nvPr/>
        </p:nvCxnSpPr>
        <p:spPr>
          <a:xfrm>
            <a:off x="6921500" y="4165600"/>
            <a:ext cx="4419600" cy="0"/>
          </a:xfrm>
          <a:prstGeom prst="line">
            <a:avLst/>
          </a:prstGeom>
          <a:ln w="8890">
            <a:solidFill>
              <a:srgbClr val="EBE8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F75173A9-AF04-F5AD-F02A-96A64189C738}"/>
              </a:ext>
            </a:extLst>
          </p:cNvPr>
          <p:cNvSpPr/>
          <p:nvPr/>
        </p:nvSpPr>
        <p:spPr>
          <a:xfrm>
            <a:off x="6261100" y="4724400"/>
            <a:ext cx="457200" cy="457200"/>
          </a:xfrm>
          <a:prstGeom prst="rect">
            <a:avLst/>
          </a:prstGeom>
          <a:solidFill>
            <a:srgbClr val="00A3E0"/>
          </a:solidFill>
          <a:ln w="12700" cap="flat" cmpd="sng" algn="ctr">
            <a:solidFill>
              <a:srgbClr val="00A3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562331-D08B-FD24-C5D0-048C5E43EC5A}"/>
              </a:ext>
            </a:extLst>
          </p:cNvPr>
          <p:cNvSpPr txBox="1"/>
          <p:nvPr/>
        </p:nvSpPr>
        <p:spPr>
          <a:xfrm>
            <a:off x="6337300" y="4851400"/>
            <a:ext cx="304800" cy="19492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E4F922-F8E3-4974-789A-60A5C51483B6}"/>
              </a:ext>
            </a:extLst>
          </p:cNvPr>
          <p:cNvSpPr txBox="1"/>
          <p:nvPr/>
        </p:nvSpPr>
        <p:spPr>
          <a:xfrm>
            <a:off x="6921500" y="4762500"/>
            <a:ext cx="4572000" cy="425758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300" b="1">
                <a:solidFill>
                  <a:srgbClr val="0B3D91"/>
                </a:solidFill>
                <a:latin typeface="Aptos" panose="020B0004020202020204" pitchFamily="34" charset="0"/>
              </a:rPr>
              <a:t>Build interactive visuals and evidence-based recommendations</a:t>
            </a:r>
            <a:endParaRPr lang="en-IN" sz="1300" b="1">
              <a:solidFill>
                <a:srgbClr val="0B3D91"/>
              </a:solidFill>
              <a:latin typeface="Aptos" panose="020B0004020202020204" pitchFamily="34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3D826F3-FDEF-CD16-BB56-B7DDA892D052}"/>
              </a:ext>
            </a:extLst>
          </p:cNvPr>
          <p:cNvCxnSpPr/>
          <p:nvPr/>
        </p:nvCxnSpPr>
        <p:spPr>
          <a:xfrm>
            <a:off x="6921500" y="5308600"/>
            <a:ext cx="4419600" cy="0"/>
          </a:xfrm>
          <a:prstGeom prst="line">
            <a:avLst/>
          </a:prstGeom>
          <a:ln w="8890">
            <a:solidFill>
              <a:srgbClr val="EBE8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2CE4CE6-F5E5-0A56-0CF6-E153E834E8D7}"/>
              </a:ext>
            </a:extLst>
          </p:cNvPr>
          <p:cNvCxnSpPr/>
          <p:nvPr/>
        </p:nvCxnSpPr>
        <p:spPr>
          <a:xfrm>
            <a:off x="508000" y="6477000"/>
            <a:ext cx="11176000" cy="0"/>
          </a:xfrm>
          <a:prstGeom prst="line">
            <a:avLst/>
          </a:prstGeom>
          <a:ln w="10160">
            <a:solidFill>
              <a:srgbClr val="EBE8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1209DC1-0990-E529-C479-2DD26806D528}"/>
              </a:ext>
            </a:extLst>
          </p:cNvPr>
          <p:cNvSpPr txBox="1"/>
          <p:nvPr/>
        </p:nvSpPr>
        <p:spPr>
          <a:xfrm>
            <a:off x="533400" y="6515100"/>
            <a:ext cx="7950200" cy="14106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750">
                <a:solidFill>
                  <a:srgbClr val="8A969F"/>
                </a:solidFill>
                <a:latin typeface="Aptos" panose="020B0004020202020204" pitchFamily="34" charset="0"/>
              </a:rPr>
              <a:t>Financial Insights in Banking Data using Power BI  |  SOUNAK DEY</a:t>
            </a:r>
            <a:endParaRPr lang="en-IN" sz="75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3E9AB7F-595B-0C61-66CA-8CEACE9C5BD6}"/>
              </a:ext>
            </a:extLst>
          </p:cNvPr>
          <p:cNvSpPr txBox="1"/>
          <p:nvPr/>
        </p:nvSpPr>
        <p:spPr>
          <a:xfrm>
            <a:off x="11150600" y="6489700"/>
            <a:ext cx="508000" cy="148759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800" b="1">
                <a:solidFill>
                  <a:srgbClr val="0B3D91"/>
                </a:solidFill>
                <a:latin typeface="Aptos" panose="020B00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158932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7F31DB-FA7F-6224-EDCC-2DF38909C5AF}"/>
              </a:ext>
            </a:extLst>
          </p:cNvPr>
          <p:cNvSpPr/>
          <p:nvPr/>
        </p:nvSpPr>
        <p:spPr>
          <a:xfrm>
            <a:off x="-508000" y="100781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25E278-E737-6743-99EE-D40D334F5B8F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61BDE4-B5B2-A852-D98A-80DDD098990E}"/>
              </a:ext>
            </a:extLst>
          </p:cNvPr>
          <p:cNvSpPr txBox="1"/>
          <p:nvPr/>
        </p:nvSpPr>
        <p:spPr>
          <a:xfrm>
            <a:off x="508000" y="317500"/>
            <a:ext cx="8509000" cy="394980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2400" b="1">
                <a:solidFill>
                  <a:srgbClr val="0B3D91"/>
                </a:solidFill>
                <a:latin typeface="Aptos Display" panose="020B0004020202020204" pitchFamily="34" charset="0"/>
              </a:rPr>
              <a:t>Dataset description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FAC6C8-FC9A-B06C-E50D-66CE72187724}"/>
              </a:ext>
            </a:extLst>
          </p:cNvPr>
          <p:cNvSpPr txBox="1"/>
          <p:nvPr/>
        </p:nvSpPr>
        <p:spPr>
          <a:xfrm>
            <a:off x="533400" y="762000"/>
            <a:ext cx="9601200" cy="17184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950">
                <a:solidFill>
                  <a:srgbClr val="8A969F"/>
                </a:solidFill>
                <a:latin typeface="Aptos" panose="020B0004020202020204" pitchFamily="34" charset="0"/>
              </a:rPr>
              <a:t>Source structures and observed coverage</a:t>
            </a:r>
            <a:endParaRPr lang="en-IN" sz="95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CBA699-DD0A-AA38-3E8C-753C8EDEFD50}"/>
              </a:ext>
            </a:extLst>
          </p:cNvPr>
          <p:cNvSpPr/>
          <p:nvPr/>
        </p:nvSpPr>
        <p:spPr>
          <a:xfrm>
            <a:off x="635000" y="1193800"/>
            <a:ext cx="2336800" cy="914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35393D-6BFC-0E49-DD78-2F4E727C6359}"/>
              </a:ext>
            </a:extLst>
          </p:cNvPr>
          <p:cNvSpPr/>
          <p:nvPr/>
        </p:nvSpPr>
        <p:spPr>
          <a:xfrm>
            <a:off x="635000" y="1193800"/>
            <a:ext cx="63500" cy="9144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C56678-507B-5931-E28D-1D85E65607FD}"/>
              </a:ext>
            </a:extLst>
          </p:cNvPr>
          <p:cNvSpPr txBox="1"/>
          <p:nvPr/>
        </p:nvSpPr>
        <p:spPr>
          <a:xfrm>
            <a:off x="809550" y="1331623"/>
            <a:ext cx="2174367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lang="en-IN" sz="2000" dirty="0">
                <a:solidFill>
                  <a:srgbClr val="8A969F"/>
                </a:solidFill>
                <a:latin typeface="Aptos" panose="020B0004020202020204" pitchFamily="34" charset="0"/>
              </a:rPr>
              <a:t>Account</a:t>
            </a:r>
            <a:r>
              <a:rPr lang="en-IN" sz="1000" dirty="0">
                <a:solidFill>
                  <a:srgbClr val="8A969F"/>
                </a:solidFill>
                <a:latin typeface="Aptos" panose="020B0004020202020204" pitchFamily="34" charset="0"/>
              </a:rPr>
              <a:t>  </a:t>
            </a:r>
            <a:r>
              <a:rPr lang="en-IN" sz="2000" dirty="0">
                <a:solidFill>
                  <a:srgbClr val="8A969F"/>
                </a:solidFill>
                <a:latin typeface="Aptos" panose="020B0004020202020204" pitchFamily="34" charset="0"/>
              </a:rPr>
              <a:t>records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321D05-3674-DE5E-6893-DEB9AF3C28FE}"/>
              </a:ext>
            </a:extLst>
          </p:cNvPr>
          <p:cNvSpPr txBox="1"/>
          <p:nvPr/>
        </p:nvSpPr>
        <p:spPr>
          <a:xfrm>
            <a:off x="800100" y="1625600"/>
            <a:ext cx="2057400" cy="37959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2300" b="1">
                <a:solidFill>
                  <a:srgbClr val="0B3D91"/>
                </a:solidFill>
                <a:latin typeface="Aptos Display" panose="020B0004020202020204" pitchFamily="34" charset="0"/>
              </a:rPr>
              <a:t>800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0C9FE-A4A9-A89D-2F00-2AD52DBCEEDF}"/>
              </a:ext>
            </a:extLst>
          </p:cNvPr>
          <p:cNvSpPr/>
          <p:nvPr/>
        </p:nvSpPr>
        <p:spPr>
          <a:xfrm>
            <a:off x="3251200" y="1193800"/>
            <a:ext cx="2336800" cy="914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02AC9E-7712-592D-75B7-D725909F1A20}"/>
              </a:ext>
            </a:extLst>
          </p:cNvPr>
          <p:cNvSpPr/>
          <p:nvPr/>
        </p:nvSpPr>
        <p:spPr>
          <a:xfrm>
            <a:off x="3251200" y="1193800"/>
            <a:ext cx="63500" cy="914400"/>
          </a:xfrm>
          <a:prstGeom prst="rect">
            <a:avLst/>
          </a:prstGeom>
          <a:solidFill>
            <a:srgbClr val="00A3E0"/>
          </a:solidFill>
          <a:ln w="12700" cap="flat" cmpd="sng" algn="ctr">
            <a:solidFill>
              <a:srgbClr val="00A3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FBEFBD-E3E8-490B-20F3-74DD59EA5209}"/>
              </a:ext>
            </a:extLst>
          </p:cNvPr>
          <p:cNvSpPr txBox="1"/>
          <p:nvPr/>
        </p:nvSpPr>
        <p:spPr>
          <a:xfrm>
            <a:off x="3390900" y="1297345"/>
            <a:ext cx="2057400" cy="302647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dirty="0">
                <a:solidFill>
                  <a:srgbClr val="8A969F"/>
                </a:solidFill>
                <a:latin typeface="Aptos" panose="020B0004020202020204" pitchFamily="34" charset="0"/>
              </a:rPr>
              <a:t>Transaction</a:t>
            </a:r>
            <a:r>
              <a:rPr lang="en-IN" sz="1000" dirty="0">
                <a:solidFill>
                  <a:srgbClr val="8A969F"/>
                </a:solidFill>
                <a:latin typeface="Aptos" panose="020B0004020202020204" pitchFamily="34" charset="0"/>
              </a:rPr>
              <a:t> </a:t>
            </a:r>
            <a:r>
              <a:rPr lang="en-IN" sz="1200" dirty="0">
                <a:solidFill>
                  <a:srgbClr val="8A969F"/>
                </a:solidFill>
                <a:latin typeface="Aptos" panose="020B0004020202020204" pitchFamily="34" charset="0"/>
              </a:rPr>
              <a:t>records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55FAF6-00C5-3052-1112-C1AA72E913E7}"/>
              </a:ext>
            </a:extLst>
          </p:cNvPr>
          <p:cNvSpPr txBox="1"/>
          <p:nvPr/>
        </p:nvSpPr>
        <p:spPr>
          <a:xfrm>
            <a:off x="3416300" y="1625600"/>
            <a:ext cx="2057400" cy="37959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2300" b="1">
                <a:solidFill>
                  <a:srgbClr val="0B3D91"/>
                </a:solidFill>
                <a:latin typeface="Aptos Display" panose="020B0004020202020204" pitchFamily="34" charset="0"/>
              </a:rPr>
              <a:t>1,000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BD738C-D05C-DA4C-3776-CA495FC73ECC}"/>
              </a:ext>
            </a:extLst>
          </p:cNvPr>
          <p:cNvSpPr/>
          <p:nvPr/>
        </p:nvSpPr>
        <p:spPr>
          <a:xfrm>
            <a:off x="5854700" y="1193800"/>
            <a:ext cx="2336800" cy="914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E884F2-7D00-81D6-2F50-B93666A3DD7B}"/>
              </a:ext>
            </a:extLst>
          </p:cNvPr>
          <p:cNvSpPr/>
          <p:nvPr/>
        </p:nvSpPr>
        <p:spPr>
          <a:xfrm>
            <a:off x="5854700" y="1193800"/>
            <a:ext cx="63500" cy="914400"/>
          </a:xfrm>
          <a:prstGeom prst="rect">
            <a:avLst/>
          </a:prstGeom>
          <a:solidFill>
            <a:srgbClr val="2E8B57"/>
          </a:solidFill>
          <a:ln w="12700" cap="flat" cmpd="sng" algn="ctr">
            <a:solidFill>
              <a:srgbClr val="2E8B57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03F329-22F1-271D-1DA4-5311154378CA}"/>
              </a:ext>
            </a:extLst>
          </p:cNvPr>
          <p:cNvSpPr txBox="1"/>
          <p:nvPr/>
        </p:nvSpPr>
        <p:spPr>
          <a:xfrm>
            <a:off x="5994400" y="1317575"/>
            <a:ext cx="2057400" cy="33342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2000" dirty="0">
                <a:solidFill>
                  <a:srgbClr val="8A969F"/>
                </a:solidFill>
                <a:latin typeface="Aptos" panose="020B0004020202020204" pitchFamily="34" charset="0"/>
              </a:rPr>
              <a:t>Account</a:t>
            </a:r>
            <a:r>
              <a:rPr lang="en-IN" sz="1000" dirty="0">
                <a:solidFill>
                  <a:srgbClr val="8A969F"/>
                </a:solidFill>
                <a:latin typeface="Aptos" panose="020B0004020202020204" pitchFamily="34" charset="0"/>
              </a:rPr>
              <a:t>  </a:t>
            </a:r>
            <a:r>
              <a:rPr lang="en-IN" dirty="0">
                <a:solidFill>
                  <a:srgbClr val="8A969F"/>
                </a:solidFill>
                <a:latin typeface="Aptos" panose="020B0004020202020204" pitchFamily="34" charset="0"/>
              </a:rPr>
              <a:t>fields</a:t>
            </a:r>
            <a:r>
              <a:rPr lang="en-IN" sz="1000" dirty="0">
                <a:solidFill>
                  <a:srgbClr val="8A969F"/>
                </a:solidFill>
                <a:latin typeface="Aptos" panose="020B0004020202020204" pitchFamily="34" charset="0"/>
              </a:rPr>
              <a:t> used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10FAAE-315A-2DAE-82BA-1DD5F2F709C4}"/>
              </a:ext>
            </a:extLst>
          </p:cNvPr>
          <p:cNvSpPr txBox="1"/>
          <p:nvPr/>
        </p:nvSpPr>
        <p:spPr>
          <a:xfrm>
            <a:off x="6019800" y="1625600"/>
            <a:ext cx="2057400" cy="37959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2300" b="1">
                <a:solidFill>
                  <a:srgbClr val="0B3D91"/>
                </a:solidFill>
                <a:latin typeface="Aptos Display" panose="020B0004020202020204" pitchFamily="34" charset="0"/>
              </a:rPr>
              <a:t>9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FFC5E6-E668-9634-22DB-A29EC2B5D88F}"/>
              </a:ext>
            </a:extLst>
          </p:cNvPr>
          <p:cNvSpPr/>
          <p:nvPr/>
        </p:nvSpPr>
        <p:spPr>
          <a:xfrm>
            <a:off x="8458200" y="1193800"/>
            <a:ext cx="2336800" cy="914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5DA8E6-A602-E1B0-C332-4851F6D27E64}"/>
              </a:ext>
            </a:extLst>
          </p:cNvPr>
          <p:cNvSpPr/>
          <p:nvPr/>
        </p:nvSpPr>
        <p:spPr>
          <a:xfrm>
            <a:off x="8458200" y="1193800"/>
            <a:ext cx="63500" cy="914400"/>
          </a:xfrm>
          <a:prstGeom prst="rect">
            <a:avLst/>
          </a:prstGeom>
          <a:solidFill>
            <a:srgbClr val="F2B705"/>
          </a:solidFill>
          <a:ln w="12700" cap="flat" cmpd="sng" algn="ctr">
            <a:solidFill>
              <a:srgbClr val="F2B705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5EA071-ADE1-9EBF-1EA9-C948B8031BA1}"/>
              </a:ext>
            </a:extLst>
          </p:cNvPr>
          <p:cNvSpPr txBox="1"/>
          <p:nvPr/>
        </p:nvSpPr>
        <p:spPr>
          <a:xfrm>
            <a:off x="8597900" y="1365642"/>
            <a:ext cx="2057400" cy="271869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600" dirty="0">
                <a:solidFill>
                  <a:srgbClr val="8A969F"/>
                </a:solidFill>
                <a:latin typeface="Aptos" panose="020B0004020202020204" pitchFamily="34" charset="0"/>
              </a:rPr>
              <a:t>Transaction </a:t>
            </a:r>
            <a:r>
              <a:rPr lang="en-IN" sz="1400" dirty="0">
                <a:solidFill>
                  <a:srgbClr val="8A969F"/>
                </a:solidFill>
                <a:latin typeface="Aptos" panose="020B0004020202020204" pitchFamily="34" charset="0"/>
              </a:rPr>
              <a:t> fields used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70A25E-C15F-0271-9ADC-061C4CA45774}"/>
              </a:ext>
            </a:extLst>
          </p:cNvPr>
          <p:cNvSpPr txBox="1"/>
          <p:nvPr/>
        </p:nvSpPr>
        <p:spPr>
          <a:xfrm>
            <a:off x="8623300" y="1625600"/>
            <a:ext cx="2057400" cy="37959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2300" b="1">
                <a:solidFill>
                  <a:srgbClr val="0B3D91"/>
                </a:solidFill>
                <a:latin typeface="Aptos Display" panose="020B0004020202020204" pitchFamily="34" charset="0"/>
              </a:rPr>
              <a:t>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4010505-0289-A421-A2C4-6472DCE22C85}"/>
              </a:ext>
            </a:extLst>
          </p:cNvPr>
          <p:cNvSpPr/>
          <p:nvPr/>
        </p:nvSpPr>
        <p:spPr>
          <a:xfrm>
            <a:off x="698500" y="2367731"/>
            <a:ext cx="10833100" cy="3213100"/>
          </a:xfrm>
          <a:prstGeom prst="rect">
            <a:avLst/>
          </a:prstGeom>
          <a:solidFill>
            <a:srgbClr val="EAF2FB"/>
          </a:solidFill>
          <a:ln w="12700" cap="flat" cmpd="sng" algn="ctr">
            <a:solidFill>
              <a:srgbClr val="EAF2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9771E0-41D2-3ED0-33C6-0334687D0B1F}"/>
              </a:ext>
            </a:extLst>
          </p:cNvPr>
          <p:cNvSpPr txBox="1"/>
          <p:nvPr/>
        </p:nvSpPr>
        <p:spPr>
          <a:xfrm>
            <a:off x="863600" y="2755900"/>
            <a:ext cx="1651000" cy="33342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2000" b="1" dirty="0">
                <a:solidFill>
                  <a:srgbClr val="8A969F"/>
                </a:solidFill>
                <a:latin typeface="Aptos" panose="020B0004020202020204" pitchFamily="34" charset="0"/>
              </a:rPr>
              <a:t>Field</a:t>
            </a:r>
            <a:r>
              <a:rPr lang="en-IN" sz="1100" b="1" dirty="0">
                <a:solidFill>
                  <a:srgbClr val="8A969F"/>
                </a:solidFill>
                <a:latin typeface="Aptos" panose="020B0004020202020204" pitchFamily="34" charset="0"/>
              </a:rPr>
              <a:t> </a:t>
            </a:r>
            <a:r>
              <a:rPr lang="en-IN" sz="2000" b="1" dirty="0">
                <a:solidFill>
                  <a:srgbClr val="8A969F"/>
                </a:solidFill>
                <a:latin typeface="Aptos" panose="020B0004020202020204" pitchFamily="34" charset="0"/>
              </a:rPr>
              <a:t>group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CE819B-6A5E-803A-8935-59A6FCE9657E}"/>
              </a:ext>
            </a:extLst>
          </p:cNvPr>
          <p:cNvSpPr txBox="1"/>
          <p:nvPr/>
        </p:nvSpPr>
        <p:spPr>
          <a:xfrm>
            <a:off x="2514600" y="2717593"/>
            <a:ext cx="377825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lang="en-IN" sz="2000" b="1" dirty="0">
                <a:solidFill>
                  <a:srgbClr val="8A969F"/>
                </a:solidFill>
                <a:latin typeface="Aptos" panose="020B0004020202020204" pitchFamily="34" charset="0"/>
              </a:rPr>
              <a:t>Actual fields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75426F-6EF9-8F6B-B29D-091B4D57408D}"/>
              </a:ext>
            </a:extLst>
          </p:cNvPr>
          <p:cNvSpPr txBox="1"/>
          <p:nvPr/>
        </p:nvSpPr>
        <p:spPr>
          <a:xfrm>
            <a:off x="6578600" y="2755900"/>
            <a:ext cx="4292600" cy="33342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2000" b="1" dirty="0">
                <a:solidFill>
                  <a:srgbClr val="8A969F"/>
                </a:solidFill>
                <a:latin typeface="Aptos" panose="020B0004020202020204" pitchFamily="34" charset="0"/>
              </a:rPr>
              <a:t>Business meaning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CFE452E-46D5-6DDC-57F6-D7D5D9EC6104}"/>
              </a:ext>
            </a:extLst>
          </p:cNvPr>
          <p:cNvCxnSpPr/>
          <p:nvPr/>
        </p:nvCxnSpPr>
        <p:spPr>
          <a:xfrm>
            <a:off x="863600" y="3086100"/>
            <a:ext cx="10287000" cy="0"/>
          </a:xfrm>
          <a:prstGeom prst="line">
            <a:avLst/>
          </a:prstGeom>
          <a:ln w="12700">
            <a:solidFill>
              <a:srgbClr val="EBE8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EC3FBE8-8BCF-218E-4862-E9B54A316EB2}"/>
              </a:ext>
            </a:extLst>
          </p:cNvPr>
          <p:cNvSpPr txBox="1"/>
          <p:nvPr/>
        </p:nvSpPr>
        <p:spPr>
          <a:xfrm>
            <a:off x="863600" y="3251200"/>
            <a:ext cx="1600200" cy="18723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050" b="1">
                <a:solidFill>
                  <a:srgbClr val="0B3D91"/>
                </a:solidFill>
                <a:latin typeface="Aptos" panose="020B0004020202020204" pitchFamily="34" charset="0"/>
              </a:rPr>
              <a:t>Account identity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A091A6-EBCD-85F9-533C-E4F6929D69C4}"/>
              </a:ext>
            </a:extLst>
          </p:cNvPr>
          <p:cNvSpPr txBox="1"/>
          <p:nvPr/>
        </p:nvSpPr>
        <p:spPr>
          <a:xfrm>
            <a:off x="2603500" y="3251200"/>
            <a:ext cx="37973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400" dirty="0">
                <a:solidFill>
                  <a:srgbClr val="17365D"/>
                </a:solidFill>
                <a:latin typeface="Aptos" panose="020B0004020202020204" pitchFamily="34" charset="0"/>
              </a:rPr>
              <a:t>A</a:t>
            </a:r>
            <a:r>
              <a:rPr lang="en-IN" sz="1050" dirty="0">
                <a:solidFill>
                  <a:srgbClr val="17365D"/>
                </a:solidFill>
                <a:latin typeface="Aptos" panose="020B0004020202020204" pitchFamily="34" charset="0"/>
              </a:rPr>
              <a:t>ccount </a:t>
            </a:r>
            <a:r>
              <a:rPr lang="en-IN" sz="1400" dirty="0">
                <a:solidFill>
                  <a:srgbClr val="17365D"/>
                </a:solidFill>
                <a:latin typeface="Aptos" panose="020B0004020202020204" pitchFamily="34" charset="0"/>
              </a:rPr>
              <a:t>N</a:t>
            </a:r>
            <a:r>
              <a:rPr lang="en-IN" sz="1050" dirty="0">
                <a:solidFill>
                  <a:srgbClr val="17365D"/>
                </a:solidFill>
                <a:latin typeface="Aptos" panose="020B0004020202020204" pitchFamily="34" charset="0"/>
              </a:rPr>
              <a:t>umber, </a:t>
            </a:r>
            <a:r>
              <a:rPr lang="en-IN" sz="1400" dirty="0">
                <a:solidFill>
                  <a:srgbClr val="17365D"/>
                </a:solidFill>
                <a:latin typeface="Aptos" panose="020B0004020202020204" pitchFamily="34" charset="0"/>
              </a:rPr>
              <a:t>A</a:t>
            </a:r>
            <a:r>
              <a:rPr lang="en-IN" sz="1050" dirty="0">
                <a:solidFill>
                  <a:srgbClr val="17365D"/>
                </a:solidFill>
                <a:latin typeface="Aptos" panose="020B0004020202020204" pitchFamily="34" charset="0"/>
              </a:rPr>
              <a:t>ccount </a:t>
            </a:r>
            <a:r>
              <a:rPr lang="en-IN" sz="1400" dirty="0">
                <a:solidFill>
                  <a:srgbClr val="17365D"/>
                </a:solidFill>
                <a:latin typeface="Aptos" panose="020B0004020202020204" pitchFamily="34" charset="0"/>
              </a:rPr>
              <a:t>H</a:t>
            </a:r>
            <a:r>
              <a:rPr lang="en-IN" sz="1050" dirty="0">
                <a:solidFill>
                  <a:srgbClr val="17365D"/>
                </a:solidFill>
                <a:latin typeface="Aptos" panose="020B0004020202020204" pitchFamily="34" charset="0"/>
              </a:rPr>
              <a:t>older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B43F93-4F78-ED0B-9840-A650AA9D7FA3}"/>
              </a:ext>
            </a:extLst>
          </p:cNvPr>
          <p:cNvSpPr txBox="1"/>
          <p:nvPr/>
        </p:nvSpPr>
        <p:spPr>
          <a:xfrm>
            <a:off x="6578600" y="3251200"/>
            <a:ext cx="4292600" cy="18723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050">
                <a:solidFill>
                  <a:srgbClr val="17365D"/>
                </a:solidFill>
                <a:latin typeface="Aptos" panose="020B0004020202020204" pitchFamily="34" charset="0"/>
              </a:rPr>
              <a:t>Unique account traceability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0AFEA3-F5CE-9A69-3EC5-C09C68CF0C71}"/>
              </a:ext>
            </a:extLst>
          </p:cNvPr>
          <p:cNvSpPr txBox="1"/>
          <p:nvPr/>
        </p:nvSpPr>
        <p:spPr>
          <a:xfrm>
            <a:off x="863600" y="3632200"/>
            <a:ext cx="1600200" cy="18723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050" b="1">
                <a:solidFill>
                  <a:srgbClr val="0B3D91"/>
                </a:solidFill>
                <a:latin typeface="Aptos" panose="020B0004020202020204" pitchFamily="34" charset="0"/>
              </a:rPr>
              <a:t>Account profile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254687-317C-D0D3-FB79-51C0B757A865}"/>
              </a:ext>
            </a:extLst>
          </p:cNvPr>
          <p:cNvSpPr txBox="1"/>
          <p:nvPr/>
        </p:nvSpPr>
        <p:spPr>
          <a:xfrm>
            <a:off x="2514600" y="3686061"/>
            <a:ext cx="3905250" cy="18723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lang="en-IN" sz="1050" dirty="0">
                <a:solidFill>
                  <a:srgbClr val="17365D"/>
                </a:solidFill>
                <a:latin typeface="Aptos" panose="020B0004020202020204" pitchFamily="34" charset="0"/>
              </a:rPr>
              <a:t>Account Type, Account Holder Details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993018-3B44-71E2-9DFB-B000079D8A6B}"/>
              </a:ext>
            </a:extLst>
          </p:cNvPr>
          <p:cNvSpPr txBox="1"/>
          <p:nvPr/>
        </p:nvSpPr>
        <p:spPr>
          <a:xfrm>
            <a:off x="6578600" y="3632200"/>
            <a:ext cx="4292600" cy="18723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050">
                <a:solidFill>
                  <a:srgbClr val="17365D"/>
                </a:solidFill>
                <a:latin typeface="Aptos" panose="020B0004020202020204" pitchFamily="34" charset="0"/>
              </a:rPr>
              <a:t>Product and customer context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200743C-BC4C-144E-441B-42FBADCCCF81}"/>
              </a:ext>
            </a:extLst>
          </p:cNvPr>
          <p:cNvSpPr txBox="1"/>
          <p:nvPr/>
        </p:nvSpPr>
        <p:spPr>
          <a:xfrm>
            <a:off x="863600" y="4013200"/>
            <a:ext cx="1600200" cy="18723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050" b="1">
                <a:solidFill>
                  <a:srgbClr val="0B3D91"/>
                </a:solidFill>
                <a:latin typeface="Aptos" panose="020B0004020202020204" pitchFamily="34" charset="0"/>
              </a:rPr>
              <a:t>Financial measures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30AC8C-43D2-6361-BDE2-93FDC7852966}"/>
              </a:ext>
            </a:extLst>
          </p:cNvPr>
          <p:cNvSpPr txBox="1"/>
          <p:nvPr/>
        </p:nvSpPr>
        <p:spPr>
          <a:xfrm>
            <a:off x="2463800" y="4013200"/>
            <a:ext cx="3937000" cy="18723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lang="en-IN" sz="1050" dirty="0">
                <a:solidFill>
                  <a:srgbClr val="17365D"/>
                </a:solidFill>
                <a:latin typeface="Aptos" panose="020B0004020202020204" pitchFamily="34" charset="0"/>
              </a:rPr>
              <a:t>Balance, Loan Amount, Interest Rate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F79B96-FC49-8B38-5098-9F00C3B2C521}"/>
              </a:ext>
            </a:extLst>
          </p:cNvPr>
          <p:cNvSpPr txBox="1"/>
          <p:nvPr/>
        </p:nvSpPr>
        <p:spPr>
          <a:xfrm>
            <a:off x="6578600" y="4013200"/>
            <a:ext cx="4292600" cy="18723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050">
                <a:solidFill>
                  <a:srgbClr val="17365D"/>
                </a:solidFill>
                <a:latin typeface="Aptos" panose="020B0004020202020204" pitchFamily="34" charset="0"/>
              </a:rPr>
              <a:t>Value, exposure and pricing signals</a:t>
            </a:r>
            <a:endParaRPr lang="en-IN" sz="105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D7CBC6-9004-97A6-69BD-CE1C6DC35CDA}"/>
              </a:ext>
            </a:extLst>
          </p:cNvPr>
          <p:cNvSpPr txBox="1"/>
          <p:nvPr/>
        </p:nvSpPr>
        <p:spPr>
          <a:xfrm>
            <a:off x="863600" y="4394200"/>
            <a:ext cx="1600200" cy="18723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050" b="1">
                <a:solidFill>
                  <a:srgbClr val="0B3D91"/>
                </a:solidFill>
                <a:latin typeface="Aptos" panose="020B0004020202020204" pitchFamily="34" charset="0"/>
              </a:rPr>
              <a:t>Credit and time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967C71-04F2-2D81-CD88-E6E6A2FB7A2C}"/>
              </a:ext>
            </a:extLst>
          </p:cNvPr>
          <p:cNvSpPr txBox="1"/>
          <p:nvPr/>
        </p:nvSpPr>
        <p:spPr>
          <a:xfrm>
            <a:off x="2514600" y="4394201"/>
            <a:ext cx="3886200" cy="18723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lang="en-IN" sz="1050" dirty="0">
                <a:solidFill>
                  <a:srgbClr val="17365D"/>
                </a:solidFill>
                <a:latin typeface="Aptos" panose="020B0004020202020204" pitchFamily="34" charset="0"/>
              </a:rPr>
              <a:t>Credit Score, Opening Date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ED69314-F8D8-C838-DCF0-5F32561874C7}"/>
              </a:ext>
            </a:extLst>
          </p:cNvPr>
          <p:cNvSpPr txBox="1"/>
          <p:nvPr/>
        </p:nvSpPr>
        <p:spPr>
          <a:xfrm>
            <a:off x="6578600" y="4394200"/>
            <a:ext cx="4292600" cy="18723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050" dirty="0">
                <a:solidFill>
                  <a:srgbClr val="17365D"/>
                </a:solidFill>
                <a:latin typeface="Aptos" panose="020B0004020202020204" pitchFamily="34" charset="0"/>
              </a:rPr>
              <a:t>Risk lens and account tenure</a:t>
            </a:r>
            <a:endParaRPr lang="en-IN" sz="1050" dirty="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733C4F-1470-DF41-2D62-12B301306912}"/>
              </a:ext>
            </a:extLst>
          </p:cNvPr>
          <p:cNvSpPr txBox="1"/>
          <p:nvPr/>
        </p:nvSpPr>
        <p:spPr>
          <a:xfrm>
            <a:off x="863600" y="4787900"/>
            <a:ext cx="1600200" cy="18723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050" b="1">
                <a:solidFill>
                  <a:srgbClr val="0B3D91"/>
                </a:solidFill>
                <a:latin typeface="Aptos" panose="020B0004020202020204" pitchFamily="34" charset="0"/>
              </a:rPr>
              <a:t>Transactions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AEBCFED-6BBC-F361-5B31-C909A3BCB807}"/>
              </a:ext>
            </a:extLst>
          </p:cNvPr>
          <p:cNvSpPr txBox="1"/>
          <p:nvPr/>
        </p:nvSpPr>
        <p:spPr>
          <a:xfrm>
            <a:off x="2603500" y="4787900"/>
            <a:ext cx="3797300" cy="18723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050" dirty="0">
                <a:solidFill>
                  <a:srgbClr val="17365D"/>
                </a:solidFill>
                <a:latin typeface="Aptos" panose="020B0004020202020204" pitchFamily="34" charset="0"/>
              </a:rPr>
              <a:t>Transaction ID, Account Number, Transaction Type, Amount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AFA5360-2A90-29B3-6A40-428D143CBBD6}"/>
              </a:ext>
            </a:extLst>
          </p:cNvPr>
          <p:cNvSpPr txBox="1"/>
          <p:nvPr/>
        </p:nvSpPr>
        <p:spPr>
          <a:xfrm>
            <a:off x="6578600" y="4787900"/>
            <a:ext cx="4292600" cy="18723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050" dirty="0">
                <a:solidFill>
                  <a:srgbClr val="17365D"/>
                </a:solidFill>
                <a:latin typeface="Aptos" panose="020B0004020202020204" pitchFamily="34" charset="0"/>
              </a:rPr>
              <a:t>Customer activity and flow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19EF4F-7797-19A8-3886-276C244E799E}"/>
              </a:ext>
            </a:extLst>
          </p:cNvPr>
          <p:cNvSpPr txBox="1"/>
          <p:nvPr/>
        </p:nvSpPr>
        <p:spPr>
          <a:xfrm>
            <a:off x="863600" y="5168900"/>
            <a:ext cx="1600200" cy="18723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050" b="1">
                <a:solidFill>
                  <a:srgbClr val="0B3D91"/>
                </a:solidFill>
                <a:latin typeface="Aptos" panose="020B0004020202020204" pitchFamily="34" charset="0"/>
              </a:rPr>
              <a:t>Operations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C2EEF0-C0B8-0FCE-1A5C-883F1A2F9DAF}"/>
              </a:ext>
            </a:extLst>
          </p:cNvPr>
          <p:cNvSpPr txBox="1"/>
          <p:nvPr/>
        </p:nvSpPr>
        <p:spPr>
          <a:xfrm>
            <a:off x="2603500" y="5168900"/>
            <a:ext cx="3797300" cy="18723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050" dirty="0">
                <a:solidFill>
                  <a:srgbClr val="17365D"/>
                </a:solidFill>
                <a:latin typeface="Aptos" panose="020B0004020202020204" pitchFamily="34" charset="0"/>
              </a:rPr>
              <a:t>Branch Code, Currency, Transaction Date, Transaction Time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35E08C-2A61-6977-5669-9689DFD861F4}"/>
              </a:ext>
            </a:extLst>
          </p:cNvPr>
          <p:cNvSpPr txBox="1"/>
          <p:nvPr/>
        </p:nvSpPr>
        <p:spPr>
          <a:xfrm>
            <a:off x="6578600" y="5168900"/>
            <a:ext cx="4292600" cy="18723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050" dirty="0">
                <a:solidFill>
                  <a:srgbClr val="17365D"/>
                </a:solidFill>
                <a:latin typeface="Aptos" panose="020B0004020202020204" pitchFamily="34" charset="0"/>
              </a:rPr>
              <a:t>Operational context and time analysis</a:t>
            </a:r>
            <a:endParaRPr lang="en-IN" sz="1050" dirty="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5C6366C-FD83-BC3F-61F3-CC3B0F22BAA3}"/>
              </a:ext>
            </a:extLst>
          </p:cNvPr>
          <p:cNvCxnSpPr/>
          <p:nvPr/>
        </p:nvCxnSpPr>
        <p:spPr>
          <a:xfrm>
            <a:off x="508000" y="6477000"/>
            <a:ext cx="11176000" cy="0"/>
          </a:xfrm>
          <a:prstGeom prst="line">
            <a:avLst/>
          </a:prstGeom>
          <a:ln w="10160">
            <a:solidFill>
              <a:srgbClr val="EBE8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3119D69-F4E9-FE4F-D949-8E420DFC89B0}"/>
              </a:ext>
            </a:extLst>
          </p:cNvPr>
          <p:cNvSpPr txBox="1"/>
          <p:nvPr/>
        </p:nvSpPr>
        <p:spPr>
          <a:xfrm>
            <a:off x="533400" y="6515100"/>
            <a:ext cx="7950200" cy="14106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750">
                <a:solidFill>
                  <a:srgbClr val="8A969F"/>
                </a:solidFill>
                <a:latin typeface="Aptos" panose="020B0004020202020204" pitchFamily="34" charset="0"/>
              </a:rPr>
              <a:t>Financial Insights in Banking Data using Power BI  |  SOUNAK DEY</a:t>
            </a:r>
            <a:endParaRPr lang="en-IN" sz="75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762B794-0539-A109-B1DC-114677868027}"/>
              </a:ext>
            </a:extLst>
          </p:cNvPr>
          <p:cNvSpPr txBox="1"/>
          <p:nvPr/>
        </p:nvSpPr>
        <p:spPr>
          <a:xfrm>
            <a:off x="11150600" y="6489700"/>
            <a:ext cx="508000" cy="148759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800" b="1">
                <a:solidFill>
                  <a:srgbClr val="0B3D91"/>
                </a:solidFill>
                <a:latin typeface="Aptos" panose="020B0004020202020204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89745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3882B8-5197-0EEB-478F-E7656B2829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F2FB"/>
          </a:solidFill>
          <a:ln w="12700" cap="flat" cmpd="sng" algn="ctr">
            <a:solidFill>
              <a:srgbClr val="EAF2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12FF5B-5CE6-A879-EE89-4BBB7DFB2EF2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D6AEA7-4E91-1255-D70A-F5917733EB77}"/>
              </a:ext>
            </a:extLst>
          </p:cNvPr>
          <p:cNvSpPr txBox="1"/>
          <p:nvPr/>
        </p:nvSpPr>
        <p:spPr>
          <a:xfrm>
            <a:off x="508000" y="317500"/>
            <a:ext cx="8509000" cy="394980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2400" b="1">
                <a:solidFill>
                  <a:srgbClr val="0B3D91"/>
                </a:solidFill>
                <a:latin typeface="Aptos Display" panose="020B0004020202020204" pitchFamily="34" charset="0"/>
              </a:rPr>
              <a:t>Data preprocessing &amp; cleaning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5A5D4B-6C12-10FE-8293-31A436D707DD}"/>
              </a:ext>
            </a:extLst>
          </p:cNvPr>
          <p:cNvSpPr txBox="1"/>
          <p:nvPr/>
        </p:nvSpPr>
        <p:spPr>
          <a:xfrm>
            <a:off x="533400" y="762000"/>
            <a:ext cx="9601200" cy="17184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950">
                <a:solidFill>
                  <a:srgbClr val="8A969F"/>
                </a:solidFill>
                <a:latin typeface="Aptos" panose="020B0004020202020204" pitchFamily="34" charset="0"/>
              </a:rPr>
              <a:t>Quality checks are part of the analytical result, not a hidden step</a:t>
            </a:r>
            <a:endParaRPr lang="en-IN" sz="95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D19E48-3F83-420A-D7F1-7E1E58BF28F4}"/>
              </a:ext>
            </a:extLst>
          </p:cNvPr>
          <p:cNvSpPr/>
          <p:nvPr/>
        </p:nvSpPr>
        <p:spPr>
          <a:xfrm>
            <a:off x="711200" y="1511300"/>
            <a:ext cx="2057400" cy="990600"/>
          </a:xfrm>
          <a:prstGeom prst="rect">
            <a:avLst/>
          </a:prstGeom>
          <a:solidFill>
            <a:srgbClr val="0B3D91"/>
          </a:solidFill>
          <a:ln w="12700" cap="flat" cmpd="sng" algn="ctr">
            <a:solidFill>
              <a:srgbClr val="0B3D9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249793-398D-4F32-8F16-C0A556B06128}"/>
              </a:ext>
            </a:extLst>
          </p:cNvPr>
          <p:cNvSpPr txBox="1"/>
          <p:nvPr/>
        </p:nvSpPr>
        <p:spPr>
          <a:xfrm>
            <a:off x="800100" y="1790700"/>
            <a:ext cx="1879600" cy="225703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Aptos Display" panose="020B0004020202020204" pitchFamily="34" charset="0"/>
              </a:rPr>
              <a:t>Raw records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610718-5EE3-6914-7FD2-27B55DCF248A}"/>
              </a:ext>
            </a:extLst>
          </p:cNvPr>
          <p:cNvSpPr txBox="1"/>
          <p:nvPr/>
        </p:nvSpPr>
        <p:spPr>
          <a:xfrm>
            <a:off x="2870200" y="1778000"/>
            <a:ext cx="457200" cy="348813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2100" b="1">
                <a:solidFill>
                  <a:srgbClr val="00A3E0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7D9B36-D0D8-3C6D-4B56-A6FB115B3913}"/>
              </a:ext>
            </a:extLst>
          </p:cNvPr>
          <p:cNvSpPr/>
          <p:nvPr/>
        </p:nvSpPr>
        <p:spPr>
          <a:xfrm>
            <a:off x="3479800" y="1511300"/>
            <a:ext cx="2057400" cy="990600"/>
          </a:xfrm>
          <a:prstGeom prst="rect">
            <a:avLst/>
          </a:prstGeom>
          <a:solidFill>
            <a:srgbClr val="0B3D91"/>
          </a:solidFill>
          <a:ln w="12700" cap="flat" cmpd="sng" algn="ctr">
            <a:solidFill>
              <a:srgbClr val="0B3D9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15CCCC-1590-8CED-626E-DDD1AAEA5BD1}"/>
              </a:ext>
            </a:extLst>
          </p:cNvPr>
          <p:cNvSpPr txBox="1"/>
          <p:nvPr/>
        </p:nvSpPr>
        <p:spPr>
          <a:xfrm>
            <a:off x="3568700" y="1790700"/>
            <a:ext cx="1879600" cy="225703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Aptos Display" panose="020B0004020202020204" pitchFamily="34" charset="0"/>
              </a:rPr>
              <a:t>Quality checks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5EE976-AB17-79FB-B707-705C450E1BD3}"/>
              </a:ext>
            </a:extLst>
          </p:cNvPr>
          <p:cNvSpPr txBox="1"/>
          <p:nvPr/>
        </p:nvSpPr>
        <p:spPr>
          <a:xfrm>
            <a:off x="5638800" y="1778000"/>
            <a:ext cx="457200" cy="348813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2100" b="1">
                <a:solidFill>
                  <a:srgbClr val="00A3E0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E5D953-F46E-483F-1507-AFCC46DBC128}"/>
              </a:ext>
            </a:extLst>
          </p:cNvPr>
          <p:cNvSpPr/>
          <p:nvPr/>
        </p:nvSpPr>
        <p:spPr>
          <a:xfrm>
            <a:off x="6235700" y="1511300"/>
            <a:ext cx="2057400" cy="990600"/>
          </a:xfrm>
          <a:prstGeom prst="rect">
            <a:avLst/>
          </a:prstGeom>
          <a:solidFill>
            <a:srgbClr val="0B3D91"/>
          </a:solidFill>
          <a:ln w="12700" cap="flat" cmpd="sng" algn="ctr">
            <a:solidFill>
              <a:srgbClr val="0B3D9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360E43-BE47-E4DA-922D-C4203C1261B7}"/>
              </a:ext>
            </a:extLst>
          </p:cNvPr>
          <p:cNvSpPr txBox="1"/>
          <p:nvPr/>
        </p:nvSpPr>
        <p:spPr>
          <a:xfrm>
            <a:off x="6324600" y="1790700"/>
            <a:ext cx="1879600" cy="225703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Aptos Display" panose="020B0004020202020204" pitchFamily="34" charset="0"/>
              </a:rPr>
              <a:t>Standardization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C4297E-0A71-802C-78E4-F685C19C4A64}"/>
              </a:ext>
            </a:extLst>
          </p:cNvPr>
          <p:cNvSpPr txBox="1"/>
          <p:nvPr/>
        </p:nvSpPr>
        <p:spPr>
          <a:xfrm>
            <a:off x="8394700" y="1778000"/>
            <a:ext cx="457200" cy="348813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2100" b="1">
                <a:solidFill>
                  <a:srgbClr val="00A3E0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AD79B1-4B86-669F-3B51-0B5B1EAE5CCB}"/>
              </a:ext>
            </a:extLst>
          </p:cNvPr>
          <p:cNvSpPr/>
          <p:nvPr/>
        </p:nvSpPr>
        <p:spPr>
          <a:xfrm>
            <a:off x="8991600" y="1511300"/>
            <a:ext cx="2057400" cy="990600"/>
          </a:xfrm>
          <a:prstGeom prst="rect">
            <a:avLst/>
          </a:prstGeom>
          <a:solidFill>
            <a:srgbClr val="2E8B57"/>
          </a:solidFill>
          <a:ln w="12700" cap="flat" cmpd="sng" algn="ctr">
            <a:solidFill>
              <a:srgbClr val="2E8B57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E9A9C8-9555-DEF7-7424-516A4D9125DA}"/>
              </a:ext>
            </a:extLst>
          </p:cNvPr>
          <p:cNvSpPr txBox="1"/>
          <p:nvPr/>
        </p:nvSpPr>
        <p:spPr>
          <a:xfrm>
            <a:off x="9093200" y="1790700"/>
            <a:ext cx="1879600" cy="225703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Aptos Display" panose="020B0004020202020204" pitchFamily="34" charset="0"/>
              </a:rPr>
              <a:t>Validated model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836BCF-EE82-A765-58B3-3A9C4EBB8CA9}"/>
              </a:ext>
            </a:extLst>
          </p:cNvPr>
          <p:cNvSpPr/>
          <p:nvPr/>
        </p:nvSpPr>
        <p:spPr>
          <a:xfrm>
            <a:off x="711200" y="2971800"/>
            <a:ext cx="5118100" cy="2286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42ED24-8010-3991-F855-06943D675689}"/>
              </a:ext>
            </a:extLst>
          </p:cNvPr>
          <p:cNvSpPr txBox="1"/>
          <p:nvPr/>
        </p:nvSpPr>
        <p:spPr>
          <a:xfrm>
            <a:off x="990600" y="3251200"/>
            <a:ext cx="4394200" cy="271869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600" b="1">
                <a:solidFill>
                  <a:srgbClr val="0B3D91"/>
                </a:solidFill>
                <a:latin typeface="Aptos Display" panose="020B0004020202020204" pitchFamily="34" charset="0"/>
              </a:rPr>
              <a:t>Observed quality issues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51E0CD-F691-6E58-5EFA-156A02FEABD3}"/>
              </a:ext>
            </a:extLst>
          </p:cNvPr>
          <p:cNvSpPr/>
          <p:nvPr/>
        </p:nvSpPr>
        <p:spPr>
          <a:xfrm>
            <a:off x="990600" y="37719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CCEE55-D198-49C9-436B-693508C9D560}"/>
              </a:ext>
            </a:extLst>
          </p:cNvPr>
          <p:cNvSpPr txBox="1"/>
          <p:nvPr/>
        </p:nvSpPr>
        <p:spPr>
          <a:xfrm>
            <a:off x="1155700" y="3657600"/>
            <a:ext cx="41275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>
                <a:solidFill>
                  <a:srgbClr val="17365D"/>
                </a:solidFill>
                <a:latin typeface="Aptos" panose="020B0004020202020204" pitchFamily="34" charset="0"/>
              </a:rPr>
              <a:t>48 account holders are blank</a:t>
            </a:r>
            <a:endParaRPr lang="en-IN" sz="120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A0F028-8A3C-73D5-2DCF-AB4A5FDFB9BC}"/>
              </a:ext>
            </a:extLst>
          </p:cNvPr>
          <p:cNvSpPr/>
          <p:nvPr/>
        </p:nvSpPr>
        <p:spPr>
          <a:xfrm>
            <a:off x="990600" y="41656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D8F6A0-DF11-CA2B-DE9D-19803DEB8F70}"/>
              </a:ext>
            </a:extLst>
          </p:cNvPr>
          <p:cNvSpPr txBox="1"/>
          <p:nvPr/>
        </p:nvSpPr>
        <p:spPr>
          <a:xfrm>
            <a:off x="1155700" y="4051300"/>
            <a:ext cx="41275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>
                <a:solidFill>
                  <a:srgbClr val="17365D"/>
                </a:solidFill>
                <a:latin typeface="Aptos" panose="020B0004020202020204" pitchFamily="34" charset="0"/>
              </a:rPr>
              <a:t>15 interest-rate entries are non-numeric</a:t>
            </a:r>
            <a:endParaRPr lang="en-IN" sz="120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9E89DA2-4943-B767-84B2-BF804A6F7A87}"/>
              </a:ext>
            </a:extLst>
          </p:cNvPr>
          <p:cNvSpPr/>
          <p:nvPr/>
        </p:nvSpPr>
        <p:spPr>
          <a:xfrm>
            <a:off x="990600" y="45593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3B1FB4A-DDFE-EE40-831A-D7978A4A1C52}"/>
              </a:ext>
            </a:extLst>
          </p:cNvPr>
          <p:cNvSpPr txBox="1"/>
          <p:nvPr/>
        </p:nvSpPr>
        <p:spPr>
          <a:xfrm>
            <a:off x="1155700" y="4445000"/>
            <a:ext cx="41275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>
                <a:solidFill>
                  <a:srgbClr val="17365D"/>
                </a:solidFill>
                <a:latin typeface="Aptos" panose="020B0004020202020204" pitchFamily="34" charset="0"/>
              </a:rPr>
              <a:t>60 transactions have blank transaction type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FE87B6-5AD1-AB7E-563D-BC2FCA47F6F3}"/>
              </a:ext>
            </a:extLst>
          </p:cNvPr>
          <p:cNvSpPr/>
          <p:nvPr/>
        </p:nvSpPr>
        <p:spPr>
          <a:xfrm>
            <a:off x="990600" y="49530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C1790F-1521-48B0-E2B1-FCBA648248B8}"/>
              </a:ext>
            </a:extLst>
          </p:cNvPr>
          <p:cNvSpPr txBox="1"/>
          <p:nvPr/>
        </p:nvSpPr>
        <p:spPr>
          <a:xfrm>
            <a:off x="1155700" y="4838700"/>
            <a:ext cx="41275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>
                <a:solidFill>
                  <a:srgbClr val="17365D"/>
                </a:solidFill>
                <a:latin typeface="Aptos" panose="020B0004020202020204" pitchFamily="34" charset="0"/>
              </a:rPr>
              <a:t>17 transactions use invalid/nonstandard currency values</a:t>
            </a:r>
            <a:endParaRPr lang="en-IN" sz="120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58E0AAC-1CA5-625D-314D-999DAC2977F5}"/>
              </a:ext>
            </a:extLst>
          </p:cNvPr>
          <p:cNvSpPr/>
          <p:nvPr/>
        </p:nvSpPr>
        <p:spPr>
          <a:xfrm>
            <a:off x="6146800" y="2971800"/>
            <a:ext cx="5372100" cy="2286000"/>
          </a:xfrm>
          <a:prstGeom prst="rect">
            <a:avLst/>
          </a:prstGeom>
          <a:solidFill>
            <a:srgbClr val="0B3D91"/>
          </a:solidFill>
          <a:ln w="12700" cap="flat" cmpd="sng" algn="ctr">
            <a:solidFill>
              <a:srgbClr val="0B3D9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83E190-37A1-20E6-DC85-74BC3CD2E319}"/>
              </a:ext>
            </a:extLst>
          </p:cNvPr>
          <p:cNvSpPr txBox="1"/>
          <p:nvPr/>
        </p:nvSpPr>
        <p:spPr>
          <a:xfrm>
            <a:off x="6451600" y="3251200"/>
            <a:ext cx="4394200" cy="271869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600" b="1">
                <a:solidFill>
                  <a:srgbClr val="FFFFFF"/>
                </a:solidFill>
                <a:latin typeface="Aptos Display" panose="020B0004020202020204" pitchFamily="34" charset="0"/>
              </a:rPr>
              <a:t>Treatment principles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3B3160-E261-2C5F-0F22-AEB3F8F9B9FE}"/>
              </a:ext>
            </a:extLst>
          </p:cNvPr>
          <p:cNvSpPr/>
          <p:nvPr/>
        </p:nvSpPr>
        <p:spPr>
          <a:xfrm>
            <a:off x="6451600" y="37719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771592-E767-5167-40CF-B2121BA4F777}"/>
              </a:ext>
            </a:extLst>
          </p:cNvPr>
          <p:cNvSpPr txBox="1"/>
          <p:nvPr/>
        </p:nvSpPr>
        <p:spPr>
          <a:xfrm>
            <a:off x="6616700" y="3657600"/>
            <a:ext cx="43180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>
                <a:solidFill>
                  <a:srgbClr val="FFFFFF"/>
                </a:solidFill>
                <a:latin typeface="Aptos" panose="020B0004020202020204" pitchFamily="34" charset="0"/>
              </a:rPr>
              <a:t>Keep source values traceable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288899D-EB67-17FF-64E4-807C8FB286D5}"/>
              </a:ext>
            </a:extLst>
          </p:cNvPr>
          <p:cNvSpPr/>
          <p:nvPr/>
        </p:nvSpPr>
        <p:spPr>
          <a:xfrm>
            <a:off x="6451600" y="41656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BA57A7-9F60-6418-F0FD-6A6249514E18}"/>
              </a:ext>
            </a:extLst>
          </p:cNvPr>
          <p:cNvSpPr txBox="1"/>
          <p:nvPr/>
        </p:nvSpPr>
        <p:spPr>
          <a:xfrm>
            <a:off x="6616700" y="4051300"/>
            <a:ext cx="43180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Use explicit exclusions for invalid measures</a:t>
            </a:r>
            <a:endParaRPr lang="en-IN" sz="12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B932833-749D-273A-A89C-0B7767F8E6EA}"/>
              </a:ext>
            </a:extLst>
          </p:cNvPr>
          <p:cNvSpPr/>
          <p:nvPr/>
        </p:nvSpPr>
        <p:spPr>
          <a:xfrm>
            <a:off x="6451600" y="45593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3D54FC4-4B5D-629A-2FDE-AED735A8D534}"/>
              </a:ext>
            </a:extLst>
          </p:cNvPr>
          <p:cNvSpPr txBox="1"/>
          <p:nvPr/>
        </p:nvSpPr>
        <p:spPr>
          <a:xfrm>
            <a:off x="6616700" y="4445000"/>
            <a:ext cx="43180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Preserve valid records for exploratory analysis</a:t>
            </a:r>
            <a:endParaRPr lang="en-IN" sz="12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4D24FD0-B3CA-8FD7-3CE4-D4ABFE1515BE}"/>
              </a:ext>
            </a:extLst>
          </p:cNvPr>
          <p:cNvSpPr/>
          <p:nvPr/>
        </p:nvSpPr>
        <p:spPr>
          <a:xfrm>
            <a:off x="6451600" y="49530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6BF4F28-F74F-EFDD-EDE8-8013519D554B}"/>
              </a:ext>
            </a:extLst>
          </p:cNvPr>
          <p:cNvSpPr txBox="1"/>
          <p:nvPr/>
        </p:nvSpPr>
        <p:spPr>
          <a:xfrm>
            <a:off x="6616700" y="4838700"/>
            <a:ext cx="43180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>
                <a:solidFill>
                  <a:srgbClr val="FFFFFF"/>
                </a:solidFill>
                <a:latin typeface="Aptos" panose="020B0004020202020204" pitchFamily="34" charset="0"/>
              </a:rPr>
              <a:t>Document assumptions before interpreting KPIs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9A9397B-77D1-F8DD-990F-D3D9E20F2CE0}"/>
              </a:ext>
            </a:extLst>
          </p:cNvPr>
          <p:cNvCxnSpPr/>
          <p:nvPr/>
        </p:nvCxnSpPr>
        <p:spPr>
          <a:xfrm>
            <a:off x="508000" y="6477000"/>
            <a:ext cx="11176000" cy="0"/>
          </a:xfrm>
          <a:prstGeom prst="line">
            <a:avLst/>
          </a:prstGeom>
          <a:ln w="10160">
            <a:solidFill>
              <a:srgbClr val="EBE8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17E7FBE-95A3-9FC2-69EC-B8B563858BB7}"/>
              </a:ext>
            </a:extLst>
          </p:cNvPr>
          <p:cNvSpPr txBox="1"/>
          <p:nvPr/>
        </p:nvSpPr>
        <p:spPr>
          <a:xfrm>
            <a:off x="533400" y="6515100"/>
            <a:ext cx="7950200" cy="14106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750">
                <a:solidFill>
                  <a:srgbClr val="8A969F"/>
                </a:solidFill>
                <a:latin typeface="Aptos" panose="020B0004020202020204" pitchFamily="34" charset="0"/>
              </a:rPr>
              <a:t>Financial Insights in Banking Data using Power BI  |  SOUNAK DEY</a:t>
            </a:r>
            <a:endParaRPr lang="en-IN" sz="75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C67924-31B6-A674-6CC5-C3FA3C30BC43}"/>
              </a:ext>
            </a:extLst>
          </p:cNvPr>
          <p:cNvSpPr txBox="1"/>
          <p:nvPr/>
        </p:nvSpPr>
        <p:spPr>
          <a:xfrm>
            <a:off x="11150600" y="6489700"/>
            <a:ext cx="508000" cy="148759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800" b="1">
                <a:solidFill>
                  <a:srgbClr val="0B3D91"/>
                </a:solidFill>
                <a:latin typeface="Aptos" panose="020B0004020202020204" pitchFamily="34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58386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39E098-BEF9-7E21-2F20-B2FF028CCF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C17380-1F28-D1B2-84CC-63827E7830AB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B2EF0A-9DC9-14DF-8AE6-D9FFE224F774}"/>
              </a:ext>
            </a:extLst>
          </p:cNvPr>
          <p:cNvSpPr txBox="1"/>
          <p:nvPr/>
        </p:nvSpPr>
        <p:spPr>
          <a:xfrm>
            <a:off x="508000" y="317500"/>
            <a:ext cx="8509000" cy="394980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2400" b="1">
                <a:solidFill>
                  <a:srgbClr val="0B3D91"/>
                </a:solidFill>
                <a:latin typeface="Aptos Display" panose="020B0004020202020204" pitchFamily="34" charset="0"/>
              </a:rPr>
              <a:t>Data model &amp; Power BI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D36F0A-7246-D89A-D056-8C9B64581439}"/>
              </a:ext>
            </a:extLst>
          </p:cNvPr>
          <p:cNvSpPr txBox="1"/>
          <p:nvPr/>
        </p:nvSpPr>
        <p:spPr>
          <a:xfrm>
            <a:off x="533400" y="762000"/>
            <a:ext cx="9601200" cy="17184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950">
                <a:solidFill>
                  <a:srgbClr val="8A969F"/>
                </a:solidFill>
                <a:latin typeface="Aptos" panose="020B0004020202020204" pitchFamily="34" charset="0"/>
              </a:rPr>
              <a:t>A simple relationship structure supports consistent filtering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589E80-DE7B-3EE6-4B91-53FA957687FA}"/>
              </a:ext>
            </a:extLst>
          </p:cNvPr>
          <p:cNvSpPr/>
          <p:nvPr/>
        </p:nvSpPr>
        <p:spPr>
          <a:xfrm>
            <a:off x="736600" y="1460500"/>
            <a:ext cx="3835400" cy="3022600"/>
          </a:xfrm>
          <a:prstGeom prst="rect">
            <a:avLst/>
          </a:prstGeom>
          <a:solidFill>
            <a:srgbClr val="0B3D91"/>
          </a:solidFill>
          <a:ln w="12700" cap="flat" cmpd="sng" algn="ctr">
            <a:solidFill>
              <a:srgbClr val="0B3D9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5251E6-B4FA-301A-075B-EFF5BDB02A73}"/>
              </a:ext>
            </a:extLst>
          </p:cNvPr>
          <p:cNvSpPr txBox="1"/>
          <p:nvPr/>
        </p:nvSpPr>
        <p:spPr>
          <a:xfrm>
            <a:off x="1003300" y="1752600"/>
            <a:ext cx="3251200" cy="287258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700" b="1">
                <a:solidFill>
                  <a:srgbClr val="FFFFFF"/>
                </a:solidFill>
                <a:latin typeface="Aptos Display" panose="020B0004020202020204" pitchFamily="34" charset="0"/>
              </a:rPr>
              <a:t>Customer Account Details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BB79CE-3FB9-7B44-FA25-6C2764D556E9}"/>
              </a:ext>
            </a:extLst>
          </p:cNvPr>
          <p:cNvSpPr txBox="1"/>
          <p:nvPr/>
        </p:nvSpPr>
        <p:spPr>
          <a:xfrm>
            <a:off x="1054100" y="2425700"/>
            <a:ext cx="31115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 b="1">
                <a:solidFill>
                  <a:srgbClr val="00A3E0"/>
                </a:solidFill>
                <a:latin typeface="Consolas" panose="020B0609020204030204" pitchFamily="49" charset="0"/>
              </a:rPr>
              <a:t>AccountNumber  (key)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656609-D3C1-BCD6-1938-C9F3294A444A}"/>
              </a:ext>
            </a:extLst>
          </p:cNvPr>
          <p:cNvSpPr txBox="1"/>
          <p:nvPr/>
        </p:nvSpPr>
        <p:spPr>
          <a:xfrm>
            <a:off x="1054100" y="2794000"/>
            <a:ext cx="31115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>
                <a:solidFill>
                  <a:srgbClr val="FFEEDC"/>
                </a:solidFill>
                <a:latin typeface="Consolas" panose="020B0609020204030204" pitchFamily="49" charset="0"/>
              </a:rPr>
              <a:t>AccountType  |  Balance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1AD52B-1E1E-4336-18B4-8FC521629F4F}"/>
              </a:ext>
            </a:extLst>
          </p:cNvPr>
          <p:cNvSpPr txBox="1"/>
          <p:nvPr/>
        </p:nvSpPr>
        <p:spPr>
          <a:xfrm>
            <a:off x="1054100" y="3175000"/>
            <a:ext cx="31115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>
                <a:solidFill>
                  <a:srgbClr val="FFEEDC"/>
                </a:solidFill>
                <a:latin typeface="Consolas" panose="020B0609020204030204" pitchFamily="49" charset="0"/>
              </a:rPr>
              <a:t>CreditScore  |  LoanAmount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348B41-F382-87ED-B626-95B4052F143E}"/>
              </a:ext>
            </a:extLst>
          </p:cNvPr>
          <p:cNvSpPr txBox="1"/>
          <p:nvPr/>
        </p:nvSpPr>
        <p:spPr>
          <a:xfrm>
            <a:off x="1054100" y="3543300"/>
            <a:ext cx="31115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>
                <a:solidFill>
                  <a:srgbClr val="FFEEDC"/>
                </a:solidFill>
                <a:latin typeface="Consolas" panose="020B0609020204030204" pitchFamily="49" charset="0"/>
              </a:rPr>
              <a:t>OpeningDate  |  customer detail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C967AE-6384-DF6C-6FB1-625D22B08A2D}"/>
              </a:ext>
            </a:extLst>
          </p:cNvPr>
          <p:cNvSpPr/>
          <p:nvPr/>
        </p:nvSpPr>
        <p:spPr>
          <a:xfrm>
            <a:off x="7632700" y="1460500"/>
            <a:ext cx="3835400" cy="30226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E06334-1483-83D6-CCF0-B19D68E0FCF1}"/>
              </a:ext>
            </a:extLst>
          </p:cNvPr>
          <p:cNvSpPr txBox="1"/>
          <p:nvPr/>
        </p:nvSpPr>
        <p:spPr>
          <a:xfrm>
            <a:off x="7912100" y="1752600"/>
            <a:ext cx="3251200" cy="287258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700" b="1">
                <a:solidFill>
                  <a:srgbClr val="FFFFFF"/>
                </a:solidFill>
                <a:latin typeface="Aptos Display" panose="020B0004020202020204" pitchFamily="34" charset="0"/>
              </a:rPr>
              <a:t>Banking Transactions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0592A0-28E7-3576-0EA0-0826E37255F0}"/>
              </a:ext>
            </a:extLst>
          </p:cNvPr>
          <p:cNvSpPr txBox="1"/>
          <p:nvPr/>
        </p:nvSpPr>
        <p:spPr>
          <a:xfrm>
            <a:off x="7950200" y="2425700"/>
            <a:ext cx="31115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 b="1">
                <a:solidFill>
                  <a:srgbClr val="FFFFFF"/>
                </a:solidFill>
                <a:latin typeface="Consolas" panose="020B0609020204030204" pitchFamily="49" charset="0"/>
              </a:rPr>
              <a:t>AccountNumber  (link)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478BE2-8995-21A2-DA2F-639C92E7483E}"/>
              </a:ext>
            </a:extLst>
          </p:cNvPr>
          <p:cNvSpPr txBox="1"/>
          <p:nvPr/>
        </p:nvSpPr>
        <p:spPr>
          <a:xfrm>
            <a:off x="7950200" y="2794000"/>
            <a:ext cx="31115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>
                <a:solidFill>
                  <a:srgbClr val="FFEEDC"/>
                </a:solidFill>
                <a:latin typeface="Consolas" panose="020B0609020204030204" pitchFamily="49" charset="0"/>
              </a:rPr>
              <a:t>TransactionType  |  Amount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9CD334-65A6-654B-9DDB-26968D499BAE}"/>
              </a:ext>
            </a:extLst>
          </p:cNvPr>
          <p:cNvSpPr txBox="1"/>
          <p:nvPr/>
        </p:nvSpPr>
        <p:spPr>
          <a:xfrm>
            <a:off x="7950200" y="3175000"/>
            <a:ext cx="31115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>
                <a:solidFill>
                  <a:srgbClr val="FFEEDC"/>
                </a:solidFill>
                <a:latin typeface="Consolas" panose="020B0609020204030204" pitchFamily="49" charset="0"/>
              </a:rPr>
              <a:t>TransactionDate  |  Time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397095-D5D7-9DA0-0E23-41DE9B629EEA}"/>
              </a:ext>
            </a:extLst>
          </p:cNvPr>
          <p:cNvSpPr txBox="1"/>
          <p:nvPr/>
        </p:nvSpPr>
        <p:spPr>
          <a:xfrm>
            <a:off x="7950200" y="3543300"/>
            <a:ext cx="31115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>
                <a:solidFill>
                  <a:srgbClr val="FFEEDC"/>
                </a:solidFill>
                <a:latin typeface="Consolas" panose="020B0609020204030204" pitchFamily="49" charset="0"/>
              </a:rPr>
              <a:t>BranchCode  |  Currency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18DFAFC-A9EC-A73B-E0EB-BB7D032D9E98}"/>
              </a:ext>
            </a:extLst>
          </p:cNvPr>
          <p:cNvCxnSpPr/>
          <p:nvPr/>
        </p:nvCxnSpPr>
        <p:spPr>
          <a:xfrm>
            <a:off x="4572000" y="2882900"/>
            <a:ext cx="3060700" cy="0"/>
          </a:xfrm>
          <a:prstGeom prst="line">
            <a:avLst/>
          </a:prstGeom>
          <a:ln w="381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AD7E64A-D37C-E783-5936-C2FA788C83E5}"/>
              </a:ext>
            </a:extLst>
          </p:cNvPr>
          <p:cNvSpPr txBox="1"/>
          <p:nvPr/>
        </p:nvSpPr>
        <p:spPr>
          <a:xfrm>
            <a:off x="4851400" y="2527300"/>
            <a:ext cx="2743200" cy="179536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000" b="1">
                <a:solidFill>
                  <a:srgbClr val="0B3D91"/>
                </a:solidFill>
                <a:latin typeface="Aptos" panose="020B0004020202020204" pitchFamily="34" charset="0"/>
              </a:rPr>
              <a:t>AccountNumber relationship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06C056-BCA4-324E-9038-CF4A6AC0809B}"/>
              </a:ext>
            </a:extLst>
          </p:cNvPr>
          <p:cNvSpPr txBox="1"/>
          <p:nvPr/>
        </p:nvSpPr>
        <p:spPr>
          <a:xfrm>
            <a:off x="965200" y="5016500"/>
            <a:ext cx="1917700" cy="256480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500" b="1">
                <a:solidFill>
                  <a:srgbClr val="0B3D91"/>
                </a:solidFill>
                <a:latin typeface="Aptos Display" panose="020B0004020202020204" pitchFamily="34" charset="0"/>
              </a:rPr>
              <a:t>Modeling rationale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DE29B0-B4E3-4988-426F-3EAB6124525A}"/>
              </a:ext>
            </a:extLst>
          </p:cNvPr>
          <p:cNvSpPr txBox="1"/>
          <p:nvPr/>
        </p:nvSpPr>
        <p:spPr>
          <a:xfrm>
            <a:off x="2743200" y="4978400"/>
            <a:ext cx="8051800" cy="425758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300">
                <a:solidFill>
                  <a:srgbClr val="17365D"/>
                </a:solidFill>
                <a:latin typeface="Aptos" panose="020B0004020202020204" pitchFamily="34" charset="0"/>
              </a:rPr>
              <a:t>A shared account key lets the report move from customer profile to transaction activity without duplicating business logic.</a:t>
            </a:r>
            <a:endParaRPr lang="en-IN" sz="130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390CF84-96EC-4DD0-F516-1FB7415F2EC5}"/>
              </a:ext>
            </a:extLst>
          </p:cNvPr>
          <p:cNvCxnSpPr/>
          <p:nvPr/>
        </p:nvCxnSpPr>
        <p:spPr>
          <a:xfrm>
            <a:off x="508000" y="6477000"/>
            <a:ext cx="11176000" cy="0"/>
          </a:xfrm>
          <a:prstGeom prst="line">
            <a:avLst/>
          </a:prstGeom>
          <a:ln w="10160">
            <a:solidFill>
              <a:srgbClr val="EBE8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8FEF1DE-8A6F-651D-BE44-9114BEA7456E}"/>
              </a:ext>
            </a:extLst>
          </p:cNvPr>
          <p:cNvSpPr txBox="1"/>
          <p:nvPr/>
        </p:nvSpPr>
        <p:spPr>
          <a:xfrm>
            <a:off x="533400" y="6515100"/>
            <a:ext cx="7950200" cy="14106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750">
                <a:solidFill>
                  <a:srgbClr val="8A969F"/>
                </a:solidFill>
                <a:latin typeface="Aptos" panose="020B0004020202020204" pitchFamily="34" charset="0"/>
              </a:rPr>
              <a:t>Financial Insights in Banking Data using Power BI  |  SOUNAK DEY</a:t>
            </a:r>
            <a:endParaRPr lang="en-IN" sz="75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62A021-4384-813C-48B7-011F101FBEA4}"/>
              </a:ext>
            </a:extLst>
          </p:cNvPr>
          <p:cNvSpPr txBox="1"/>
          <p:nvPr/>
        </p:nvSpPr>
        <p:spPr>
          <a:xfrm>
            <a:off x="11150600" y="6489700"/>
            <a:ext cx="508000" cy="148759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800" b="1">
                <a:solidFill>
                  <a:srgbClr val="0B3D91"/>
                </a:solidFill>
                <a:latin typeface="Aptos" panose="020B0004020202020204" pitchFamily="34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33160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527CB1-CE1F-90C8-801F-2512CB36BA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F2FB"/>
          </a:solidFill>
          <a:ln w="12700" cap="flat" cmpd="sng" algn="ctr">
            <a:solidFill>
              <a:srgbClr val="EAF2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DFAEF6-D165-E2B2-B292-6306823BA534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CB404-D5C6-8B25-5A55-70AB5B84A500}"/>
              </a:ext>
            </a:extLst>
          </p:cNvPr>
          <p:cNvSpPr txBox="1"/>
          <p:nvPr/>
        </p:nvSpPr>
        <p:spPr>
          <a:xfrm>
            <a:off x="508000" y="317500"/>
            <a:ext cx="8509000" cy="394980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2400" b="1">
                <a:solidFill>
                  <a:srgbClr val="0B3D91"/>
                </a:solidFill>
                <a:latin typeface="Aptos Display" panose="020B0004020202020204" pitchFamily="34" charset="0"/>
              </a:rPr>
              <a:t>DAX &amp; calculated measures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77032D-7E99-F5B2-95D4-7F7CF41F600C}"/>
              </a:ext>
            </a:extLst>
          </p:cNvPr>
          <p:cNvSpPr txBox="1"/>
          <p:nvPr/>
        </p:nvSpPr>
        <p:spPr>
          <a:xfrm>
            <a:off x="533400" y="762000"/>
            <a:ext cx="9601200" cy="17184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950">
                <a:solidFill>
                  <a:srgbClr val="8A969F"/>
                </a:solidFill>
                <a:latin typeface="Aptos" panose="020B0004020202020204" pitchFamily="34" charset="0"/>
              </a:rPr>
              <a:t>Measures turn raw columns into reusable analytical language</a:t>
            </a:r>
            <a:endParaRPr lang="en-IN" sz="95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39ABB9-E13D-EF48-5A87-84E67532800E}"/>
              </a:ext>
            </a:extLst>
          </p:cNvPr>
          <p:cNvSpPr/>
          <p:nvPr/>
        </p:nvSpPr>
        <p:spPr>
          <a:xfrm>
            <a:off x="685800" y="1231900"/>
            <a:ext cx="5486400" cy="4521200"/>
          </a:xfrm>
          <a:prstGeom prst="rect">
            <a:avLst/>
          </a:prstGeom>
          <a:solidFill>
            <a:srgbClr val="0B3D91"/>
          </a:solidFill>
          <a:ln w="12700" cap="flat" cmpd="sng" algn="ctr">
            <a:solidFill>
              <a:srgbClr val="0B3D9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841576-92F8-BDB6-6344-EBB20382A9E4}"/>
              </a:ext>
            </a:extLst>
          </p:cNvPr>
          <p:cNvSpPr txBox="1"/>
          <p:nvPr/>
        </p:nvSpPr>
        <p:spPr>
          <a:xfrm>
            <a:off x="965200" y="1536700"/>
            <a:ext cx="4889500" cy="287258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700" b="1">
                <a:solidFill>
                  <a:srgbClr val="FFFFFF"/>
                </a:solidFill>
                <a:latin typeface="Aptos Display" panose="020B0004020202020204" pitchFamily="34" charset="0"/>
              </a:rPr>
              <a:t>Representative measure patterns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DA98C9-1FF9-1595-05D6-5E1A956325CD}"/>
              </a:ext>
            </a:extLst>
          </p:cNvPr>
          <p:cNvSpPr txBox="1"/>
          <p:nvPr/>
        </p:nvSpPr>
        <p:spPr>
          <a:xfrm>
            <a:off x="965200" y="2057400"/>
            <a:ext cx="4749800" cy="193899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>
                <a:solidFill>
                  <a:srgbClr val="FFEEDC"/>
                </a:solidFill>
                <a:latin typeface="Consolas" panose="020B0609020204030204" pitchFamily="49" charset="0"/>
              </a:rPr>
              <a:t>Total Customers = DISTINCTCOUNT(Accounts[AccountNumber])
Total Balance = SUM(Accounts[Balance])
Average Balance = AVERAGE(Accounts[Balance])
Average Credit Score = AVERAGE(Accounts[CreditScore])
Transaction Amount = SUM(Transactions[Amount])</a:t>
            </a:r>
            <a:endParaRPr lang="en-IN" sz="1200">
              <a:solidFill>
                <a:srgbClr val="FFEEDC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08E7FB-95A2-6FD1-A1FC-176BA1193D24}"/>
              </a:ext>
            </a:extLst>
          </p:cNvPr>
          <p:cNvSpPr/>
          <p:nvPr/>
        </p:nvSpPr>
        <p:spPr>
          <a:xfrm>
            <a:off x="6489700" y="1231900"/>
            <a:ext cx="5029200" cy="4521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885530-924F-AD52-EE80-9CA1DF90C652}"/>
              </a:ext>
            </a:extLst>
          </p:cNvPr>
          <p:cNvSpPr txBox="1"/>
          <p:nvPr/>
        </p:nvSpPr>
        <p:spPr>
          <a:xfrm>
            <a:off x="6769100" y="1536700"/>
            <a:ext cx="4394200" cy="287258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700" b="1">
                <a:solidFill>
                  <a:srgbClr val="0B3D91"/>
                </a:solidFill>
                <a:latin typeface="Aptos Display" panose="020B0004020202020204" pitchFamily="34" charset="0"/>
              </a:rPr>
              <a:t>How measures support analysis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75D74C-A3F7-8D61-D2E7-1BBD3BA8E9AE}"/>
              </a:ext>
            </a:extLst>
          </p:cNvPr>
          <p:cNvSpPr/>
          <p:nvPr/>
        </p:nvSpPr>
        <p:spPr>
          <a:xfrm>
            <a:off x="6781800" y="21971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BAFD88-8345-B996-3BF7-59444A62B730}"/>
              </a:ext>
            </a:extLst>
          </p:cNvPr>
          <p:cNvSpPr txBox="1"/>
          <p:nvPr/>
        </p:nvSpPr>
        <p:spPr>
          <a:xfrm>
            <a:off x="6946900" y="2082800"/>
            <a:ext cx="4089400" cy="225703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300">
                <a:solidFill>
                  <a:srgbClr val="17365D"/>
                </a:solidFill>
                <a:latin typeface="Aptos" panose="020B0004020202020204" pitchFamily="34" charset="0"/>
              </a:rPr>
              <a:t>KPI cards provide a stable executive snapshot</a:t>
            </a:r>
            <a:endParaRPr lang="en-IN" sz="130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93490A-645F-E07D-61BF-A4DDF6D84B7D}"/>
              </a:ext>
            </a:extLst>
          </p:cNvPr>
          <p:cNvSpPr/>
          <p:nvPr/>
        </p:nvSpPr>
        <p:spPr>
          <a:xfrm>
            <a:off x="6781800" y="25908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341060-254A-C91C-0779-34284C616D09}"/>
              </a:ext>
            </a:extLst>
          </p:cNvPr>
          <p:cNvSpPr txBox="1"/>
          <p:nvPr/>
        </p:nvSpPr>
        <p:spPr>
          <a:xfrm>
            <a:off x="6946900" y="2476500"/>
            <a:ext cx="4089400" cy="225703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300">
                <a:solidFill>
                  <a:srgbClr val="17365D"/>
                </a:solidFill>
                <a:latin typeface="Aptos" panose="020B0004020202020204" pitchFamily="34" charset="0"/>
              </a:rPr>
              <a:t>Filters recalculate measures consistently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A56FA4-4422-CB82-81CC-84222BADE762}"/>
              </a:ext>
            </a:extLst>
          </p:cNvPr>
          <p:cNvSpPr/>
          <p:nvPr/>
        </p:nvSpPr>
        <p:spPr>
          <a:xfrm>
            <a:off x="6781800" y="29845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0940B4-9526-160E-6E05-49E170E3E30E}"/>
              </a:ext>
            </a:extLst>
          </p:cNvPr>
          <p:cNvSpPr txBox="1"/>
          <p:nvPr/>
        </p:nvSpPr>
        <p:spPr>
          <a:xfrm>
            <a:off x="6946900" y="2870200"/>
            <a:ext cx="4089400" cy="225703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300">
                <a:solidFill>
                  <a:srgbClr val="17365D"/>
                </a:solidFill>
                <a:latin typeface="Aptos" panose="020B0004020202020204" pitchFamily="34" charset="0"/>
              </a:rPr>
              <a:t>Banding logic supports credit and balance segmentation</a:t>
            </a:r>
            <a:endParaRPr lang="en-IN" sz="130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115B57-1386-918A-9F52-2CD57ECA1488}"/>
              </a:ext>
            </a:extLst>
          </p:cNvPr>
          <p:cNvSpPr/>
          <p:nvPr/>
        </p:nvSpPr>
        <p:spPr>
          <a:xfrm>
            <a:off x="6781800" y="33782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25613A-FA4B-A84E-D07C-871B9AF0959E}"/>
              </a:ext>
            </a:extLst>
          </p:cNvPr>
          <p:cNvSpPr txBox="1"/>
          <p:nvPr/>
        </p:nvSpPr>
        <p:spPr>
          <a:xfrm>
            <a:off x="6946900" y="3263900"/>
            <a:ext cx="4089400" cy="425758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300">
                <a:solidFill>
                  <a:srgbClr val="17365D"/>
                </a:solidFill>
                <a:latin typeface="Aptos" panose="020B0004020202020204" pitchFamily="34" charset="0"/>
              </a:rPr>
              <a:t>Explicit measure names make the viva narrative auditable</a:t>
            </a:r>
            <a:endParaRPr lang="en-IN" sz="130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266D5E-5CA3-1F82-DDC0-929B6B76A9DF}"/>
              </a:ext>
            </a:extLst>
          </p:cNvPr>
          <p:cNvSpPr txBox="1"/>
          <p:nvPr/>
        </p:nvSpPr>
        <p:spPr>
          <a:xfrm>
            <a:off x="6781800" y="4660900"/>
            <a:ext cx="4318000" cy="33342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000">
                <a:solidFill>
                  <a:srgbClr val="8A969F"/>
                </a:solidFill>
                <a:latin typeface="Aptos" panose="020B0004020202020204" pitchFamily="34" charset="0"/>
              </a:rPr>
              <a:t>Note: formulas above are presentation-ready measure patterns aligned to the supplied fields; the PBIX remains the authoritative implementation.</a:t>
            </a:r>
            <a:endParaRPr lang="en-IN" sz="100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4163D5-CD43-F4DD-4DF3-42499912F4D8}"/>
              </a:ext>
            </a:extLst>
          </p:cNvPr>
          <p:cNvCxnSpPr/>
          <p:nvPr/>
        </p:nvCxnSpPr>
        <p:spPr>
          <a:xfrm>
            <a:off x="508000" y="6477000"/>
            <a:ext cx="11176000" cy="0"/>
          </a:xfrm>
          <a:prstGeom prst="line">
            <a:avLst/>
          </a:prstGeom>
          <a:ln w="10160">
            <a:solidFill>
              <a:srgbClr val="EBE8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F2B0E3B-D038-EB09-E4DF-B64C5847C9AC}"/>
              </a:ext>
            </a:extLst>
          </p:cNvPr>
          <p:cNvSpPr txBox="1"/>
          <p:nvPr/>
        </p:nvSpPr>
        <p:spPr>
          <a:xfrm>
            <a:off x="533400" y="6515100"/>
            <a:ext cx="7950200" cy="14106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750">
                <a:solidFill>
                  <a:srgbClr val="8A969F"/>
                </a:solidFill>
                <a:latin typeface="Aptos" panose="020B0004020202020204" pitchFamily="34" charset="0"/>
              </a:rPr>
              <a:t>Financial Insights in Banking Data using Power BI  |  SOUNAK DEY</a:t>
            </a:r>
            <a:endParaRPr lang="en-IN" sz="75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A2D60E-C729-05A4-6462-AC9DE1B8700F}"/>
              </a:ext>
            </a:extLst>
          </p:cNvPr>
          <p:cNvSpPr txBox="1"/>
          <p:nvPr/>
        </p:nvSpPr>
        <p:spPr>
          <a:xfrm>
            <a:off x="11150600" y="6489700"/>
            <a:ext cx="508000" cy="148759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800" b="1">
                <a:solidFill>
                  <a:srgbClr val="0B3D91"/>
                </a:solidFill>
                <a:latin typeface="Aptos" panose="020B0004020202020204" pitchFamily="34" charset="0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67406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B47E90-99C5-5C22-18C6-56735A07F2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8277EB-D0C1-48CA-DCD9-7B106DC3E830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2B1EB4-D0D3-098A-69C3-ECC7B69F4844}"/>
              </a:ext>
            </a:extLst>
          </p:cNvPr>
          <p:cNvSpPr txBox="1"/>
          <p:nvPr/>
        </p:nvSpPr>
        <p:spPr>
          <a:xfrm>
            <a:off x="508000" y="317500"/>
            <a:ext cx="8509000" cy="33342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2000" b="1">
                <a:solidFill>
                  <a:srgbClr val="0B3D91"/>
                </a:solidFill>
                <a:latin typeface="Aptos Display" panose="020B0004020202020204" pitchFamily="34" charset="0"/>
              </a:rPr>
              <a:t>Executive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CAD319-258A-4EE8-A7D1-98A2C2C2ACD0}"/>
              </a:ext>
            </a:extLst>
          </p:cNvPr>
          <p:cNvSpPr txBox="1"/>
          <p:nvPr/>
        </p:nvSpPr>
        <p:spPr>
          <a:xfrm>
            <a:off x="533400" y="762000"/>
            <a:ext cx="9601200" cy="18723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050">
                <a:solidFill>
                  <a:srgbClr val="8A969F"/>
                </a:solidFill>
                <a:latin typeface="Aptos" panose="020B0004020202020204" pitchFamily="34" charset="0"/>
              </a:rPr>
              <a:t>Supplied Power BI dashboard image used as the primary visual reference</a:t>
            </a:r>
            <a:endParaRPr lang="en-IN" sz="105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F41501-F70F-A6D0-68F2-50678E50F1C3}"/>
              </a:ext>
            </a:extLst>
          </p:cNvPr>
          <p:cNvSpPr/>
          <p:nvPr/>
        </p:nvSpPr>
        <p:spPr>
          <a:xfrm>
            <a:off x="9372600" y="712480"/>
            <a:ext cx="2146300" cy="4697720"/>
          </a:xfrm>
          <a:prstGeom prst="rect">
            <a:avLst/>
          </a:prstGeom>
          <a:solidFill>
            <a:srgbClr val="0B3D91"/>
          </a:solidFill>
          <a:ln w="12700" cap="flat" cmpd="sng" algn="ctr">
            <a:solidFill>
              <a:srgbClr val="0B3D9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8B5299-7E1B-4707-57B5-19D6D64A0A56}"/>
              </a:ext>
            </a:extLst>
          </p:cNvPr>
          <p:cNvSpPr txBox="1"/>
          <p:nvPr/>
        </p:nvSpPr>
        <p:spPr>
          <a:xfrm>
            <a:off x="9613900" y="1447800"/>
            <a:ext cx="1663700" cy="18723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050" b="1">
                <a:solidFill>
                  <a:srgbClr val="FFFFFF"/>
                </a:solidFill>
                <a:latin typeface="Aptos Display" panose="020B0004020202020204" pitchFamily="34" charset="0"/>
              </a:rPr>
              <a:t>Read the dashboard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F83BFC-533B-7715-A286-6CB9E7CE2A18}"/>
              </a:ext>
            </a:extLst>
          </p:cNvPr>
          <p:cNvSpPr/>
          <p:nvPr/>
        </p:nvSpPr>
        <p:spPr>
          <a:xfrm>
            <a:off x="9613900" y="20066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89ABB9-9539-5FF6-13ED-D0A22CC7127F}"/>
              </a:ext>
            </a:extLst>
          </p:cNvPr>
          <p:cNvSpPr txBox="1"/>
          <p:nvPr/>
        </p:nvSpPr>
        <p:spPr>
          <a:xfrm>
            <a:off x="9779000" y="1905000"/>
            <a:ext cx="14605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>
                <a:solidFill>
                  <a:srgbClr val="FFFFFF"/>
                </a:solidFill>
                <a:latin typeface="Aptos" panose="020B0004020202020204" pitchFamily="34" charset="0"/>
              </a:rPr>
              <a:t>Start with KPI cards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B8D5AB-8D3E-4DFB-2AE9-CF15D6C7C486}"/>
              </a:ext>
            </a:extLst>
          </p:cNvPr>
          <p:cNvSpPr/>
          <p:nvPr/>
        </p:nvSpPr>
        <p:spPr>
          <a:xfrm>
            <a:off x="9613900" y="24003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EBCD57-9B45-1905-9133-B66C60327244}"/>
              </a:ext>
            </a:extLst>
          </p:cNvPr>
          <p:cNvSpPr txBox="1"/>
          <p:nvPr/>
        </p:nvSpPr>
        <p:spPr>
          <a:xfrm>
            <a:off x="9779000" y="2298700"/>
            <a:ext cx="1460500" cy="348813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</a:rPr>
              <a:t>Use slicers to isolate segments</a:t>
            </a:r>
            <a:endParaRPr lang="en-IN" sz="105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E56D01-9C7C-1476-193D-11BC4DC2B15D}"/>
              </a:ext>
            </a:extLst>
          </p:cNvPr>
          <p:cNvSpPr/>
          <p:nvPr/>
        </p:nvSpPr>
        <p:spPr>
          <a:xfrm>
            <a:off x="9613900" y="27940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7230F9-B8C6-A3C5-E843-A19D92B15166}"/>
              </a:ext>
            </a:extLst>
          </p:cNvPr>
          <p:cNvSpPr txBox="1"/>
          <p:nvPr/>
        </p:nvSpPr>
        <p:spPr>
          <a:xfrm>
            <a:off x="9779000" y="2692400"/>
            <a:ext cx="1460500" cy="356508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900" dirty="0">
                <a:solidFill>
                  <a:srgbClr val="FFFFFF"/>
                </a:solidFill>
                <a:latin typeface="Aptos" panose="020B0004020202020204" pitchFamily="34" charset="0"/>
              </a:rPr>
              <a:t>Compare</a:t>
            </a: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</a:rPr>
              <a:t> balance, credit and </a:t>
            </a:r>
            <a:r>
              <a:rPr lang="en-US" sz="1100" dirty="0">
                <a:solidFill>
                  <a:srgbClr val="FFFFFF"/>
                </a:solidFill>
                <a:latin typeface="Aptos" panose="020B0004020202020204" pitchFamily="34" charset="0"/>
              </a:rPr>
              <a:t>activity</a:t>
            </a: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</a:rPr>
              <a:t> views</a:t>
            </a:r>
            <a:endParaRPr lang="en-IN" sz="105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5D831F-5F58-4460-499F-07F5AA1A32B2}"/>
              </a:ext>
            </a:extLst>
          </p:cNvPr>
          <p:cNvSpPr/>
          <p:nvPr/>
        </p:nvSpPr>
        <p:spPr>
          <a:xfrm>
            <a:off x="9613900" y="31877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4E7279-94B6-628F-DD75-820C8E3F69D0}"/>
              </a:ext>
            </a:extLst>
          </p:cNvPr>
          <p:cNvSpPr txBox="1"/>
          <p:nvPr/>
        </p:nvSpPr>
        <p:spPr>
          <a:xfrm>
            <a:off x="9779000" y="3086100"/>
            <a:ext cx="1460500" cy="348813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</a:rPr>
              <a:t>Validate patterns against source data</a:t>
            </a:r>
            <a:endParaRPr lang="en-IN" sz="105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1A6613-EDFE-972F-9E6D-912CD80482D7}"/>
              </a:ext>
            </a:extLst>
          </p:cNvPr>
          <p:cNvSpPr txBox="1"/>
          <p:nvPr/>
        </p:nvSpPr>
        <p:spPr>
          <a:xfrm>
            <a:off x="9613900" y="4889500"/>
            <a:ext cx="1574800" cy="510396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050">
                <a:solidFill>
                  <a:srgbClr val="FFEEDC"/>
                </a:solidFill>
                <a:latin typeface="Aptos" panose="020B0004020202020204" pitchFamily="34" charset="0"/>
              </a:rPr>
              <a:t>Dashboard screenshot supplied with the project files.</a:t>
            </a:r>
            <a:endParaRPr lang="en-IN" sz="1050">
              <a:solidFill>
                <a:srgbClr val="FFEEDC"/>
              </a:solidFill>
              <a:latin typeface="Aptos" panose="020B000402020202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FC14171-8EC7-C557-EDA4-8795DC25E73E}"/>
              </a:ext>
            </a:extLst>
          </p:cNvPr>
          <p:cNvCxnSpPr/>
          <p:nvPr/>
        </p:nvCxnSpPr>
        <p:spPr>
          <a:xfrm>
            <a:off x="508000" y="6477000"/>
            <a:ext cx="11176000" cy="0"/>
          </a:xfrm>
          <a:prstGeom prst="line">
            <a:avLst/>
          </a:prstGeom>
          <a:ln w="10160">
            <a:solidFill>
              <a:srgbClr val="EBE8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C2FDD3E-CCD8-F802-C9EA-DE998AD5F678}"/>
              </a:ext>
            </a:extLst>
          </p:cNvPr>
          <p:cNvSpPr txBox="1"/>
          <p:nvPr/>
        </p:nvSpPr>
        <p:spPr>
          <a:xfrm>
            <a:off x="533400" y="6515100"/>
            <a:ext cx="7950200" cy="18723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050">
                <a:solidFill>
                  <a:srgbClr val="8A969F"/>
                </a:solidFill>
                <a:latin typeface="Aptos" panose="020B0004020202020204" pitchFamily="34" charset="0"/>
              </a:rPr>
              <a:t>Financial Insights in Banking Data using Power BI  |  SOUNAK DEY</a:t>
            </a:r>
            <a:endParaRPr lang="en-IN" sz="105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8F7F2A-AA28-3161-B32F-DF5AD1C6074D}"/>
              </a:ext>
            </a:extLst>
          </p:cNvPr>
          <p:cNvSpPr txBox="1"/>
          <p:nvPr/>
        </p:nvSpPr>
        <p:spPr>
          <a:xfrm>
            <a:off x="11150600" y="6489700"/>
            <a:ext cx="508000" cy="18723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1050" b="1">
                <a:solidFill>
                  <a:srgbClr val="0B3D91"/>
                </a:solidFill>
                <a:latin typeface="Aptos" panose="020B0004020202020204" pitchFamily="34" charset="0"/>
              </a:rPr>
              <a:t>09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0C50AAC-406F-1CF5-B41E-92436A77A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268" y="740338"/>
            <a:ext cx="8144188" cy="4583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947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5EB584-4C93-D6BB-D44D-FEE7EF8850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F2FB"/>
          </a:solidFill>
          <a:ln w="12700" cap="flat" cmpd="sng" algn="ctr">
            <a:solidFill>
              <a:srgbClr val="EAF2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0E5676-7879-5EF0-0BAB-02181EC3EC97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54E07-CD4B-261E-4277-987AF92F7D33}"/>
              </a:ext>
            </a:extLst>
          </p:cNvPr>
          <p:cNvSpPr txBox="1"/>
          <p:nvPr/>
        </p:nvSpPr>
        <p:spPr>
          <a:xfrm>
            <a:off x="508000" y="317500"/>
            <a:ext cx="8509000" cy="394980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2400" b="1">
                <a:solidFill>
                  <a:srgbClr val="0B3D91"/>
                </a:solidFill>
                <a:latin typeface="Aptos Display" panose="020B0004020202020204" pitchFamily="34" charset="0"/>
              </a:rPr>
              <a:t>Customer demographic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F95E38-0464-D764-4BBD-989B03DE698F}"/>
              </a:ext>
            </a:extLst>
          </p:cNvPr>
          <p:cNvSpPr txBox="1"/>
          <p:nvPr/>
        </p:nvSpPr>
        <p:spPr>
          <a:xfrm>
            <a:off x="533400" y="762000"/>
            <a:ext cx="9601200" cy="17184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950">
                <a:solidFill>
                  <a:srgbClr val="8A969F"/>
                </a:solidFill>
                <a:latin typeface="Aptos" panose="020B0004020202020204" pitchFamily="34" charset="0"/>
              </a:rPr>
              <a:t>The account population is distributed across sectors, cities and product types</a:t>
            </a:r>
            <a:endParaRPr lang="en-IN" sz="95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DC854B-E46D-9FC5-11F8-CBB2D35CC493}"/>
              </a:ext>
            </a:extLst>
          </p:cNvPr>
          <p:cNvSpPr/>
          <p:nvPr/>
        </p:nvSpPr>
        <p:spPr>
          <a:xfrm>
            <a:off x="635000" y="1231900"/>
            <a:ext cx="5118100" cy="4521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8433A6-ADE5-82DB-D428-E998E12F0BDA}"/>
              </a:ext>
            </a:extLst>
          </p:cNvPr>
          <p:cNvSpPr txBox="1"/>
          <p:nvPr/>
        </p:nvSpPr>
        <p:spPr>
          <a:xfrm>
            <a:off x="914400" y="1536700"/>
            <a:ext cx="4394200" cy="271869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600" b="1">
                <a:solidFill>
                  <a:srgbClr val="0B3D91"/>
                </a:solidFill>
                <a:latin typeface="Aptos Display" panose="020B0004020202020204" pitchFamily="34" charset="0"/>
              </a:rPr>
              <a:t>Account type mix (800 records)</a:t>
            </a:r>
            <a:endParaRPr lang="en-IN" sz="1600" b="1">
              <a:solidFill>
                <a:srgbClr val="0B3D91"/>
              </a:solidFill>
              <a:latin typeface="Aptos Display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79F661-51F3-BF50-35D7-33C6BE0F8022}"/>
              </a:ext>
            </a:extLst>
          </p:cNvPr>
          <p:cNvSpPr txBox="1"/>
          <p:nvPr/>
        </p:nvSpPr>
        <p:spPr>
          <a:xfrm>
            <a:off x="914400" y="1993900"/>
            <a:ext cx="1143000" cy="17184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950">
                <a:solidFill>
                  <a:srgbClr val="17365D"/>
                </a:solidFill>
                <a:latin typeface="Aptos" panose="020B0004020202020204" pitchFamily="34" charset="0"/>
              </a:rPr>
              <a:t>Savings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76E9F5-41B9-8DC9-1F8D-F1B92EBBE2CE}"/>
              </a:ext>
            </a:extLst>
          </p:cNvPr>
          <p:cNvSpPr/>
          <p:nvPr/>
        </p:nvSpPr>
        <p:spPr>
          <a:xfrm>
            <a:off x="2146300" y="2070100"/>
            <a:ext cx="2654300" cy="393700"/>
          </a:xfrm>
          <a:prstGeom prst="rect">
            <a:avLst/>
          </a:prstGeom>
          <a:solidFill>
            <a:srgbClr val="FFEEDC"/>
          </a:solidFill>
          <a:ln w="12700" cap="flat" cmpd="sng" algn="ctr">
            <a:solidFill>
              <a:srgbClr val="FFEEDC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F9E5EE-3631-74BA-2582-A6D24BCC5AC7}"/>
              </a:ext>
            </a:extLst>
          </p:cNvPr>
          <p:cNvSpPr/>
          <p:nvPr/>
        </p:nvSpPr>
        <p:spPr>
          <a:xfrm>
            <a:off x="2146300" y="2070100"/>
            <a:ext cx="2654300" cy="3937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53E4BF-A892-429E-BD4A-CB82140CC000}"/>
              </a:ext>
            </a:extLst>
          </p:cNvPr>
          <p:cNvSpPr txBox="1"/>
          <p:nvPr/>
        </p:nvSpPr>
        <p:spPr>
          <a:xfrm>
            <a:off x="4851400" y="1993900"/>
            <a:ext cx="457200" cy="164148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900" b="1">
                <a:solidFill>
                  <a:srgbClr val="0B3D91"/>
                </a:solidFill>
                <a:latin typeface="Aptos" panose="020B0004020202020204" pitchFamily="34" charset="0"/>
              </a:rPr>
              <a:t>218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75F8ED-56F5-0226-638D-6AEF1D33304D}"/>
              </a:ext>
            </a:extLst>
          </p:cNvPr>
          <p:cNvSpPr txBox="1"/>
          <p:nvPr/>
        </p:nvSpPr>
        <p:spPr>
          <a:xfrm>
            <a:off x="914400" y="2590800"/>
            <a:ext cx="1143000" cy="17184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950">
                <a:solidFill>
                  <a:srgbClr val="17365D"/>
                </a:solidFill>
                <a:latin typeface="Aptos" panose="020B0004020202020204" pitchFamily="34" charset="0"/>
              </a:rPr>
              <a:t>Loan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DEC685-40F6-737A-BBB6-63BF9528D0CC}"/>
              </a:ext>
            </a:extLst>
          </p:cNvPr>
          <p:cNvSpPr/>
          <p:nvPr/>
        </p:nvSpPr>
        <p:spPr>
          <a:xfrm>
            <a:off x="2146300" y="2667000"/>
            <a:ext cx="2654300" cy="393700"/>
          </a:xfrm>
          <a:prstGeom prst="rect">
            <a:avLst/>
          </a:prstGeom>
          <a:solidFill>
            <a:srgbClr val="FFEEDC"/>
          </a:solidFill>
          <a:ln w="12700" cap="flat" cmpd="sng" algn="ctr">
            <a:solidFill>
              <a:srgbClr val="FFEEDC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23677C-CA04-7797-21CE-479EF9A44D68}"/>
              </a:ext>
            </a:extLst>
          </p:cNvPr>
          <p:cNvSpPr/>
          <p:nvPr/>
        </p:nvSpPr>
        <p:spPr>
          <a:xfrm>
            <a:off x="2146300" y="2667000"/>
            <a:ext cx="2400300" cy="3937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4EA522-0086-1B97-4FE8-CBF892B45E7A}"/>
              </a:ext>
            </a:extLst>
          </p:cNvPr>
          <p:cNvSpPr txBox="1"/>
          <p:nvPr/>
        </p:nvSpPr>
        <p:spPr>
          <a:xfrm>
            <a:off x="4851400" y="2590800"/>
            <a:ext cx="457200" cy="164148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900" b="1">
                <a:solidFill>
                  <a:srgbClr val="0B3D91"/>
                </a:solidFill>
                <a:latin typeface="Aptos" panose="020B0004020202020204" pitchFamily="34" charset="0"/>
              </a:rPr>
              <a:t>197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8616CB-5B74-C9A2-FE42-98204B19A967}"/>
              </a:ext>
            </a:extLst>
          </p:cNvPr>
          <p:cNvSpPr txBox="1"/>
          <p:nvPr/>
        </p:nvSpPr>
        <p:spPr>
          <a:xfrm>
            <a:off x="914400" y="3187700"/>
            <a:ext cx="1143000" cy="17184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950">
                <a:solidFill>
                  <a:srgbClr val="17365D"/>
                </a:solidFill>
                <a:latin typeface="Aptos" panose="020B0004020202020204" pitchFamily="34" charset="0"/>
              </a:rPr>
              <a:t>Credit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582F97-A546-3118-A2F6-42389DB13CB5}"/>
              </a:ext>
            </a:extLst>
          </p:cNvPr>
          <p:cNvSpPr/>
          <p:nvPr/>
        </p:nvSpPr>
        <p:spPr>
          <a:xfrm>
            <a:off x="2146300" y="3251200"/>
            <a:ext cx="2654300" cy="393700"/>
          </a:xfrm>
          <a:prstGeom prst="rect">
            <a:avLst/>
          </a:prstGeom>
          <a:solidFill>
            <a:srgbClr val="FFEEDC"/>
          </a:solidFill>
          <a:ln w="12700" cap="flat" cmpd="sng" algn="ctr">
            <a:solidFill>
              <a:srgbClr val="FFEEDC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298A4B-AA13-9ADA-6DDB-B72F7D51FAD3}"/>
              </a:ext>
            </a:extLst>
          </p:cNvPr>
          <p:cNvSpPr/>
          <p:nvPr/>
        </p:nvSpPr>
        <p:spPr>
          <a:xfrm>
            <a:off x="2146300" y="3251200"/>
            <a:ext cx="2362200" cy="3937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7973F5-0B58-762F-2966-69418D06920A}"/>
              </a:ext>
            </a:extLst>
          </p:cNvPr>
          <p:cNvSpPr txBox="1"/>
          <p:nvPr/>
        </p:nvSpPr>
        <p:spPr>
          <a:xfrm>
            <a:off x="4851400" y="3187700"/>
            <a:ext cx="457200" cy="164148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900" b="1">
                <a:solidFill>
                  <a:srgbClr val="0B3D91"/>
                </a:solidFill>
                <a:latin typeface="Aptos" panose="020B0004020202020204" pitchFamily="34" charset="0"/>
              </a:rPr>
              <a:t>194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B7FB43-A992-5552-2ECB-6EA038020C18}"/>
              </a:ext>
            </a:extLst>
          </p:cNvPr>
          <p:cNvSpPr txBox="1"/>
          <p:nvPr/>
        </p:nvSpPr>
        <p:spPr>
          <a:xfrm>
            <a:off x="914400" y="3771900"/>
            <a:ext cx="1143000" cy="17184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950">
                <a:solidFill>
                  <a:srgbClr val="17365D"/>
                </a:solidFill>
                <a:latin typeface="Aptos" panose="020B0004020202020204" pitchFamily="34" charset="0"/>
              </a:rPr>
              <a:t>Checking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7CE281-9DCE-7ED9-AE88-A93A3D3C7528}"/>
              </a:ext>
            </a:extLst>
          </p:cNvPr>
          <p:cNvSpPr/>
          <p:nvPr/>
        </p:nvSpPr>
        <p:spPr>
          <a:xfrm>
            <a:off x="2146300" y="3848100"/>
            <a:ext cx="2654300" cy="393700"/>
          </a:xfrm>
          <a:prstGeom prst="rect">
            <a:avLst/>
          </a:prstGeom>
          <a:solidFill>
            <a:srgbClr val="FFEEDC"/>
          </a:solidFill>
          <a:ln w="12700" cap="flat" cmpd="sng" algn="ctr">
            <a:solidFill>
              <a:srgbClr val="FFEEDC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D8B92A-DC46-6510-B64A-E8D5794CE940}"/>
              </a:ext>
            </a:extLst>
          </p:cNvPr>
          <p:cNvSpPr/>
          <p:nvPr/>
        </p:nvSpPr>
        <p:spPr>
          <a:xfrm>
            <a:off x="2146300" y="3848100"/>
            <a:ext cx="2324100" cy="3937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286C67-5754-F9BD-5A40-FFC1535B5B0C}"/>
              </a:ext>
            </a:extLst>
          </p:cNvPr>
          <p:cNvSpPr txBox="1"/>
          <p:nvPr/>
        </p:nvSpPr>
        <p:spPr>
          <a:xfrm>
            <a:off x="4851400" y="3771900"/>
            <a:ext cx="457200" cy="164148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900" b="1">
                <a:solidFill>
                  <a:srgbClr val="0B3D91"/>
                </a:solidFill>
                <a:latin typeface="Aptos" panose="020B0004020202020204" pitchFamily="34" charset="0"/>
              </a:rPr>
              <a:t>191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0F96E1-E84D-20EB-D9BC-91163D79AE0F}"/>
              </a:ext>
            </a:extLst>
          </p:cNvPr>
          <p:cNvSpPr txBox="1"/>
          <p:nvPr/>
        </p:nvSpPr>
        <p:spPr>
          <a:xfrm>
            <a:off x="914400" y="4889500"/>
            <a:ext cx="4394200" cy="36420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100">
                <a:solidFill>
                  <a:srgbClr val="17365D"/>
                </a:solidFill>
                <a:latin typeface="Aptos" panose="020B0004020202020204" pitchFamily="34" charset="0"/>
              </a:rPr>
              <a:t>Savings is the largest product category; the four types remain relatively balanced.</a:t>
            </a:r>
            <a:endParaRPr lang="en-IN" sz="110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140537-4B92-0C0D-0517-D4D151248695}"/>
              </a:ext>
            </a:extLst>
          </p:cNvPr>
          <p:cNvSpPr/>
          <p:nvPr/>
        </p:nvSpPr>
        <p:spPr>
          <a:xfrm>
            <a:off x="6057900" y="1231900"/>
            <a:ext cx="5473700" cy="4521200"/>
          </a:xfrm>
          <a:prstGeom prst="rect">
            <a:avLst/>
          </a:prstGeom>
          <a:solidFill>
            <a:srgbClr val="0B3D91"/>
          </a:solidFill>
          <a:ln w="12700" cap="flat" cmpd="sng" algn="ctr">
            <a:solidFill>
              <a:srgbClr val="0B3D9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F6B452-2244-A02C-1B29-5DF7C1B9915B}"/>
              </a:ext>
            </a:extLst>
          </p:cNvPr>
          <p:cNvSpPr txBox="1"/>
          <p:nvPr/>
        </p:nvSpPr>
        <p:spPr>
          <a:xfrm>
            <a:off x="6350000" y="1536700"/>
            <a:ext cx="4660900" cy="271869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Aptos Display" panose="020B0004020202020204" pitchFamily="34" charset="0"/>
              </a:rPr>
              <a:t>Customer context from detail fields</a:t>
            </a:r>
            <a:endParaRPr lang="en-IN" sz="16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14803E-C8E4-A7CC-C9C1-B426BBBEA38B}"/>
              </a:ext>
            </a:extLst>
          </p:cNvPr>
          <p:cNvSpPr txBox="1"/>
          <p:nvPr/>
        </p:nvSpPr>
        <p:spPr>
          <a:xfrm>
            <a:off x="6400800" y="1993900"/>
            <a:ext cx="1828800" cy="19492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100" b="1">
                <a:solidFill>
                  <a:srgbClr val="00A3E0"/>
                </a:solidFill>
                <a:latin typeface="Aptos" panose="020B0004020202020204" pitchFamily="34" charset="0"/>
              </a:rPr>
              <a:t>Sector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14608E-B4EB-175B-53E7-523D94202C4E}"/>
              </a:ext>
            </a:extLst>
          </p:cNvPr>
          <p:cNvSpPr txBox="1"/>
          <p:nvPr/>
        </p:nvSpPr>
        <p:spPr>
          <a:xfrm>
            <a:off x="6400800" y="2298700"/>
            <a:ext cx="1143000" cy="17184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950">
                <a:solidFill>
                  <a:srgbClr val="17365D"/>
                </a:solidFill>
                <a:latin typeface="Aptos" panose="020B0004020202020204" pitchFamily="34" charset="0"/>
              </a:rPr>
              <a:t>Technology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98797AF-8C03-9A20-73A5-159B157C2FCC}"/>
              </a:ext>
            </a:extLst>
          </p:cNvPr>
          <p:cNvSpPr/>
          <p:nvPr/>
        </p:nvSpPr>
        <p:spPr>
          <a:xfrm>
            <a:off x="7632700" y="2374900"/>
            <a:ext cx="2794000" cy="127000"/>
          </a:xfrm>
          <a:prstGeom prst="rect">
            <a:avLst/>
          </a:prstGeom>
          <a:solidFill>
            <a:srgbClr val="FFEEDC"/>
          </a:solidFill>
          <a:ln w="12700" cap="flat" cmpd="sng" algn="ctr">
            <a:solidFill>
              <a:srgbClr val="FFEEDC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501BA2B-0C87-EDD3-2BFE-DD97068C0885}"/>
              </a:ext>
            </a:extLst>
          </p:cNvPr>
          <p:cNvSpPr/>
          <p:nvPr/>
        </p:nvSpPr>
        <p:spPr>
          <a:xfrm>
            <a:off x="7632700" y="2374900"/>
            <a:ext cx="2794000" cy="127000"/>
          </a:xfrm>
          <a:prstGeom prst="rect">
            <a:avLst/>
          </a:prstGeom>
          <a:solidFill>
            <a:srgbClr val="00A3E0"/>
          </a:solidFill>
          <a:ln w="12700" cap="flat" cmpd="sng" algn="ctr">
            <a:solidFill>
              <a:srgbClr val="00A3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BA0A78-5746-BB76-B7EE-AEA24AA5F45F}"/>
              </a:ext>
            </a:extLst>
          </p:cNvPr>
          <p:cNvSpPr txBox="1"/>
          <p:nvPr/>
        </p:nvSpPr>
        <p:spPr>
          <a:xfrm>
            <a:off x="10464800" y="2298700"/>
            <a:ext cx="457200" cy="164148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900" b="1">
                <a:solidFill>
                  <a:srgbClr val="0B3D91"/>
                </a:solidFill>
                <a:latin typeface="Aptos" panose="020B0004020202020204" pitchFamily="34" charset="0"/>
              </a:rPr>
              <a:t>175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2A7A69-D56B-D4CA-E6AF-05903E99D3B4}"/>
              </a:ext>
            </a:extLst>
          </p:cNvPr>
          <p:cNvSpPr txBox="1"/>
          <p:nvPr/>
        </p:nvSpPr>
        <p:spPr>
          <a:xfrm>
            <a:off x="6400800" y="2628900"/>
            <a:ext cx="1143000" cy="17184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950">
                <a:solidFill>
                  <a:srgbClr val="17365D"/>
                </a:solidFill>
                <a:latin typeface="Aptos" panose="020B0004020202020204" pitchFamily="34" charset="0"/>
              </a:rPr>
              <a:t>Education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A8B538D-CE61-79C3-2CC2-24DD8DE20246}"/>
              </a:ext>
            </a:extLst>
          </p:cNvPr>
          <p:cNvSpPr/>
          <p:nvPr/>
        </p:nvSpPr>
        <p:spPr>
          <a:xfrm>
            <a:off x="7632700" y="2705100"/>
            <a:ext cx="2794000" cy="127000"/>
          </a:xfrm>
          <a:prstGeom prst="rect">
            <a:avLst/>
          </a:prstGeom>
          <a:solidFill>
            <a:srgbClr val="FFEEDC"/>
          </a:solidFill>
          <a:ln w="12700" cap="flat" cmpd="sng" algn="ctr">
            <a:solidFill>
              <a:srgbClr val="FFEEDC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549E7C3-1046-2F3A-55AB-04D9854875FE}"/>
              </a:ext>
            </a:extLst>
          </p:cNvPr>
          <p:cNvSpPr/>
          <p:nvPr/>
        </p:nvSpPr>
        <p:spPr>
          <a:xfrm>
            <a:off x="7632700" y="2705100"/>
            <a:ext cx="2692400" cy="127000"/>
          </a:xfrm>
          <a:prstGeom prst="rect">
            <a:avLst/>
          </a:prstGeom>
          <a:solidFill>
            <a:srgbClr val="00A3E0"/>
          </a:solidFill>
          <a:ln w="12700" cap="flat" cmpd="sng" algn="ctr">
            <a:solidFill>
              <a:srgbClr val="00A3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11384D-D91E-0702-E459-E4F5FEA96F31}"/>
              </a:ext>
            </a:extLst>
          </p:cNvPr>
          <p:cNvSpPr txBox="1"/>
          <p:nvPr/>
        </p:nvSpPr>
        <p:spPr>
          <a:xfrm>
            <a:off x="10464800" y="2628900"/>
            <a:ext cx="457200" cy="164148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900" b="1">
                <a:solidFill>
                  <a:srgbClr val="0B3D91"/>
                </a:solidFill>
                <a:latin typeface="Aptos" panose="020B0004020202020204" pitchFamily="34" charset="0"/>
              </a:rPr>
              <a:t>169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D0FC9E-652A-5745-B6CD-96BA12E9A8B3}"/>
              </a:ext>
            </a:extLst>
          </p:cNvPr>
          <p:cNvSpPr txBox="1"/>
          <p:nvPr/>
        </p:nvSpPr>
        <p:spPr>
          <a:xfrm>
            <a:off x="6400800" y="2959100"/>
            <a:ext cx="1143000" cy="17184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950">
                <a:solidFill>
                  <a:srgbClr val="17365D"/>
                </a:solidFill>
                <a:latin typeface="Aptos" panose="020B0004020202020204" pitchFamily="34" charset="0"/>
              </a:rPr>
              <a:t>Healthcare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CC97841-AF9F-47E0-F873-80F9A8CFA972}"/>
              </a:ext>
            </a:extLst>
          </p:cNvPr>
          <p:cNvSpPr/>
          <p:nvPr/>
        </p:nvSpPr>
        <p:spPr>
          <a:xfrm>
            <a:off x="7632700" y="3035300"/>
            <a:ext cx="2794000" cy="127000"/>
          </a:xfrm>
          <a:prstGeom prst="rect">
            <a:avLst/>
          </a:prstGeom>
          <a:solidFill>
            <a:srgbClr val="FFEEDC"/>
          </a:solidFill>
          <a:ln w="12700" cap="flat" cmpd="sng" algn="ctr">
            <a:solidFill>
              <a:srgbClr val="FFEEDC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20B2804-D415-CE05-5186-5B7997A389E4}"/>
              </a:ext>
            </a:extLst>
          </p:cNvPr>
          <p:cNvSpPr/>
          <p:nvPr/>
        </p:nvSpPr>
        <p:spPr>
          <a:xfrm>
            <a:off x="7632700" y="3035300"/>
            <a:ext cx="2552700" cy="127000"/>
          </a:xfrm>
          <a:prstGeom prst="rect">
            <a:avLst/>
          </a:prstGeom>
          <a:solidFill>
            <a:srgbClr val="00A3E0"/>
          </a:solidFill>
          <a:ln w="12700" cap="flat" cmpd="sng" algn="ctr">
            <a:solidFill>
              <a:srgbClr val="00A3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09D706-BED2-F78C-C80C-3A64E4AB9081}"/>
              </a:ext>
            </a:extLst>
          </p:cNvPr>
          <p:cNvSpPr txBox="1"/>
          <p:nvPr/>
        </p:nvSpPr>
        <p:spPr>
          <a:xfrm>
            <a:off x="10464800" y="2959100"/>
            <a:ext cx="457200" cy="164148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900" b="1">
                <a:solidFill>
                  <a:srgbClr val="0B3D91"/>
                </a:solidFill>
                <a:latin typeface="Aptos" panose="020B0004020202020204" pitchFamily="34" charset="0"/>
              </a:rPr>
              <a:t>160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746383-706D-AF95-3B4D-7B37C125C611}"/>
              </a:ext>
            </a:extLst>
          </p:cNvPr>
          <p:cNvSpPr txBox="1"/>
          <p:nvPr/>
        </p:nvSpPr>
        <p:spPr>
          <a:xfrm>
            <a:off x="6400800" y="3289300"/>
            <a:ext cx="1143000" cy="17184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950">
                <a:solidFill>
                  <a:srgbClr val="17365D"/>
                </a:solidFill>
                <a:latin typeface="Aptos" panose="020B0004020202020204" pitchFamily="34" charset="0"/>
              </a:rPr>
              <a:t>Finance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5339661-62C5-664D-08D5-AAB30439B6C5}"/>
              </a:ext>
            </a:extLst>
          </p:cNvPr>
          <p:cNvSpPr/>
          <p:nvPr/>
        </p:nvSpPr>
        <p:spPr>
          <a:xfrm>
            <a:off x="7632700" y="3365500"/>
            <a:ext cx="2794000" cy="127000"/>
          </a:xfrm>
          <a:prstGeom prst="rect">
            <a:avLst/>
          </a:prstGeom>
          <a:solidFill>
            <a:srgbClr val="FFEEDC"/>
          </a:solidFill>
          <a:ln w="12700" cap="flat" cmpd="sng" algn="ctr">
            <a:solidFill>
              <a:srgbClr val="FFEEDC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373AB82-3E5D-C4FD-47B1-BDE78E77620F}"/>
              </a:ext>
            </a:extLst>
          </p:cNvPr>
          <p:cNvSpPr/>
          <p:nvPr/>
        </p:nvSpPr>
        <p:spPr>
          <a:xfrm>
            <a:off x="7632700" y="3365500"/>
            <a:ext cx="2425700" cy="127000"/>
          </a:xfrm>
          <a:prstGeom prst="rect">
            <a:avLst/>
          </a:prstGeom>
          <a:solidFill>
            <a:srgbClr val="00A3E0"/>
          </a:solidFill>
          <a:ln w="12700" cap="flat" cmpd="sng" algn="ctr">
            <a:solidFill>
              <a:srgbClr val="00A3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09BB38-3F09-BB1E-79CA-41ADD8540365}"/>
              </a:ext>
            </a:extLst>
          </p:cNvPr>
          <p:cNvSpPr txBox="1"/>
          <p:nvPr/>
        </p:nvSpPr>
        <p:spPr>
          <a:xfrm>
            <a:off x="10464800" y="3289300"/>
            <a:ext cx="457200" cy="164148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900" b="1">
                <a:solidFill>
                  <a:srgbClr val="0B3D91"/>
                </a:solidFill>
                <a:latin typeface="Aptos" panose="020B0004020202020204" pitchFamily="34" charset="0"/>
              </a:rPr>
              <a:t>152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1DC290E-3FAD-AD5D-2B99-226E6DA56544}"/>
              </a:ext>
            </a:extLst>
          </p:cNvPr>
          <p:cNvSpPr txBox="1"/>
          <p:nvPr/>
        </p:nvSpPr>
        <p:spPr>
          <a:xfrm>
            <a:off x="6400800" y="3619500"/>
            <a:ext cx="1143000" cy="17184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950">
                <a:solidFill>
                  <a:srgbClr val="17365D"/>
                </a:solidFill>
                <a:latin typeface="Aptos" panose="020B0004020202020204" pitchFamily="34" charset="0"/>
              </a:rPr>
              <a:t>Retail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A562ADF-90EE-A5DB-3107-6102883FD36A}"/>
              </a:ext>
            </a:extLst>
          </p:cNvPr>
          <p:cNvSpPr/>
          <p:nvPr/>
        </p:nvSpPr>
        <p:spPr>
          <a:xfrm>
            <a:off x="7632700" y="3695700"/>
            <a:ext cx="2794000" cy="127000"/>
          </a:xfrm>
          <a:prstGeom prst="rect">
            <a:avLst/>
          </a:prstGeom>
          <a:solidFill>
            <a:srgbClr val="FFEEDC"/>
          </a:solidFill>
          <a:ln w="12700" cap="flat" cmpd="sng" algn="ctr">
            <a:solidFill>
              <a:srgbClr val="FFEEDC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FF2D5E5-DC33-0AEF-DD73-2EB77DF36E2B}"/>
              </a:ext>
            </a:extLst>
          </p:cNvPr>
          <p:cNvSpPr/>
          <p:nvPr/>
        </p:nvSpPr>
        <p:spPr>
          <a:xfrm>
            <a:off x="7632700" y="3695700"/>
            <a:ext cx="2298700" cy="127000"/>
          </a:xfrm>
          <a:prstGeom prst="rect">
            <a:avLst/>
          </a:prstGeom>
          <a:solidFill>
            <a:srgbClr val="00A3E0"/>
          </a:solidFill>
          <a:ln w="12700" cap="flat" cmpd="sng" algn="ctr">
            <a:solidFill>
              <a:srgbClr val="00A3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19F7F38-5104-17B3-483C-F7DABB0ADF76}"/>
              </a:ext>
            </a:extLst>
          </p:cNvPr>
          <p:cNvSpPr txBox="1"/>
          <p:nvPr/>
        </p:nvSpPr>
        <p:spPr>
          <a:xfrm>
            <a:off x="10464800" y="3619500"/>
            <a:ext cx="457200" cy="164148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900" b="1">
                <a:solidFill>
                  <a:srgbClr val="0B3D91"/>
                </a:solidFill>
                <a:latin typeface="Aptos" panose="020B0004020202020204" pitchFamily="34" charset="0"/>
              </a:rPr>
              <a:t>144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0D5E4CC-9A88-F67D-4A04-A1C242B831EB}"/>
              </a:ext>
            </a:extLst>
          </p:cNvPr>
          <p:cNvSpPr txBox="1"/>
          <p:nvPr/>
        </p:nvSpPr>
        <p:spPr>
          <a:xfrm>
            <a:off x="6400800" y="4978400"/>
            <a:ext cx="4432300" cy="19492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100">
                <a:solidFill>
                  <a:srgbClr val="FFEEDC"/>
                </a:solidFill>
                <a:latin typeface="Aptos" panose="020B0004020202020204" pitchFamily="34" charset="0"/>
              </a:rPr>
              <a:t>Most represented city: Tokyo (175); least represented: New York (148).</a:t>
            </a:r>
            <a:endParaRPr lang="en-IN" sz="1100">
              <a:solidFill>
                <a:srgbClr val="FFEEDC"/>
              </a:solidFill>
              <a:latin typeface="Aptos" panose="020B0004020202020204" pitchFamily="34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3A31871-DBE1-4CC5-0C00-E7EEC29EFF17}"/>
              </a:ext>
            </a:extLst>
          </p:cNvPr>
          <p:cNvCxnSpPr/>
          <p:nvPr/>
        </p:nvCxnSpPr>
        <p:spPr>
          <a:xfrm>
            <a:off x="508000" y="6477000"/>
            <a:ext cx="11176000" cy="0"/>
          </a:xfrm>
          <a:prstGeom prst="line">
            <a:avLst/>
          </a:prstGeom>
          <a:ln w="10160">
            <a:solidFill>
              <a:srgbClr val="EBE8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860361CB-63A1-61E4-EE96-6195FB196265}"/>
              </a:ext>
            </a:extLst>
          </p:cNvPr>
          <p:cNvSpPr txBox="1"/>
          <p:nvPr/>
        </p:nvSpPr>
        <p:spPr>
          <a:xfrm>
            <a:off x="533400" y="6515100"/>
            <a:ext cx="7950200" cy="14106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750">
                <a:solidFill>
                  <a:srgbClr val="8A969F"/>
                </a:solidFill>
                <a:latin typeface="Aptos" panose="020B0004020202020204" pitchFamily="34" charset="0"/>
              </a:rPr>
              <a:t>Financial Insights in Banking Data using Power BI  |  SOUNAK DEY</a:t>
            </a:r>
            <a:endParaRPr lang="en-IN" sz="75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5310655-267C-F48A-FEA2-C05D068F33D3}"/>
              </a:ext>
            </a:extLst>
          </p:cNvPr>
          <p:cNvSpPr txBox="1"/>
          <p:nvPr/>
        </p:nvSpPr>
        <p:spPr>
          <a:xfrm>
            <a:off x="11150600" y="6489700"/>
            <a:ext cx="508000" cy="148759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800" b="1">
                <a:solidFill>
                  <a:srgbClr val="0B3D91"/>
                </a:solidFill>
                <a:latin typeface="Aptos" panose="020B00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42035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0F8773-E4AE-6150-6A52-CD2EAE2923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026D2-740D-10B9-3C13-C48C944B41DC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49E64A-0C4A-628E-9184-91F910F80F19}"/>
              </a:ext>
            </a:extLst>
          </p:cNvPr>
          <p:cNvSpPr txBox="1"/>
          <p:nvPr/>
        </p:nvSpPr>
        <p:spPr>
          <a:xfrm>
            <a:off x="508000" y="317500"/>
            <a:ext cx="8509000" cy="394980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2400" b="1">
                <a:solidFill>
                  <a:srgbClr val="0B3D91"/>
                </a:solidFill>
                <a:latin typeface="Aptos Display" panose="020B0004020202020204" pitchFamily="34" charset="0"/>
              </a:rPr>
              <a:t>Financial &amp; account balance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9163F6-3F3D-9238-EEFC-74E3EDD6BD48}"/>
              </a:ext>
            </a:extLst>
          </p:cNvPr>
          <p:cNvSpPr txBox="1"/>
          <p:nvPr/>
        </p:nvSpPr>
        <p:spPr>
          <a:xfrm>
            <a:off x="533400" y="762000"/>
            <a:ext cx="9601200" cy="17184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950">
                <a:solidFill>
                  <a:srgbClr val="8A969F"/>
                </a:solidFill>
                <a:latin typeface="Aptos" panose="020B0004020202020204" pitchFamily="34" charset="0"/>
              </a:rPr>
              <a:t>Balance measures show concentration without a single dominant account type</a:t>
            </a:r>
            <a:endParaRPr lang="en-IN" sz="95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8D2416-0020-3EF8-1A55-43B4930D1E77}"/>
              </a:ext>
            </a:extLst>
          </p:cNvPr>
          <p:cNvSpPr/>
          <p:nvPr/>
        </p:nvSpPr>
        <p:spPr>
          <a:xfrm>
            <a:off x="635000" y="1193800"/>
            <a:ext cx="2514600" cy="914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E5AEF6-4948-2864-045B-167C7A195F42}"/>
              </a:ext>
            </a:extLst>
          </p:cNvPr>
          <p:cNvSpPr/>
          <p:nvPr/>
        </p:nvSpPr>
        <p:spPr>
          <a:xfrm>
            <a:off x="635000" y="1193800"/>
            <a:ext cx="63500" cy="9144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4F21B7-A019-3AD9-8DFD-99027BDDCF32}"/>
              </a:ext>
            </a:extLst>
          </p:cNvPr>
          <p:cNvSpPr txBox="1"/>
          <p:nvPr/>
        </p:nvSpPr>
        <p:spPr>
          <a:xfrm>
            <a:off x="800100" y="1346200"/>
            <a:ext cx="2235200" cy="179536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000">
                <a:solidFill>
                  <a:srgbClr val="8A969F"/>
                </a:solidFill>
                <a:latin typeface="Aptos" panose="020B0004020202020204" pitchFamily="34" charset="0"/>
              </a:rPr>
              <a:t>Total balance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71C91B-3AA8-72FB-6A09-E28CFAFAF81B}"/>
              </a:ext>
            </a:extLst>
          </p:cNvPr>
          <p:cNvSpPr txBox="1"/>
          <p:nvPr/>
        </p:nvSpPr>
        <p:spPr>
          <a:xfrm>
            <a:off x="800100" y="1625600"/>
            <a:ext cx="2235200" cy="37959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2300" b="1">
                <a:solidFill>
                  <a:srgbClr val="0B3D91"/>
                </a:solidFill>
                <a:latin typeface="Aptos Display" panose="020B0004020202020204" pitchFamily="34" charset="0"/>
              </a:rPr>
              <a:t>19.28M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87AFF0-A231-9ACC-D597-067BEE9E4CFB}"/>
              </a:ext>
            </a:extLst>
          </p:cNvPr>
          <p:cNvSpPr/>
          <p:nvPr/>
        </p:nvSpPr>
        <p:spPr>
          <a:xfrm>
            <a:off x="3429000" y="1193800"/>
            <a:ext cx="2514600" cy="914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240B2-F01A-DCAE-BA4D-62C5FD3588CD}"/>
              </a:ext>
            </a:extLst>
          </p:cNvPr>
          <p:cNvSpPr/>
          <p:nvPr/>
        </p:nvSpPr>
        <p:spPr>
          <a:xfrm>
            <a:off x="3429000" y="1193800"/>
            <a:ext cx="63500" cy="914400"/>
          </a:xfrm>
          <a:prstGeom prst="rect">
            <a:avLst/>
          </a:prstGeom>
          <a:solidFill>
            <a:srgbClr val="00A3E0"/>
          </a:solidFill>
          <a:ln w="12700" cap="flat" cmpd="sng" algn="ctr">
            <a:solidFill>
              <a:srgbClr val="00A3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A99402-9DB0-A627-01E4-71BE903E23E0}"/>
              </a:ext>
            </a:extLst>
          </p:cNvPr>
          <p:cNvSpPr txBox="1"/>
          <p:nvPr/>
        </p:nvSpPr>
        <p:spPr>
          <a:xfrm>
            <a:off x="3594100" y="1346200"/>
            <a:ext cx="2235200" cy="179536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000">
                <a:solidFill>
                  <a:srgbClr val="8A969F"/>
                </a:solidFill>
                <a:latin typeface="Aptos" panose="020B0004020202020204" pitchFamily="34" charset="0"/>
              </a:rPr>
              <a:t>Average balance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D5ECD3-39BF-BA3A-DCEC-E35B84763D74}"/>
              </a:ext>
            </a:extLst>
          </p:cNvPr>
          <p:cNvSpPr txBox="1"/>
          <p:nvPr/>
        </p:nvSpPr>
        <p:spPr>
          <a:xfrm>
            <a:off x="3594100" y="1625600"/>
            <a:ext cx="2235200" cy="37959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2300" b="1">
                <a:solidFill>
                  <a:srgbClr val="0B3D91"/>
                </a:solidFill>
                <a:latin typeface="Aptos Display" panose="020B0004020202020204" pitchFamily="34" charset="0"/>
              </a:rPr>
              <a:t>24.10K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C3672-3A15-0845-C505-EB9D1087BB0F}"/>
              </a:ext>
            </a:extLst>
          </p:cNvPr>
          <p:cNvSpPr/>
          <p:nvPr/>
        </p:nvSpPr>
        <p:spPr>
          <a:xfrm>
            <a:off x="6223000" y="1193800"/>
            <a:ext cx="2514600" cy="914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76EFF0-EC18-54E8-5407-04D4EE410411}"/>
              </a:ext>
            </a:extLst>
          </p:cNvPr>
          <p:cNvSpPr/>
          <p:nvPr/>
        </p:nvSpPr>
        <p:spPr>
          <a:xfrm>
            <a:off x="6223000" y="1193800"/>
            <a:ext cx="63500" cy="914400"/>
          </a:xfrm>
          <a:prstGeom prst="rect">
            <a:avLst/>
          </a:prstGeom>
          <a:solidFill>
            <a:srgbClr val="2E8B57"/>
          </a:solidFill>
          <a:ln w="12700" cap="flat" cmpd="sng" algn="ctr">
            <a:solidFill>
              <a:srgbClr val="2E8B57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946F90-0EA8-EA16-8C40-3D1E5A34364B}"/>
              </a:ext>
            </a:extLst>
          </p:cNvPr>
          <p:cNvSpPr txBox="1"/>
          <p:nvPr/>
        </p:nvSpPr>
        <p:spPr>
          <a:xfrm>
            <a:off x="6388100" y="1346200"/>
            <a:ext cx="2235200" cy="179536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000">
                <a:solidFill>
                  <a:srgbClr val="8A969F"/>
                </a:solidFill>
                <a:latin typeface="Aptos" panose="020B0004020202020204" pitchFamily="34" charset="0"/>
              </a:rPr>
              <a:t>Minimum balance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48EC00-0D74-5C38-1CC1-2135DC093ED3}"/>
              </a:ext>
            </a:extLst>
          </p:cNvPr>
          <p:cNvSpPr txBox="1"/>
          <p:nvPr/>
        </p:nvSpPr>
        <p:spPr>
          <a:xfrm>
            <a:off x="6388100" y="1625600"/>
            <a:ext cx="2235200" cy="37959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2300" b="1">
                <a:solidFill>
                  <a:srgbClr val="0B3D91"/>
                </a:solidFill>
                <a:latin typeface="Aptos Display" panose="020B0004020202020204" pitchFamily="34" charset="0"/>
              </a:rPr>
              <a:t>7.71K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3882EC-1EBD-B5DC-C07E-62E493194C01}"/>
              </a:ext>
            </a:extLst>
          </p:cNvPr>
          <p:cNvSpPr/>
          <p:nvPr/>
        </p:nvSpPr>
        <p:spPr>
          <a:xfrm>
            <a:off x="9004300" y="1193800"/>
            <a:ext cx="2514600" cy="914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9C34D1-5BD2-1241-7F82-B32278699789}"/>
              </a:ext>
            </a:extLst>
          </p:cNvPr>
          <p:cNvSpPr/>
          <p:nvPr/>
        </p:nvSpPr>
        <p:spPr>
          <a:xfrm>
            <a:off x="9004300" y="1193800"/>
            <a:ext cx="63500" cy="914400"/>
          </a:xfrm>
          <a:prstGeom prst="rect">
            <a:avLst/>
          </a:prstGeom>
          <a:solidFill>
            <a:srgbClr val="F2B705"/>
          </a:solidFill>
          <a:ln w="12700" cap="flat" cmpd="sng" algn="ctr">
            <a:solidFill>
              <a:srgbClr val="F2B705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9B7330-FF71-4E35-B26D-99AD63D9D635}"/>
              </a:ext>
            </a:extLst>
          </p:cNvPr>
          <p:cNvSpPr txBox="1"/>
          <p:nvPr/>
        </p:nvSpPr>
        <p:spPr>
          <a:xfrm>
            <a:off x="9169400" y="1346200"/>
            <a:ext cx="2235200" cy="179536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000">
                <a:solidFill>
                  <a:srgbClr val="8A969F"/>
                </a:solidFill>
                <a:latin typeface="Aptos" panose="020B0004020202020204" pitchFamily="34" charset="0"/>
              </a:rPr>
              <a:t>Maximum balance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00B598-FA23-10F2-8E96-C9AAECDE658F}"/>
              </a:ext>
            </a:extLst>
          </p:cNvPr>
          <p:cNvSpPr txBox="1"/>
          <p:nvPr/>
        </p:nvSpPr>
        <p:spPr>
          <a:xfrm>
            <a:off x="9169400" y="1625600"/>
            <a:ext cx="2235200" cy="37959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2300" b="1">
                <a:solidFill>
                  <a:srgbClr val="0B3D91"/>
                </a:solidFill>
                <a:latin typeface="Aptos Display" panose="020B0004020202020204" pitchFamily="34" charset="0"/>
              </a:rPr>
              <a:t>49.96K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27EF827-5979-C1E9-6B43-B7AF5BCA0679}"/>
              </a:ext>
            </a:extLst>
          </p:cNvPr>
          <p:cNvSpPr/>
          <p:nvPr/>
        </p:nvSpPr>
        <p:spPr>
          <a:xfrm>
            <a:off x="635000" y="2463800"/>
            <a:ext cx="5435600" cy="3149600"/>
          </a:xfrm>
          <a:prstGeom prst="rect">
            <a:avLst/>
          </a:prstGeom>
          <a:solidFill>
            <a:srgbClr val="EAF2FB"/>
          </a:solidFill>
          <a:ln w="12700" cap="flat" cmpd="sng" algn="ctr">
            <a:solidFill>
              <a:srgbClr val="EAF2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5D296B-69B4-6E3D-0B4F-F7F4AFE0DE27}"/>
              </a:ext>
            </a:extLst>
          </p:cNvPr>
          <p:cNvSpPr txBox="1"/>
          <p:nvPr/>
        </p:nvSpPr>
        <p:spPr>
          <a:xfrm>
            <a:off x="914400" y="2755900"/>
            <a:ext cx="4483100" cy="271869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600" b="1">
                <a:solidFill>
                  <a:srgbClr val="0B3D91"/>
                </a:solidFill>
                <a:latin typeface="Aptos Display" panose="020B0004020202020204" pitchFamily="34" charset="0"/>
              </a:rPr>
              <a:t>Balance by account type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9BF0CD-FB63-5AAA-0810-CF23C3D11F2A}"/>
              </a:ext>
            </a:extLst>
          </p:cNvPr>
          <p:cNvSpPr txBox="1"/>
          <p:nvPr/>
        </p:nvSpPr>
        <p:spPr>
          <a:xfrm>
            <a:off x="914400" y="3213100"/>
            <a:ext cx="1143000" cy="17184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950">
                <a:solidFill>
                  <a:srgbClr val="17365D"/>
                </a:solidFill>
                <a:latin typeface="Aptos" panose="020B0004020202020204" pitchFamily="34" charset="0"/>
              </a:rPr>
              <a:t>Savings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25721E2-1F16-06CB-040F-040BE49FEDD9}"/>
              </a:ext>
            </a:extLst>
          </p:cNvPr>
          <p:cNvSpPr/>
          <p:nvPr/>
        </p:nvSpPr>
        <p:spPr>
          <a:xfrm>
            <a:off x="2146300" y="3289300"/>
            <a:ext cx="2832100" cy="292100"/>
          </a:xfrm>
          <a:prstGeom prst="rect">
            <a:avLst/>
          </a:prstGeom>
          <a:solidFill>
            <a:srgbClr val="FFEEDC"/>
          </a:solidFill>
          <a:ln w="12700" cap="flat" cmpd="sng" algn="ctr">
            <a:solidFill>
              <a:srgbClr val="FFEEDC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29371C-BC13-5D51-BE04-4C3446E518DE}"/>
              </a:ext>
            </a:extLst>
          </p:cNvPr>
          <p:cNvSpPr/>
          <p:nvPr/>
        </p:nvSpPr>
        <p:spPr>
          <a:xfrm>
            <a:off x="2146300" y="3289300"/>
            <a:ext cx="2832100" cy="2921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ADC850-019F-A7D1-FC2E-09A9BFE43212}"/>
              </a:ext>
            </a:extLst>
          </p:cNvPr>
          <p:cNvSpPr txBox="1"/>
          <p:nvPr/>
        </p:nvSpPr>
        <p:spPr>
          <a:xfrm>
            <a:off x="5029200" y="3213100"/>
            <a:ext cx="457200" cy="302647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900" b="1">
                <a:solidFill>
                  <a:srgbClr val="0B3D91"/>
                </a:solidFill>
                <a:latin typeface="Aptos" panose="020B0004020202020204" pitchFamily="34" charset="0"/>
              </a:rPr>
              <a:t>5566076.5M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D0221C-97B3-6214-48DE-4082B2EEEA52}"/>
              </a:ext>
            </a:extLst>
          </p:cNvPr>
          <p:cNvSpPr txBox="1"/>
          <p:nvPr/>
        </p:nvSpPr>
        <p:spPr>
          <a:xfrm>
            <a:off x="914400" y="3708400"/>
            <a:ext cx="1143000" cy="17184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950">
                <a:solidFill>
                  <a:srgbClr val="17365D"/>
                </a:solidFill>
                <a:latin typeface="Aptos" panose="020B0004020202020204" pitchFamily="34" charset="0"/>
              </a:rPr>
              <a:t>Credit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5DAF663-6805-DE06-36A4-BD45DA9F9D2A}"/>
              </a:ext>
            </a:extLst>
          </p:cNvPr>
          <p:cNvSpPr/>
          <p:nvPr/>
        </p:nvSpPr>
        <p:spPr>
          <a:xfrm>
            <a:off x="2146300" y="3784600"/>
            <a:ext cx="2832100" cy="292100"/>
          </a:xfrm>
          <a:prstGeom prst="rect">
            <a:avLst/>
          </a:prstGeom>
          <a:solidFill>
            <a:srgbClr val="FFEEDC"/>
          </a:solidFill>
          <a:ln w="12700" cap="flat" cmpd="sng" algn="ctr">
            <a:solidFill>
              <a:srgbClr val="FFEEDC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AE4295-9951-2D3E-95C4-4400F31CC276}"/>
              </a:ext>
            </a:extLst>
          </p:cNvPr>
          <p:cNvSpPr/>
          <p:nvPr/>
        </p:nvSpPr>
        <p:spPr>
          <a:xfrm>
            <a:off x="2146300" y="3784600"/>
            <a:ext cx="2387600" cy="2921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133712-A86B-5A25-9772-34CAB99770DC}"/>
              </a:ext>
            </a:extLst>
          </p:cNvPr>
          <p:cNvSpPr txBox="1"/>
          <p:nvPr/>
        </p:nvSpPr>
        <p:spPr>
          <a:xfrm>
            <a:off x="5029200" y="3708400"/>
            <a:ext cx="457200" cy="302647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900" b="1">
                <a:solidFill>
                  <a:srgbClr val="0B3D91"/>
                </a:solidFill>
                <a:latin typeface="Aptos" panose="020B0004020202020204" pitchFamily="34" charset="0"/>
              </a:rPr>
              <a:t>4686921.7M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DD05BE-6B59-A363-D632-0FF1EE005C12}"/>
              </a:ext>
            </a:extLst>
          </p:cNvPr>
          <p:cNvSpPr txBox="1"/>
          <p:nvPr/>
        </p:nvSpPr>
        <p:spPr>
          <a:xfrm>
            <a:off x="914400" y="4203700"/>
            <a:ext cx="1143000" cy="17184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950">
                <a:solidFill>
                  <a:srgbClr val="17365D"/>
                </a:solidFill>
                <a:latin typeface="Aptos" panose="020B0004020202020204" pitchFamily="34" charset="0"/>
              </a:rPr>
              <a:t>Loan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2EA328-1DD4-1E6F-1438-75113CBB2E2A}"/>
              </a:ext>
            </a:extLst>
          </p:cNvPr>
          <p:cNvSpPr/>
          <p:nvPr/>
        </p:nvSpPr>
        <p:spPr>
          <a:xfrm>
            <a:off x="2146300" y="4279900"/>
            <a:ext cx="2832100" cy="292100"/>
          </a:xfrm>
          <a:prstGeom prst="rect">
            <a:avLst/>
          </a:prstGeom>
          <a:solidFill>
            <a:srgbClr val="FFEEDC"/>
          </a:solidFill>
          <a:ln w="12700" cap="flat" cmpd="sng" algn="ctr">
            <a:solidFill>
              <a:srgbClr val="FFEEDC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CABA8AC-D4EE-4EE3-9E7F-7A86DB5C52C5}"/>
              </a:ext>
            </a:extLst>
          </p:cNvPr>
          <p:cNvSpPr/>
          <p:nvPr/>
        </p:nvSpPr>
        <p:spPr>
          <a:xfrm>
            <a:off x="2146300" y="4279900"/>
            <a:ext cx="2336800" cy="2921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700F86-E5BF-F241-23AC-746DF81AC2C4}"/>
              </a:ext>
            </a:extLst>
          </p:cNvPr>
          <p:cNvSpPr txBox="1"/>
          <p:nvPr/>
        </p:nvSpPr>
        <p:spPr>
          <a:xfrm>
            <a:off x="5029200" y="4203700"/>
            <a:ext cx="457200" cy="302647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900" b="1">
                <a:solidFill>
                  <a:srgbClr val="0B3D91"/>
                </a:solidFill>
                <a:latin typeface="Aptos" panose="020B0004020202020204" pitchFamily="34" charset="0"/>
              </a:rPr>
              <a:t>4594957.4M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29CB704-9E58-AD03-BC07-633085699987}"/>
              </a:ext>
            </a:extLst>
          </p:cNvPr>
          <p:cNvSpPr txBox="1"/>
          <p:nvPr/>
        </p:nvSpPr>
        <p:spPr>
          <a:xfrm>
            <a:off x="914400" y="4699000"/>
            <a:ext cx="1143000" cy="17184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950">
                <a:solidFill>
                  <a:srgbClr val="17365D"/>
                </a:solidFill>
                <a:latin typeface="Aptos" panose="020B0004020202020204" pitchFamily="34" charset="0"/>
              </a:rPr>
              <a:t>Checking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862B724-FA3B-36F1-9222-02FE22466509}"/>
              </a:ext>
            </a:extLst>
          </p:cNvPr>
          <p:cNvSpPr/>
          <p:nvPr/>
        </p:nvSpPr>
        <p:spPr>
          <a:xfrm>
            <a:off x="2146300" y="4762500"/>
            <a:ext cx="2832100" cy="292100"/>
          </a:xfrm>
          <a:prstGeom prst="rect">
            <a:avLst/>
          </a:prstGeom>
          <a:solidFill>
            <a:srgbClr val="FFEEDC"/>
          </a:solidFill>
          <a:ln w="12700" cap="flat" cmpd="sng" algn="ctr">
            <a:solidFill>
              <a:srgbClr val="FFEEDC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45792D4-DEFA-7336-A4E9-E52996E3062A}"/>
              </a:ext>
            </a:extLst>
          </p:cNvPr>
          <p:cNvSpPr/>
          <p:nvPr/>
        </p:nvSpPr>
        <p:spPr>
          <a:xfrm>
            <a:off x="2146300" y="4762500"/>
            <a:ext cx="2260600" cy="2921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11CE1B-E0C0-DD56-58AA-4EA2D01A16CA}"/>
              </a:ext>
            </a:extLst>
          </p:cNvPr>
          <p:cNvSpPr txBox="1"/>
          <p:nvPr/>
        </p:nvSpPr>
        <p:spPr>
          <a:xfrm>
            <a:off x="5029200" y="4699000"/>
            <a:ext cx="457200" cy="302647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900" b="1">
                <a:solidFill>
                  <a:srgbClr val="0B3D91"/>
                </a:solidFill>
                <a:latin typeface="Aptos" panose="020B0004020202020204" pitchFamily="34" charset="0"/>
              </a:rPr>
              <a:t>4430340.5M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46C17F0-E514-BA90-8C66-5594952EF1C4}"/>
              </a:ext>
            </a:extLst>
          </p:cNvPr>
          <p:cNvSpPr/>
          <p:nvPr/>
        </p:nvSpPr>
        <p:spPr>
          <a:xfrm>
            <a:off x="6350000" y="2463800"/>
            <a:ext cx="5168900" cy="3149600"/>
          </a:xfrm>
          <a:prstGeom prst="rect">
            <a:avLst/>
          </a:prstGeom>
          <a:solidFill>
            <a:srgbClr val="0B3D91"/>
          </a:solidFill>
          <a:ln w="12700" cap="flat" cmpd="sng" algn="ctr">
            <a:solidFill>
              <a:srgbClr val="0B3D9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AFDD3C-8012-3A8F-F22B-5E2C595A071C}"/>
              </a:ext>
            </a:extLst>
          </p:cNvPr>
          <p:cNvSpPr txBox="1"/>
          <p:nvPr/>
        </p:nvSpPr>
        <p:spPr>
          <a:xfrm>
            <a:off x="6654800" y="2755900"/>
            <a:ext cx="4394200" cy="271869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600" b="1">
                <a:solidFill>
                  <a:srgbClr val="FFFFFF"/>
                </a:solidFill>
                <a:latin typeface="Aptos Display" panose="020B0004020202020204" pitchFamily="34" charset="0"/>
              </a:rPr>
              <a:t>Balance bands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96BC8E-5231-8D8A-64F0-08B87EE15C4E}"/>
              </a:ext>
            </a:extLst>
          </p:cNvPr>
          <p:cNvSpPr txBox="1"/>
          <p:nvPr/>
        </p:nvSpPr>
        <p:spPr>
          <a:xfrm>
            <a:off x="6388100" y="3235276"/>
            <a:ext cx="1397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25K–39,999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F19F1FE-5789-B491-4AA2-6AE53B28F244}"/>
              </a:ext>
            </a:extLst>
          </p:cNvPr>
          <p:cNvSpPr/>
          <p:nvPr/>
        </p:nvSpPr>
        <p:spPr>
          <a:xfrm>
            <a:off x="7886700" y="3289300"/>
            <a:ext cx="2692400" cy="279400"/>
          </a:xfrm>
          <a:prstGeom prst="rect">
            <a:avLst/>
          </a:prstGeom>
          <a:solidFill>
            <a:srgbClr val="FFEEDC"/>
          </a:solidFill>
          <a:ln w="12700" cap="flat" cmpd="sng" algn="ctr">
            <a:solidFill>
              <a:srgbClr val="FFEEDC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4C6FCDF-BAB5-FB43-946B-6A7AECBAC017}"/>
              </a:ext>
            </a:extLst>
          </p:cNvPr>
          <p:cNvSpPr/>
          <p:nvPr/>
        </p:nvSpPr>
        <p:spPr>
          <a:xfrm>
            <a:off x="7886700" y="3289300"/>
            <a:ext cx="2692400" cy="279400"/>
          </a:xfrm>
          <a:prstGeom prst="rect">
            <a:avLst/>
          </a:prstGeom>
          <a:solidFill>
            <a:srgbClr val="00A3E0"/>
          </a:solidFill>
          <a:ln w="12700" cap="flat" cmpd="sng" algn="ctr">
            <a:solidFill>
              <a:srgbClr val="00A3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52D032B-7587-15B5-2251-FE48A4219F9C}"/>
              </a:ext>
            </a:extLst>
          </p:cNvPr>
          <p:cNvSpPr txBox="1"/>
          <p:nvPr/>
        </p:nvSpPr>
        <p:spPr>
          <a:xfrm>
            <a:off x="10629900" y="3213100"/>
            <a:ext cx="457200" cy="164148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900" b="1">
                <a:solidFill>
                  <a:srgbClr val="0B3D91"/>
                </a:solidFill>
                <a:latin typeface="Aptos" panose="020B0004020202020204" pitchFamily="34" charset="0"/>
              </a:rPr>
              <a:t>224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0836584-EA82-6D1C-E995-7F1F24FC09F5}"/>
              </a:ext>
            </a:extLst>
          </p:cNvPr>
          <p:cNvSpPr txBox="1"/>
          <p:nvPr/>
        </p:nvSpPr>
        <p:spPr>
          <a:xfrm>
            <a:off x="6388099" y="3683875"/>
            <a:ext cx="1397001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10K–24,999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B0329EF-5ACF-2C5F-1841-DFF473E38273}"/>
              </a:ext>
            </a:extLst>
          </p:cNvPr>
          <p:cNvSpPr/>
          <p:nvPr/>
        </p:nvSpPr>
        <p:spPr>
          <a:xfrm>
            <a:off x="7886700" y="3771900"/>
            <a:ext cx="2692400" cy="279400"/>
          </a:xfrm>
          <a:prstGeom prst="rect">
            <a:avLst/>
          </a:prstGeom>
          <a:solidFill>
            <a:srgbClr val="FFEEDC"/>
          </a:solidFill>
          <a:ln w="12700" cap="flat" cmpd="sng" algn="ctr">
            <a:solidFill>
              <a:srgbClr val="FFEEDC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C2596E4-C592-99C9-D1DF-DD1E3EB15EDB}"/>
              </a:ext>
            </a:extLst>
          </p:cNvPr>
          <p:cNvSpPr/>
          <p:nvPr/>
        </p:nvSpPr>
        <p:spPr>
          <a:xfrm>
            <a:off x="7886700" y="3771900"/>
            <a:ext cx="2654300" cy="279400"/>
          </a:xfrm>
          <a:prstGeom prst="rect">
            <a:avLst/>
          </a:prstGeom>
          <a:solidFill>
            <a:srgbClr val="00A3E0"/>
          </a:solidFill>
          <a:ln w="12700" cap="flat" cmpd="sng" algn="ctr">
            <a:solidFill>
              <a:srgbClr val="00A3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4D21D3B-E49A-A3CE-22CD-C032790EE629}"/>
              </a:ext>
            </a:extLst>
          </p:cNvPr>
          <p:cNvSpPr txBox="1"/>
          <p:nvPr/>
        </p:nvSpPr>
        <p:spPr>
          <a:xfrm>
            <a:off x="10629900" y="3695700"/>
            <a:ext cx="457200" cy="164148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900" b="1">
                <a:solidFill>
                  <a:srgbClr val="0B3D91"/>
                </a:solidFill>
                <a:latin typeface="Aptos" panose="020B0004020202020204" pitchFamily="34" charset="0"/>
              </a:rPr>
              <a:t>220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6ED87A6-B373-E5BE-BCED-B6026D70233D}"/>
              </a:ext>
            </a:extLst>
          </p:cNvPr>
          <p:cNvSpPr txBox="1"/>
          <p:nvPr/>
        </p:nvSpPr>
        <p:spPr>
          <a:xfrm>
            <a:off x="6464300" y="4257368"/>
            <a:ext cx="11430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40K+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99D4445-058D-8FB2-CC1C-D5D0B82305DB}"/>
              </a:ext>
            </a:extLst>
          </p:cNvPr>
          <p:cNvSpPr/>
          <p:nvPr/>
        </p:nvSpPr>
        <p:spPr>
          <a:xfrm>
            <a:off x="7886700" y="4254500"/>
            <a:ext cx="2692400" cy="279400"/>
          </a:xfrm>
          <a:prstGeom prst="rect">
            <a:avLst/>
          </a:prstGeom>
          <a:solidFill>
            <a:srgbClr val="FFEEDC"/>
          </a:solidFill>
          <a:ln w="12700" cap="flat" cmpd="sng" algn="ctr">
            <a:solidFill>
              <a:srgbClr val="FFEEDC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63E93AA-C26A-DA1B-CA2D-385EF65E8830}"/>
              </a:ext>
            </a:extLst>
          </p:cNvPr>
          <p:cNvSpPr/>
          <p:nvPr/>
        </p:nvSpPr>
        <p:spPr>
          <a:xfrm>
            <a:off x="7886700" y="4254500"/>
            <a:ext cx="2019300" cy="279400"/>
          </a:xfrm>
          <a:prstGeom prst="rect">
            <a:avLst/>
          </a:prstGeom>
          <a:solidFill>
            <a:srgbClr val="00A3E0"/>
          </a:solidFill>
          <a:ln w="12700" cap="flat" cmpd="sng" algn="ctr">
            <a:solidFill>
              <a:srgbClr val="00A3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F1EFE44-749D-5C44-4443-F2BBFBE281B3}"/>
              </a:ext>
            </a:extLst>
          </p:cNvPr>
          <p:cNvSpPr txBox="1"/>
          <p:nvPr/>
        </p:nvSpPr>
        <p:spPr>
          <a:xfrm>
            <a:off x="10629900" y="4178300"/>
            <a:ext cx="457200" cy="164148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900" b="1">
                <a:solidFill>
                  <a:srgbClr val="0B3D91"/>
                </a:solidFill>
                <a:latin typeface="Aptos" panose="020B0004020202020204" pitchFamily="34" charset="0"/>
              </a:rPr>
              <a:t>168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C03D13-D95C-2420-7563-889EF5AD083E}"/>
              </a:ext>
            </a:extLst>
          </p:cNvPr>
          <p:cNvSpPr txBox="1"/>
          <p:nvPr/>
        </p:nvSpPr>
        <p:spPr>
          <a:xfrm>
            <a:off x="6388099" y="4737100"/>
            <a:ext cx="1257301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Below 10K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F21DB59-5124-5847-69DB-32F1BDF87B11}"/>
              </a:ext>
            </a:extLst>
          </p:cNvPr>
          <p:cNvSpPr/>
          <p:nvPr/>
        </p:nvSpPr>
        <p:spPr>
          <a:xfrm>
            <a:off x="7886700" y="4737100"/>
            <a:ext cx="2692400" cy="279400"/>
          </a:xfrm>
          <a:prstGeom prst="rect">
            <a:avLst/>
          </a:prstGeom>
          <a:solidFill>
            <a:srgbClr val="FFEEDC"/>
          </a:solidFill>
          <a:ln w="12700" cap="flat" cmpd="sng" algn="ctr">
            <a:solidFill>
              <a:srgbClr val="FFEEDC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A77FE94-20E0-4380-64D8-0B76860909B5}"/>
              </a:ext>
            </a:extLst>
          </p:cNvPr>
          <p:cNvSpPr/>
          <p:nvPr/>
        </p:nvSpPr>
        <p:spPr>
          <a:xfrm>
            <a:off x="7886700" y="4737100"/>
            <a:ext cx="2260600" cy="279400"/>
          </a:xfrm>
          <a:prstGeom prst="rect">
            <a:avLst/>
          </a:prstGeom>
          <a:solidFill>
            <a:srgbClr val="00A3E0"/>
          </a:solidFill>
          <a:ln w="12700" cap="flat" cmpd="sng" algn="ctr">
            <a:solidFill>
              <a:srgbClr val="00A3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8691AC6-1DF1-AB8C-A101-EFE919A9D23E}"/>
              </a:ext>
            </a:extLst>
          </p:cNvPr>
          <p:cNvSpPr txBox="1"/>
          <p:nvPr/>
        </p:nvSpPr>
        <p:spPr>
          <a:xfrm>
            <a:off x="10629900" y="4660900"/>
            <a:ext cx="457200" cy="164148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900" b="1">
                <a:solidFill>
                  <a:srgbClr val="0B3D91"/>
                </a:solidFill>
                <a:latin typeface="Aptos" panose="020B0004020202020204" pitchFamily="34" charset="0"/>
              </a:rPr>
              <a:t>188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C8B0A72-D579-6492-747C-E59A49E00BF1}"/>
              </a:ext>
            </a:extLst>
          </p:cNvPr>
          <p:cNvCxnSpPr/>
          <p:nvPr/>
        </p:nvCxnSpPr>
        <p:spPr>
          <a:xfrm>
            <a:off x="508000" y="6477000"/>
            <a:ext cx="11176000" cy="0"/>
          </a:xfrm>
          <a:prstGeom prst="line">
            <a:avLst/>
          </a:prstGeom>
          <a:ln w="10160">
            <a:solidFill>
              <a:srgbClr val="EBE8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4F67F94-97DF-B94F-14F3-C9DB090F9665}"/>
              </a:ext>
            </a:extLst>
          </p:cNvPr>
          <p:cNvSpPr txBox="1"/>
          <p:nvPr/>
        </p:nvSpPr>
        <p:spPr>
          <a:xfrm>
            <a:off x="533400" y="6515100"/>
            <a:ext cx="7950200" cy="14106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750">
                <a:solidFill>
                  <a:srgbClr val="8A969F"/>
                </a:solidFill>
                <a:latin typeface="Aptos" panose="020B0004020202020204" pitchFamily="34" charset="0"/>
              </a:rPr>
              <a:t>Financial Insights in Banking Data using Power BI  |  SOUNAK DEY</a:t>
            </a:r>
            <a:endParaRPr lang="en-IN" sz="75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DD4B33F-4A7D-FCA1-5907-37DFE2502559}"/>
              </a:ext>
            </a:extLst>
          </p:cNvPr>
          <p:cNvSpPr txBox="1"/>
          <p:nvPr/>
        </p:nvSpPr>
        <p:spPr>
          <a:xfrm>
            <a:off x="11150600" y="6489700"/>
            <a:ext cx="508000" cy="148759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800" b="1">
                <a:solidFill>
                  <a:srgbClr val="0B3D91"/>
                </a:solidFill>
                <a:latin typeface="Aptos" panose="020B00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817756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0F5E66-659D-7B8C-C0D5-45DDE63D633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F2FB"/>
          </a:solidFill>
          <a:ln w="12700" cap="flat" cmpd="sng" algn="ctr">
            <a:solidFill>
              <a:srgbClr val="EAF2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6F6459-00D5-5A28-ED94-432627A82E0C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1390FA-DBD9-9141-38E6-84AAD92FA293}"/>
              </a:ext>
            </a:extLst>
          </p:cNvPr>
          <p:cNvSpPr txBox="1"/>
          <p:nvPr/>
        </p:nvSpPr>
        <p:spPr>
          <a:xfrm>
            <a:off x="508000" y="317500"/>
            <a:ext cx="8509000" cy="394980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2400" b="1">
                <a:solidFill>
                  <a:srgbClr val="0B3D91"/>
                </a:solidFill>
                <a:latin typeface="Aptos Display" panose="020B0004020202020204" pitchFamily="34" charset="0"/>
              </a:rPr>
              <a:t>Credit score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7EB923-53DF-1A87-72A3-4212456A266D}"/>
              </a:ext>
            </a:extLst>
          </p:cNvPr>
          <p:cNvSpPr txBox="1"/>
          <p:nvPr/>
        </p:nvSpPr>
        <p:spPr>
          <a:xfrm>
            <a:off x="533400" y="762000"/>
            <a:ext cx="9601200" cy="17184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950">
                <a:solidFill>
                  <a:srgbClr val="8A969F"/>
                </a:solidFill>
                <a:latin typeface="Aptos" panose="020B0004020202020204" pitchFamily="34" charset="0"/>
              </a:rPr>
              <a:t>Credit bands provide a practical risk-monitoring lens</a:t>
            </a:r>
            <a:endParaRPr lang="en-IN" sz="95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7C23A2-D7FF-90E3-1F31-271C099334C7}"/>
              </a:ext>
            </a:extLst>
          </p:cNvPr>
          <p:cNvSpPr/>
          <p:nvPr/>
        </p:nvSpPr>
        <p:spPr>
          <a:xfrm>
            <a:off x="635000" y="1193800"/>
            <a:ext cx="2514600" cy="914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948A7E-CF04-B781-67C2-BB86113CA0F8}"/>
              </a:ext>
            </a:extLst>
          </p:cNvPr>
          <p:cNvSpPr/>
          <p:nvPr/>
        </p:nvSpPr>
        <p:spPr>
          <a:xfrm>
            <a:off x="635000" y="1193800"/>
            <a:ext cx="63500" cy="9144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686585-661B-3BBB-EDF5-9A448B64B709}"/>
              </a:ext>
            </a:extLst>
          </p:cNvPr>
          <p:cNvSpPr txBox="1"/>
          <p:nvPr/>
        </p:nvSpPr>
        <p:spPr>
          <a:xfrm>
            <a:off x="800100" y="1346200"/>
            <a:ext cx="2235200" cy="179536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000">
                <a:solidFill>
                  <a:srgbClr val="8A969F"/>
                </a:solidFill>
                <a:latin typeface="Aptos" panose="020B0004020202020204" pitchFamily="34" charset="0"/>
              </a:rPr>
              <a:t>Average score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892F3-7115-28A4-1406-AF02D16A70A3}"/>
              </a:ext>
            </a:extLst>
          </p:cNvPr>
          <p:cNvSpPr txBox="1"/>
          <p:nvPr/>
        </p:nvSpPr>
        <p:spPr>
          <a:xfrm>
            <a:off x="800100" y="1625600"/>
            <a:ext cx="2235200" cy="37959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2300" b="1">
                <a:solidFill>
                  <a:srgbClr val="0B3D91"/>
                </a:solidFill>
                <a:latin typeface="Aptos Display" panose="020B0004020202020204" pitchFamily="34" charset="0"/>
              </a:rPr>
              <a:t>574.8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612971-2656-5394-B97A-432C1687522E}"/>
              </a:ext>
            </a:extLst>
          </p:cNvPr>
          <p:cNvSpPr/>
          <p:nvPr/>
        </p:nvSpPr>
        <p:spPr>
          <a:xfrm>
            <a:off x="3429000" y="1193800"/>
            <a:ext cx="2514600" cy="914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AC7D0B-E0A6-34F0-E574-5B5FC6A025FA}"/>
              </a:ext>
            </a:extLst>
          </p:cNvPr>
          <p:cNvSpPr/>
          <p:nvPr/>
        </p:nvSpPr>
        <p:spPr>
          <a:xfrm>
            <a:off x="3429000" y="1193800"/>
            <a:ext cx="63500" cy="914400"/>
          </a:xfrm>
          <a:prstGeom prst="rect">
            <a:avLst/>
          </a:prstGeom>
          <a:solidFill>
            <a:srgbClr val="C62828"/>
          </a:solidFill>
          <a:ln w="12700" cap="flat" cmpd="sng" algn="ctr">
            <a:solidFill>
              <a:srgbClr val="C6282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B37518-D544-CB2A-E906-47CE20EA20BF}"/>
              </a:ext>
            </a:extLst>
          </p:cNvPr>
          <p:cNvSpPr txBox="1"/>
          <p:nvPr/>
        </p:nvSpPr>
        <p:spPr>
          <a:xfrm>
            <a:off x="3594100" y="1346200"/>
            <a:ext cx="2235200" cy="179536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000">
                <a:solidFill>
                  <a:srgbClr val="8A969F"/>
                </a:solidFill>
                <a:latin typeface="Aptos" panose="020B0004020202020204" pitchFamily="34" charset="0"/>
              </a:rPr>
              <a:t>Minimum score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6827EA-07EF-B02B-A5D5-DCBF41403D68}"/>
              </a:ext>
            </a:extLst>
          </p:cNvPr>
          <p:cNvSpPr txBox="1"/>
          <p:nvPr/>
        </p:nvSpPr>
        <p:spPr>
          <a:xfrm>
            <a:off x="3594100" y="1625600"/>
            <a:ext cx="2235200" cy="37959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2300" b="1">
                <a:solidFill>
                  <a:srgbClr val="0B3D91"/>
                </a:solidFill>
                <a:latin typeface="Aptos Display" panose="020B0004020202020204" pitchFamily="34" charset="0"/>
              </a:rPr>
              <a:t>300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1E616-56F6-7019-4662-EF9F5D0D179C}"/>
              </a:ext>
            </a:extLst>
          </p:cNvPr>
          <p:cNvSpPr/>
          <p:nvPr/>
        </p:nvSpPr>
        <p:spPr>
          <a:xfrm>
            <a:off x="6223000" y="1193800"/>
            <a:ext cx="2514600" cy="914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AC39A8-2854-E61F-6E5C-D671E19F6739}"/>
              </a:ext>
            </a:extLst>
          </p:cNvPr>
          <p:cNvSpPr/>
          <p:nvPr/>
        </p:nvSpPr>
        <p:spPr>
          <a:xfrm>
            <a:off x="6223000" y="1193800"/>
            <a:ext cx="63500" cy="914400"/>
          </a:xfrm>
          <a:prstGeom prst="rect">
            <a:avLst/>
          </a:prstGeom>
          <a:solidFill>
            <a:srgbClr val="2E8B57"/>
          </a:solidFill>
          <a:ln w="12700" cap="flat" cmpd="sng" algn="ctr">
            <a:solidFill>
              <a:srgbClr val="2E8B57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4389EE-4C19-816C-D27A-C774B352CBEE}"/>
              </a:ext>
            </a:extLst>
          </p:cNvPr>
          <p:cNvSpPr txBox="1"/>
          <p:nvPr/>
        </p:nvSpPr>
        <p:spPr>
          <a:xfrm>
            <a:off x="6388100" y="1346200"/>
            <a:ext cx="2235200" cy="179536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000">
                <a:solidFill>
                  <a:srgbClr val="8A969F"/>
                </a:solidFill>
                <a:latin typeface="Aptos" panose="020B0004020202020204" pitchFamily="34" charset="0"/>
              </a:rPr>
              <a:t>Maximum score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0292EF-AA16-8C43-330F-B96F3379989F}"/>
              </a:ext>
            </a:extLst>
          </p:cNvPr>
          <p:cNvSpPr txBox="1"/>
          <p:nvPr/>
        </p:nvSpPr>
        <p:spPr>
          <a:xfrm>
            <a:off x="6388100" y="1625600"/>
            <a:ext cx="2235200" cy="37959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2300" b="1">
                <a:solidFill>
                  <a:srgbClr val="0B3D91"/>
                </a:solidFill>
                <a:latin typeface="Aptos Display" panose="020B0004020202020204" pitchFamily="34" charset="0"/>
              </a:rPr>
              <a:t>849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49BD8A-D777-83E6-04A3-F011DFE3B43D}"/>
              </a:ext>
            </a:extLst>
          </p:cNvPr>
          <p:cNvSpPr/>
          <p:nvPr/>
        </p:nvSpPr>
        <p:spPr>
          <a:xfrm>
            <a:off x="9004300" y="1193800"/>
            <a:ext cx="2514600" cy="914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55805B-1108-AC0F-524B-B3FC91AB90E5}"/>
              </a:ext>
            </a:extLst>
          </p:cNvPr>
          <p:cNvSpPr/>
          <p:nvPr/>
        </p:nvSpPr>
        <p:spPr>
          <a:xfrm>
            <a:off x="9004300" y="1193800"/>
            <a:ext cx="63500" cy="914400"/>
          </a:xfrm>
          <a:prstGeom prst="rect">
            <a:avLst/>
          </a:prstGeom>
          <a:solidFill>
            <a:srgbClr val="F2B705"/>
          </a:solidFill>
          <a:ln w="12700" cap="flat" cmpd="sng" algn="ctr">
            <a:solidFill>
              <a:srgbClr val="F2B705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EC094E-99E3-4484-65A9-A7D70E937B0E}"/>
              </a:ext>
            </a:extLst>
          </p:cNvPr>
          <p:cNvSpPr txBox="1"/>
          <p:nvPr/>
        </p:nvSpPr>
        <p:spPr>
          <a:xfrm>
            <a:off x="9169400" y="1346200"/>
            <a:ext cx="2235200" cy="179536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000">
                <a:solidFill>
                  <a:srgbClr val="8A969F"/>
                </a:solidFill>
                <a:latin typeface="Aptos" panose="020B0004020202020204" pitchFamily="34" charset="0"/>
              </a:rPr>
              <a:t>740+ band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D15B9F-76A0-7740-67A0-6591A93D74A1}"/>
              </a:ext>
            </a:extLst>
          </p:cNvPr>
          <p:cNvSpPr txBox="1"/>
          <p:nvPr/>
        </p:nvSpPr>
        <p:spPr>
          <a:xfrm>
            <a:off x="9169400" y="1625600"/>
            <a:ext cx="2235200" cy="37959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2300" b="1">
                <a:solidFill>
                  <a:srgbClr val="0B3D91"/>
                </a:solidFill>
                <a:latin typeface="Aptos Display" panose="020B0004020202020204" pitchFamily="34" charset="0"/>
              </a:rPr>
              <a:t>165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6AD94B-0CEA-F4EF-7EDF-57F6E3576F1C}"/>
              </a:ext>
            </a:extLst>
          </p:cNvPr>
          <p:cNvSpPr/>
          <p:nvPr/>
        </p:nvSpPr>
        <p:spPr>
          <a:xfrm>
            <a:off x="609600" y="2476500"/>
            <a:ext cx="5486400" cy="3149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35D6F6-E47D-9430-893F-46AD519FD41E}"/>
              </a:ext>
            </a:extLst>
          </p:cNvPr>
          <p:cNvSpPr txBox="1"/>
          <p:nvPr/>
        </p:nvSpPr>
        <p:spPr>
          <a:xfrm>
            <a:off x="914400" y="2755900"/>
            <a:ext cx="4660900" cy="271869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600" b="1">
                <a:solidFill>
                  <a:srgbClr val="0B3D91"/>
                </a:solidFill>
                <a:latin typeface="Aptos Display" panose="020B0004020202020204" pitchFamily="34" charset="0"/>
              </a:rPr>
              <a:t>Credit-score distribution (800 accounts)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EA6D93-EC41-18E6-CCA0-5D148979DE26}"/>
              </a:ext>
            </a:extLst>
          </p:cNvPr>
          <p:cNvSpPr txBox="1"/>
          <p:nvPr/>
        </p:nvSpPr>
        <p:spPr>
          <a:xfrm>
            <a:off x="819150" y="3348968"/>
            <a:ext cx="1143000" cy="18723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050" dirty="0">
                <a:solidFill>
                  <a:srgbClr val="17365D"/>
                </a:solidFill>
                <a:latin typeface="Aptos" panose="020B0004020202020204" pitchFamily="34" charset="0"/>
              </a:rPr>
              <a:t>Below 580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D736F9-7180-E41F-BDD9-2FAC5C407501}"/>
              </a:ext>
            </a:extLst>
          </p:cNvPr>
          <p:cNvSpPr/>
          <p:nvPr/>
        </p:nvSpPr>
        <p:spPr>
          <a:xfrm>
            <a:off x="2146300" y="3289300"/>
            <a:ext cx="2971800" cy="279400"/>
          </a:xfrm>
          <a:prstGeom prst="rect">
            <a:avLst/>
          </a:prstGeom>
          <a:solidFill>
            <a:srgbClr val="FFEEDC"/>
          </a:solidFill>
          <a:ln w="12700" cap="flat" cmpd="sng" algn="ctr">
            <a:solidFill>
              <a:srgbClr val="FFEEDC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A7FF82-BDE2-AAA5-7B42-CE64303BB063}"/>
              </a:ext>
            </a:extLst>
          </p:cNvPr>
          <p:cNvSpPr/>
          <p:nvPr/>
        </p:nvSpPr>
        <p:spPr>
          <a:xfrm>
            <a:off x="2146300" y="3289300"/>
            <a:ext cx="2971800" cy="279400"/>
          </a:xfrm>
          <a:prstGeom prst="rect">
            <a:avLst/>
          </a:prstGeom>
          <a:solidFill>
            <a:srgbClr val="C62828"/>
          </a:solidFill>
          <a:ln w="12700" cap="flat" cmpd="sng" algn="ctr">
            <a:solidFill>
              <a:srgbClr val="C6282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2F2A3B-0555-247D-FABA-BBAA37BFA32A}"/>
              </a:ext>
            </a:extLst>
          </p:cNvPr>
          <p:cNvSpPr txBox="1"/>
          <p:nvPr/>
        </p:nvSpPr>
        <p:spPr>
          <a:xfrm>
            <a:off x="5168900" y="3213100"/>
            <a:ext cx="457200" cy="164148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900" b="1">
                <a:solidFill>
                  <a:srgbClr val="0B3D91"/>
                </a:solidFill>
                <a:latin typeface="Aptos" panose="020B0004020202020204" pitchFamily="34" charset="0"/>
              </a:rPr>
              <a:t>416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C3BFDA-9070-B640-A380-326DB9CBD4FE}"/>
              </a:ext>
            </a:extLst>
          </p:cNvPr>
          <p:cNvSpPr txBox="1"/>
          <p:nvPr/>
        </p:nvSpPr>
        <p:spPr>
          <a:xfrm>
            <a:off x="914400" y="3834046"/>
            <a:ext cx="1143000" cy="19492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100" dirty="0">
                <a:solidFill>
                  <a:srgbClr val="17365D"/>
                </a:solidFill>
                <a:latin typeface="Aptos" panose="020B0004020202020204" pitchFamily="34" charset="0"/>
              </a:rPr>
              <a:t>740</a:t>
            </a:r>
            <a:r>
              <a:rPr lang="en-IN" sz="1050" dirty="0">
                <a:solidFill>
                  <a:srgbClr val="17365D"/>
                </a:solidFill>
                <a:latin typeface="Aptos" panose="020B0004020202020204" pitchFamily="34" charset="0"/>
              </a:rPr>
              <a:t>+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B90E4E-4D66-BAF1-43EC-6DF81DF05A72}"/>
              </a:ext>
            </a:extLst>
          </p:cNvPr>
          <p:cNvSpPr/>
          <p:nvPr/>
        </p:nvSpPr>
        <p:spPr>
          <a:xfrm>
            <a:off x="2146300" y="3771900"/>
            <a:ext cx="2971800" cy="279400"/>
          </a:xfrm>
          <a:prstGeom prst="rect">
            <a:avLst/>
          </a:prstGeom>
          <a:solidFill>
            <a:srgbClr val="FFEEDC"/>
          </a:solidFill>
          <a:ln w="12700" cap="flat" cmpd="sng" algn="ctr">
            <a:solidFill>
              <a:srgbClr val="FFEEDC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D53CD68-3306-16ED-6C7E-6FFB76528021}"/>
              </a:ext>
            </a:extLst>
          </p:cNvPr>
          <p:cNvSpPr/>
          <p:nvPr/>
        </p:nvSpPr>
        <p:spPr>
          <a:xfrm>
            <a:off x="2146300" y="3771900"/>
            <a:ext cx="1181100" cy="279400"/>
          </a:xfrm>
          <a:prstGeom prst="rect">
            <a:avLst/>
          </a:prstGeom>
          <a:solidFill>
            <a:srgbClr val="C62828"/>
          </a:solidFill>
          <a:ln w="12700" cap="flat" cmpd="sng" algn="ctr">
            <a:solidFill>
              <a:srgbClr val="C6282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A61828-62C6-CD1E-45C9-34F8B1E9C358}"/>
              </a:ext>
            </a:extLst>
          </p:cNvPr>
          <p:cNvSpPr txBox="1"/>
          <p:nvPr/>
        </p:nvSpPr>
        <p:spPr>
          <a:xfrm>
            <a:off x="5168900" y="3695700"/>
            <a:ext cx="457200" cy="164148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900" b="1">
                <a:solidFill>
                  <a:srgbClr val="0B3D91"/>
                </a:solidFill>
                <a:latin typeface="Aptos" panose="020B0004020202020204" pitchFamily="34" charset="0"/>
              </a:rPr>
              <a:t>165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8E9F9C-58D1-D921-CDC2-17942AC6CC53}"/>
              </a:ext>
            </a:extLst>
          </p:cNvPr>
          <p:cNvSpPr txBox="1"/>
          <p:nvPr/>
        </p:nvSpPr>
        <p:spPr>
          <a:xfrm>
            <a:off x="819150" y="4325685"/>
            <a:ext cx="1143000" cy="19492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100" dirty="0">
                <a:solidFill>
                  <a:srgbClr val="17365D"/>
                </a:solidFill>
                <a:latin typeface="Aptos" panose="020B0004020202020204" pitchFamily="34" charset="0"/>
              </a:rPr>
              <a:t>580–669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B351767-B714-70E5-0FF2-F4ACE32BAB11}"/>
              </a:ext>
            </a:extLst>
          </p:cNvPr>
          <p:cNvSpPr/>
          <p:nvPr/>
        </p:nvSpPr>
        <p:spPr>
          <a:xfrm>
            <a:off x="2146300" y="4254500"/>
            <a:ext cx="2971800" cy="279400"/>
          </a:xfrm>
          <a:prstGeom prst="rect">
            <a:avLst/>
          </a:prstGeom>
          <a:solidFill>
            <a:srgbClr val="FFEEDC"/>
          </a:solidFill>
          <a:ln w="12700" cap="flat" cmpd="sng" algn="ctr">
            <a:solidFill>
              <a:srgbClr val="FFEEDC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F39D896-9384-85C0-76BD-F9156788C223}"/>
              </a:ext>
            </a:extLst>
          </p:cNvPr>
          <p:cNvSpPr/>
          <p:nvPr/>
        </p:nvSpPr>
        <p:spPr>
          <a:xfrm>
            <a:off x="2146300" y="4254500"/>
            <a:ext cx="863600" cy="279400"/>
          </a:xfrm>
          <a:prstGeom prst="rect">
            <a:avLst/>
          </a:prstGeom>
          <a:solidFill>
            <a:srgbClr val="C62828"/>
          </a:solidFill>
          <a:ln w="12700" cap="flat" cmpd="sng" algn="ctr">
            <a:solidFill>
              <a:srgbClr val="C6282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6722770-18D7-9A63-5614-F47C2F200FDC}"/>
              </a:ext>
            </a:extLst>
          </p:cNvPr>
          <p:cNvSpPr txBox="1"/>
          <p:nvPr/>
        </p:nvSpPr>
        <p:spPr>
          <a:xfrm>
            <a:off x="5168900" y="4178300"/>
            <a:ext cx="457200" cy="164148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900" b="1">
                <a:solidFill>
                  <a:srgbClr val="0B3D91"/>
                </a:solidFill>
                <a:latin typeface="Aptos" panose="020B0004020202020204" pitchFamily="34" charset="0"/>
              </a:rPr>
              <a:t>121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FA0CA4-4836-51FA-7A46-47982C0B0C75}"/>
              </a:ext>
            </a:extLst>
          </p:cNvPr>
          <p:cNvSpPr txBox="1"/>
          <p:nvPr/>
        </p:nvSpPr>
        <p:spPr>
          <a:xfrm>
            <a:off x="866775" y="4816271"/>
            <a:ext cx="123825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lang="en-IN" sz="1100" dirty="0">
                <a:solidFill>
                  <a:srgbClr val="17365D"/>
                </a:solidFill>
                <a:latin typeface="Aptos" panose="020B0004020202020204" pitchFamily="34" charset="0"/>
              </a:rPr>
              <a:t>670–739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526EE86-57EF-2260-96C7-EED2829679FB}"/>
              </a:ext>
            </a:extLst>
          </p:cNvPr>
          <p:cNvSpPr/>
          <p:nvPr/>
        </p:nvSpPr>
        <p:spPr>
          <a:xfrm>
            <a:off x="2146300" y="4737100"/>
            <a:ext cx="2971800" cy="279400"/>
          </a:xfrm>
          <a:prstGeom prst="rect">
            <a:avLst/>
          </a:prstGeom>
          <a:solidFill>
            <a:srgbClr val="FFEEDC"/>
          </a:solidFill>
          <a:ln w="12700" cap="flat" cmpd="sng" algn="ctr">
            <a:solidFill>
              <a:srgbClr val="FFEEDC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2CF822D-9E2C-2C30-9D2C-D99B6FE974B5}"/>
              </a:ext>
            </a:extLst>
          </p:cNvPr>
          <p:cNvSpPr/>
          <p:nvPr/>
        </p:nvSpPr>
        <p:spPr>
          <a:xfrm>
            <a:off x="2146300" y="4737100"/>
            <a:ext cx="698500" cy="279400"/>
          </a:xfrm>
          <a:prstGeom prst="rect">
            <a:avLst/>
          </a:prstGeom>
          <a:solidFill>
            <a:srgbClr val="C62828"/>
          </a:solidFill>
          <a:ln w="12700" cap="flat" cmpd="sng" algn="ctr">
            <a:solidFill>
              <a:srgbClr val="C6282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ECC434A-9047-CCCF-4309-D4F8428AEA04}"/>
              </a:ext>
            </a:extLst>
          </p:cNvPr>
          <p:cNvSpPr txBox="1"/>
          <p:nvPr/>
        </p:nvSpPr>
        <p:spPr>
          <a:xfrm>
            <a:off x="5168900" y="4660900"/>
            <a:ext cx="457200" cy="164148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900" b="1">
                <a:solidFill>
                  <a:srgbClr val="0B3D91"/>
                </a:solidFill>
                <a:latin typeface="Aptos" panose="020B0004020202020204" pitchFamily="34" charset="0"/>
              </a:rPr>
              <a:t>98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E940FA3-3942-F0DB-9BDB-F47759352D10}"/>
              </a:ext>
            </a:extLst>
          </p:cNvPr>
          <p:cNvSpPr/>
          <p:nvPr/>
        </p:nvSpPr>
        <p:spPr>
          <a:xfrm>
            <a:off x="6400800" y="2463800"/>
            <a:ext cx="5118100" cy="3149600"/>
          </a:xfrm>
          <a:prstGeom prst="rect">
            <a:avLst/>
          </a:prstGeom>
          <a:solidFill>
            <a:srgbClr val="0B3D91"/>
          </a:solidFill>
          <a:ln w="12700" cap="flat" cmpd="sng" algn="ctr">
            <a:solidFill>
              <a:srgbClr val="0B3D9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0BFB76-B3F7-5BCC-A3F7-5817C13BD1A2}"/>
              </a:ext>
            </a:extLst>
          </p:cNvPr>
          <p:cNvSpPr txBox="1"/>
          <p:nvPr/>
        </p:nvSpPr>
        <p:spPr>
          <a:xfrm>
            <a:off x="6692900" y="2755900"/>
            <a:ext cx="4394200" cy="271869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600" b="1">
                <a:solidFill>
                  <a:srgbClr val="FFFFFF"/>
                </a:solidFill>
                <a:latin typeface="Aptos Display" panose="020B0004020202020204" pitchFamily="34" charset="0"/>
              </a:rPr>
              <a:t>Interpretation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8042D74-EE38-CBA4-C82C-8A36EDD115BD}"/>
              </a:ext>
            </a:extLst>
          </p:cNvPr>
          <p:cNvSpPr/>
          <p:nvPr/>
        </p:nvSpPr>
        <p:spPr>
          <a:xfrm>
            <a:off x="6718300" y="33528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36101A2-7C24-0EF0-C239-B8CF0F6AE16B}"/>
              </a:ext>
            </a:extLst>
          </p:cNvPr>
          <p:cNvSpPr txBox="1"/>
          <p:nvPr/>
        </p:nvSpPr>
        <p:spPr>
          <a:xfrm>
            <a:off x="6883400" y="3251200"/>
            <a:ext cx="40894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The below-580 band is the largest observed group (416)</a:t>
            </a:r>
            <a:endParaRPr lang="en-IN" sz="12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61B19C2-EECD-4175-D4D9-8CE7A8D0F261}"/>
              </a:ext>
            </a:extLst>
          </p:cNvPr>
          <p:cNvSpPr/>
          <p:nvPr/>
        </p:nvSpPr>
        <p:spPr>
          <a:xfrm>
            <a:off x="6718300" y="37465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4EF81A-0924-0E28-8303-57344288EB16}"/>
              </a:ext>
            </a:extLst>
          </p:cNvPr>
          <p:cNvSpPr txBox="1"/>
          <p:nvPr/>
        </p:nvSpPr>
        <p:spPr>
          <a:xfrm>
            <a:off x="6883400" y="3644900"/>
            <a:ext cx="4089400" cy="394980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The 740+ group contains 165 accounts and can support premium-service targeting</a:t>
            </a:r>
            <a:endParaRPr lang="en-IN" sz="12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25614F6-8489-4E25-C018-EE1DF495E4AE}"/>
              </a:ext>
            </a:extLst>
          </p:cNvPr>
          <p:cNvSpPr/>
          <p:nvPr/>
        </p:nvSpPr>
        <p:spPr>
          <a:xfrm>
            <a:off x="6718300" y="41402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CD862AF-B777-B13B-30E8-C2E00ED0C686}"/>
              </a:ext>
            </a:extLst>
          </p:cNvPr>
          <p:cNvSpPr txBox="1"/>
          <p:nvPr/>
        </p:nvSpPr>
        <p:spPr>
          <a:xfrm>
            <a:off x="6883400" y="4038600"/>
            <a:ext cx="4089400" cy="394980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Score bands should be combined with balance and activity before credit decisions</a:t>
            </a:r>
            <a:endParaRPr lang="en-IN" sz="12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A634E73-CDE3-7623-3B92-4A02CFE3EACA}"/>
              </a:ext>
            </a:extLst>
          </p:cNvPr>
          <p:cNvCxnSpPr/>
          <p:nvPr/>
        </p:nvCxnSpPr>
        <p:spPr>
          <a:xfrm>
            <a:off x="508000" y="6477000"/>
            <a:ext cx="11176000" cy="0"/>
          </a:xfrm>
          <a:prstGeom prst="line">
            <a:avLst/>
          </a:prstGeom>
          <a:ln w="10160">
            <a:solidFill>
              <a:srgbClr val="EBE8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2382F44-BC7F-469A-4E72-F75E8F128896}"/>
              </a:ext>
            </a:extLst>
          </p:cNvPr>
          <p:cNvSpPr txBox="1"/>
          <p:nvPr/>
        </p:nvSpPr>
        <p:spPr>
          <a:xfrm>
            <a:off x="533400" y="6515100"/>
            <a:ext cx="7950200" cy="14106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750">
                <a:solidFill>
                  <a:srgbClr val="8A969F"/>
                </a:solidFill>
                <a:latin typeface="Aptos" panose="020B0004020202020204" pitchFamily="34" charset="0"/>
              </a:rPr>
              <a:t>Financial Insights in Banking Data using Power BI  |  SOUNAK DEY</a:t>
            </a:r>
            <a:endParaRPr lang="en-IN" sz="75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03E81C8-2A70-9B25-B9A3-6F6F741B9421}"/>
              </a:ext>
            </a:extLst>
          </p:cNvPr>
          <p:cNvSpPr txBox="1"/>
          <p:nvPr/>
        </p:nvSpPr>
        <p:spPr>
          <a:xfrm>
            <a:off x="11150600" y="6489700"/>
            <a:ext cx="508000" cy="148759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800" b="1">
                <a:solidFill>
                  <a:srgbClr val="0B3D91"/>
                </a:solidFill>
                <a:latin typeface="Aptos" panose="020B0004020202020204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42332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F631DB-304D-CE93-400D-23AD27A58A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E0AA55-76EF-52EF-61AB-EB7EE4D48A2B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BE4F01-5557-EDAB-1184-B5BC48DD15CE}"/>
              </a:ext>
            </a:extLst>
          </p:cNvPr>
          <p:cNvSpPr txBox="1"/>
          <p:nvPr/>
        </p:nvSpPr>
        <p:spPr>
          <a:xfrm>
            <a:off x="508000" y="317500"/>
            <a:ext cx="85090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 b="1">
                <a:solidFill>
                  <a:srgbClr val="0B3D91"/>
                </a:solidFill>
                <a:latin typeface="Aptos Display" panose="020B0004020202020204" pitchFamily="34" charset="0"/>
              </a:rPr>
              <a:t>Income &amp; customer value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593368-FC53-E02D-6474-997C43B2DA0A}"/>
              </a:ext>
            </a:extLst>
          </p:cNvPr>
          <p:cNvSpPr txBox="1"/>
          <p:nvPr/>
        </p:nvSpPr>
        <p:spPr>
          <a:xfrm>
            <a:off x="533400" y="762000"/>
            <a:ext cx="96012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>
                <a:solidFill>
                  <a:srgbClr val="8A969F"/>
                </a:solidFill>
                <a:latin typeface="Aptos" panose="020B0004020202020204" pitchFamily="34" charset="0"/>
              </a:rPr>
              <a:t>The supplied account file contains financial-value proxies rather than a dedicated income field</a:t>
            </a:r>
            <a:endParaRPr lang="en-IN" sz="120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9248AB-7D62-CEA1-02A5-893448C4C718}"/>
              </a:ext>
            </a:extLst>
          </p:cNvPr>
          <p:cNvSpPr/>
          <p:nvPr/>
        </p:nvSpPr>
        <p:spPr>
          <a:xfrm>
            <a:off x="635000" y="1231900"/>
            <a:ext cx="5346700" cy="4521200"/>
          </a:xfrm>
          <a:prstGeom prst="rect">
            <a:avLst/>
          </a:prstGeom>
          <a:solidFill>
            <a:srgbClr val="EAF2FB"/>
          </a:solidFill>
          <a:ln w="12700" cap="flat" cmpd="sng" algn="ctr">
            <a:solidFill>
              <a:srgbClr val="EAF2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C22D83-62BD-ADCE-C199-0AEC337D54B9}"/>
              </a:ext>
            </a:extLst>
          </p:cNvPr>
          <p:cNvSpPr txBox="1"/>
          <p:nvPr/>
        </p:nvSpPr>
        <p:spPr>
          <a:xfrm>
            <a:off x="927100" y="1549400"/>
            <a:ext cx="43942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 b="1">
                <a:solidFill>
                  <a:srgbClr val="0B3D91"/>
                </a:solidFill>
                <a:latin typeface="Aptos Display" panose="020B0004020202020204" pitchFamily="34" charset="0"/>
              </a:rPr>
              <a:t>Available value proxies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633B6A-51CD-A583-A861-AE5372B7BA23}"/>
              </a:ext>
            </a:extLst>
          </p:cNvPr>
          <p:cNvSpPr/>
          <p:nvPr/>
        </p:nvSpPr>
        <p:spPr>
          <a:xfrm>
            <a:off x="927100" y="2082800"/>
            <a:ext cx="2006600" cy="838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BAC655-1B52-C639-4216-28B61B2361BE}"/>
              </a:ext>
            </a:extLst>
          </p:cNvPr>
          <p:cNvSpPr/>
          <p:nvPr/>
        </p:nvSpPr>
        <p:spPr>
          <a:xfrm>
            <a:off x="927100" y="2082800"/>
            <a:ext cx="63500" cy="838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8FE742-F81C-E60A-C7E9-06FE52FBCB30}"/>
              </a:ext>
            </a:extLst>
          </p:cNvPr>
          <p:cNvSpPr txBox="1"/>
          <p:nvPr/>
        </p:nvSpPr>
        <p:spPr>
          <a:xfrm>
            <a:off x="1092200" y="2235200"/>
            <a:ext cx="17399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>
                <a:solidFill>
                  <a:srgbClr val="8A969F"/>
                </a:solidFill>
                <a:latin typeface="Aptos" panose="020B0004020202020204" pitchFamily="34" charset="0"/>
              </a:rPr>
              <a:t>Loan amount total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931B01-AD24-6EBF-82FC-0BAB48ED8FA2}"/>
              </a:ext>
            </a:extLst>
          </p:cNvPr>
          <p:cNvSpPr txBox="1"/>
          <p:nvPr/>
        </p:nvSpPr>
        <p:spPr>
          <a:xfrm>
            <a:off x="1092200" y="2527300"/>
            <a:ext cx="17399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 b="1">
                <a:solidFill>
                  <a:srgbClr val="0B3D91"/>
                </a:solidFill>
                <a:latin typeface="Aptos Display" panose="020B0004020202020204" pitchFamily="34" charset="0"/>
              </a:rPr>
              <a:t>21.36M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8393A2-088B-7744-CF38-303FD9C56D1E}"/>
              </a:ext>
            </a:extLst>
          </p:cNvPr>
          <p:cNvSpPr/>
          <p:nvPr/>
        </p:nvSpPr>
        <p:spPr>
          <a:xfrm>
            <a:off x="3187700" y="2082800"/>
            <a:ext cx="2006600" cy="838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C856E4-063C-CEC2-62CE-C8C2AA49A53C}"/>
              </a:ext>
            </a:extLst>
          </p:cNvPr>
          <p:cNvSpPr/>
          <p:nvPr/>
        </p:nvSpPr>
        <p:spPr>
          <a:xfrm>
            <a:off x="3187700" y="2082800"/>
            <a:ext cx="63500" cy="838200"/>
          </a:xfrm>
          <a:prstGeom prst="rect">
            <a:avLst/>
          </a:prstGeom>
          <a:solidFill>
            <a:srgbClr val="00A3E0"/>
          </a:solidFill>
          <a:ln w="12700" cap="flat" cmpd="sng" algn="ctr">
            <a:solidFill>
              <a:srgbClr val="00A3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7F3905-80EC-87F8-0E66-50FD5548E7E7}"/>
              </a:ext>
            </a:extLst>
          </p:cNvPr>
          <p:cNvSpPr txBox="1"/>
          <p:nvPr/>
        </p:nvSpPr>
        <p:spPr>
          <a:xfrm>
            <a:off x="3352800" y="2235200"/>
            <a:ext cx="17399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>
                <a:solidFill>
                  <a:srgbClr val="8A969F"/>
                </a:solidFill>
                <a:latin typeface="Aptos" panose="020B0004020202020204" pitchFamily="34" charset="0"/>
              </a:rPr>
              <a:t>Loan amount avg.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8F257F-AB19-0EE9-62B3-9279AEC82B33}"/>
              </a:ext>
            </a:extLst>
          </p:cNvPr>
          <p:cNvSpPr txBox="1"/>
          <p:nvPr/>
        </p:nvSpPr>
        <p:spPr>
          <a:xfrm>
            <a:off x="3352800" y="2527300"/>
            <a:ext cx="17399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 b="1">
                <a:solidFill>
                  <a:srgbClr val="0B3D91"/>
                </a:solidFill>
                <a:latin typeface="Aptos Display" panose="020B0004020202020204" pitchFamily="34" charset="0"/>
              </a:rPr>
              <a:t>26.71K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7ABCA5-620C-02CD-003C-54952D38E0FE}"/>
              </a:ext>
            </a:extLst>
          </p:cNvPr>
          <p:cNvSpPr/>
          <p:nvPr/>
        </p:nvSpPr>
        <p:spPr>
          <a:xfrm>
            <a:off x="965200" y="34417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77C7BE-4C3B-84B5-6D89-702E89EA6712}"/>
              </a:ext>
            </a:extLst>
          </p:cNvPr>
          <p:cNvSpPr txBox="1"/>
          <p:nvPr/>
        </p:nvSpPr>
        <p:spPr>
          <a:xfrm>
            <a:off x="1073150" y="3359150"/>
            <a:ext cx="43180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 dirty="0">
                <a:solidFill>
                  <a:srgbClr val="17365D"/>
                </a:solidFill>
                <a:latin typeface="Aptos" panose="020B0004020202020204" pitchFamily="34" charset="0"/>
              </a:rPr>
              <a:t>Balance is available as a direct customer-value signal</a:t>
            </a:r>
            <a:endParaRPr lang="en-IN" sz="1200" dirty="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50ABC6-16F4-8207-96FC-392658DA82F4}"/>
              </a:ext>
            </a:extLst>
          </p:cNvPr>
          <p:cNvSpPr/>
          <p:nvPr/>
        </p:nvSpPr>
        <p:spPr>
          <a:xfrm>
            <a:off x="965200" y="38354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745B27-DFE7-AE48-1E8D-AAF4A698856D}"/>
              </a:ext>
            </a:extLst>
          </p:cNvPr>
          <p:cNvSpPr txBox="1"/>
          <p:nvPr/>
        </p:nvSpPr>
        <p:spPr>
          <a:xfrm>
            <a:off x="1130300" y="3733800"/>
            <a:ext cx="43180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 dirty="0">
                <a:solidFill>
                  <a:srgbClr val="17365D"/>
                </a:solidFill>
                <a:latin typeface="Aptos" panose="020B0004020202020204" pitchFamily="34" charset="0"/>
              </a:rPr>
              <a:t>Loan  Amount provides an exposure/need proxy</a:t>
            </a:r>
            <a:endParaRPr lang="en-IN" sz="1200" dirty="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9B76A8-8685-368F-52D5-996C1F8AF032}"/>
              </a:ext>
            </a:extLst>
          </p:cNvPr>
          <p:cNvSpPr/>
          <p:nvPr/>
        </p:nvSpPr>
        <p:spPr>
          <a:xfrm>
            <a:off x="965200" y="42291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0D4331-29EE-D567-772F-EF46D7E6D2B5}"/>
              </a:ext>
            </a:extLst>
          </p:cNvPr>
          <p:cNvSpPr txBox="1"/>
          <p:nvPr/>
        </p:nvSpPr>
        <p:spPr>
          <a:xfrm>
            <a:off x="1130300" y="4127500"/>
            <a:ext cx="43180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 dirty="0">
                <a:solidFill>
                  <a:srgbClr val="17365D"/>
                </a:solidFill>
                <a:latin typeface="Aptos" panose="020B0004020202020204" pitchFamily="34" charset="0"/>
              </a:rPr>
              <a:t>Account type and credit score enable practical segments</a:t>
            </a:r>
            <a:endParaRPr lang="en-IN" sz="1200" dirty="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C075AA-C00D-66FF-D4B2-91267FA0B6E8}"/>
              </a:ext>
            </a:extLst>
          </p:cNvPr>
          <p:cNvSpPr/>
          <p:nvPr/>
        </p:nvSpPr>
        <p:spPr>
          <a:xfrm>
            <a:off x="965200" y="46228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143DFF-6F69-BC3C-BE2B-CF01F7E9A05B}"/>
              </a:ext>
            </a:extLst>
          </p:cNvPr>
          <p:cNvSpPr txBox="1"/>
          <p:nvPr/>
        </p:nvSpPr>
        <p:spPr>
          <a:xfrm>
            <a:off x="1130300" y="4521200"/>
            <a:ext cx="4318000" cy="394980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 dirty="0">
                <a:solidFill>
                  <a:srgbClr val="17365D"/>
                </a:solidFill>
                <a:latin typeface="Aptos" panose="020B0004020202020204" pitchFamily="34" charset="0"/>
              </a:rPr>
              <a:t>No explicit annual-income column was found in the supplied workbook</a:t>
            </a:r>
            <a:endParaRPr lang="en-IN" sz="1200" dirty="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C3361C-4441-89F8-84C7-18136F0383C7}"/>
              </a:ext>
            </a:extLst>
          </p:cNvPr>
          <p:cNvSpPr/>
          <p:nvPr/>
        </p:nvSpPr>
        <p:spPr>
          <a:xfrm>
            <a:off x="6261100" y="1231900"/>
            <a:ext cx="5257800" cy="4521200"/>
          </a:xfrm>
          <a:prstGeom prst="rect">
            <a:avLst/>
          </a:prstGeom>
          <a:solidFill>
            <a:srgbClr val="0B3D91"/>
          </a:solidFill>
          <a:ln w="12700" cap="flat" cmpd="sng" algn="ctr">
            <a:solidFill>
              <a:srgbClr val="0B3D9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4ECD38-E0BA-3439-809B-8CF0611EB673}"/>
              </a:ext>
            </a:extLst>
          </p:cNvPr>
          <p:cNvSpPr txBox="1"/>
          <p:nvPr/>
        </p:nvSpPr>
        <p:spPr>
          <a:xfrm>
            <a:off x="6565900" y="1549400"/>
            <a:ext cx="43942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 b="1">
                <a:solidFill>
                  <a:srgbClr val="FFFFFF"/>
                </a:solidFill>
                <a:latin typeface="Aptos Display" panose="020B0004020202020204" pitchFamily="34" charset="0"/>
              </a:rPr>
              <a:t>Customer value matrix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2DF724-39A1-80AD-A394-E89BA358A297}"/>
              </a:ext>
            </a:extLst>
          </p:cNvPr>
          <p:cNvSpPr/>
          <p:nvPr/>
        </p:nvSpPr>
        <p:spPr>
          <a:xfrm>
            <a:off x="6946900" y="2146300"/>
            <a:ext cx="3479800" cy="24257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5AC59F9-0DE1-ECD4-8015-B9592FC8C26B}"/>
              </a:ext>
            </a:extLst>
          </p:cNvPr>
          <p:cNvCxnSpPr/>
          <p:nvPr/>
        </p:nvCxnSpPr>
        <p:spPr>
          <a:xfrm>
            <a:off x="8686800" y="2146300"/>
            <a:ext cx="0" cy="2425700"/>
          </a:xfrm>
          <a:prstGeom prst="line">
            <a:avLst/>
          </a:prstGeom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CBA48B3-83B8-8C7C-6BBF-3A06101AA989}"/>
              </a:ext>
            </a:extLst>
          </p:cNvPr>
          <p:cNvCxnSpPr/>
          <p:nvPr/>
        </p:nvCxnSpPr>
        <p:spPr>
          <a:xfrm>
            <a:off x="6946900" y="3365500"/>
            <a:ext cx="3479800" cy="0"/>
          </a:xfrm>
          <a:prstGeom prst="line">
            <a:avLst/>
          </a:prstGeom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306B65C-829D-9E25-C59F-FAEE3EAEA846}"/>
              </a:ext>
            </a:extLst>
          </p:cNvPr>
          <p:cNvSpPr txBox="1"/>
          <p:nvPr/>
        </p:nvSpPr>
        <p:spPr>
          <a:xfrm>
            <a:off x="8890000" y="2298700"/>
            <a:ext cx="11938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200" b="1">
                <a:solidFill>
                  <a:srgbClr val="0B3D91"/>
                </a:solidFill>
                <a:latin typeface="Aptos" panose="020B0004020202020204" pitchFamily="34" charset="0"/>
              </a:rPr>
              <a:t>High balance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A3ED6F-70DF-6E0A-9088-8D3D0B0EEF2F}"/>
              </a:ext>
            </a:extLst>
          </p:cNvPr>
          <p:cNvSpPr txBox="1"/>
          <p:nvPr/>
        </p:nvSpPr>
        <p:spPr>
          <a:xfrm>
            <a:off x="7184104" y="3903926"/>
            <a:ext cx="11938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400" b="1" dirty="0">
                <a:solidFill>
                  <a:srgbClr val="002060"/>
                </a:solidFill>
                <a:latin typeface="Aptos" panose="020B0004020202020204" pitchFamily="34" charset="0"/>
              </a:rPr>
              <a:t>Low balance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AE6781-FFF0-C10B-6DDC-91EB922B1CCE}"/>
              </a:ext>
            </a:extLst>
          </p:cNvPr>
          <p:cNvSpPr txBox="1"/>
          <p:nvPr/>
        </p:nvSpPr>
        <p:spPr>
          <a:xfrm>
            <a:off x="8851900" y="2743200"/>
            <a:ext cx="1320800" cy="394980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200" b="1">
                <a:solidFill>
                  <a:srgbClr val="0B3D91"/>
                </a:solidFill>
                <a:latin typeface="Aptos" panose="020B0004020202020204" pitchFamily="34" charset="0"/>
              </a:rPr>
              <a:t>High credit / balance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8812B4-3F29-3F53-9E83-A2DC51DD21B8}"/>
              </a:ext>
            </a:extLst>
          </p:cNvPr>
          <p:cNvSpPr txBox="1"/>
          <p:nvPr/>
        </p:nvSpPr>
        <p:spPr>
          <a:xfrm>
            <a:off x="7112000" y="2743200"/>
            <a:ext cx="1371600" cy="394980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200" b="1">
                <a:solidFill>
                  <a:srgbClr val="0B3D91"/>
                </a:solidFill>
                <a:latin typeface="Aptos" panose="020B0004020202020204" pitchFamily="34" charset="0"/>
              </a:rPr>
              <a:t>High credit / lower balance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062089-FBB4-40A3-0AD9-A560D58FC173}"/>
              </a:ext>
            </a:extLst>
          </p:cNvPr>
          <p:cNvSpPr txBox="1"/>
          <p:nvPr/>
        </p:nvSpPr>
        <p:spPr>
          <a:xfrm>
            <a:off x="7175500" y="3683000"/>
            <a:ext cx="13208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Aptos" panose="020B0004020202020204" pitchFamily="34" charset="0"/>
              </a:rPr>
              <a:t>Monitor / support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AEBBD8-2CD6-D1DA-EB24-6F8C9C85DB05}"/>
              </a:ext>
            </a:extLst>
          </p:cNvPr>
          <p:cNvSpPr txBox="1"/>
          <p:nvPr/>
        </p:nvSpPr>
        <p:spPr>
          <a:xfrm>
            <a:off x="8581103" y="3904525"/>
            <a:ext cx="1460498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lang="en-IN" sz="1200" b="1" dirty="0">
                <a:solidFill>
                  <a:srgbClr val="FFFFFF"/>
                </a:solidFill>
                <a:latin typeface="Aptos" panose="020B0004020202020204" pitchFamily="34" charset="0"/>
              </a:rPr>
              <a:t>Review </a:t>
            </a:r>
            <a:r>
              <a:rPr lang="en-IN" sz="1600" b="1" dirty="0">
                <a:solidFill>
                  <a:srgbClr val="002060"/>
                </a:solidFill>
                <a:latin typeface="Aptos" panose="020B0004020202020204" pitchFamily="34" charset="0"/>
              </a:rPr>
              <a:t>exposure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6F5160-1733-B0F5-7D99-83C957667903}"/>
              </a:ext>
            </a:extLst>
          </p:cNvPr>
          <p:cNvSpPr txBox="1"/>
          <p:nvPr/>
        </p:nvSpPr>
        <p:spPr>
          <a:xfrm>
            <a:off x="6565900" y="4978400"/>
            <a:ext cx="4394200" cy="394980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>
                <a:solidFill>
                  <a:srgbClr val="FFEEDC"/>
                </a:solidFill>
                <a:latin typeface="Aptos" panose="020B0004020202020204" pitchFamily="34" charset="0"/>
              </a:rPr>
              <a:t>Use the matrix as a segmentation framework; populate quadrants with interactive filters in Power BI.</a:t>
            </a:r>
            <a:endParaRPr lang="en-IN" sz="1200">
              <a:solidFill>
                <a:srgbClr val="FFEEDC"/>
              </a:solidFill>
              <a:latin typeface="Aptos" panose="020B0004020202020204" pitchFamily="34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814636-EB03-15FF-4AD4-8B99CC6AC7AA}"/>
              </a:ext>
            </a:extLst>
          </p:cNvPr>
          <p:cNvCxnSpPr/>
          <p:nvPr/>
        </p:nvCxnSpPr>
        <p:spPr>
          <a:xfrm>
            <a:off x="508000" y="6477000"/>
            <a:ext cx="11176000" cy="0"/>
          </a:xfrm>
          <a:prstGeom prst="line">
            <a:avLst/>
          </a:prstGeom>
          <a:ln w="10160">
            <a:solidFill>
              <a:srgbClr val="EBE8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4FE7B56-45FC-7474-BB90-A2F48DA69A4D}"/>
              </a:ext>
            </a:extLst>
          </p:cNvPr>
          <p:cNvSpPr txBox="1"/>
          <p:nvPr/>
        </p:nvSpPr>
        <p:spPr>
          <a:xfrm>
            <a:off x="533400" y="6515100"/>
            <a:ext cx="79502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>
                <a:solidFill>
                  <a:srgbClr val="8A969F"/>
                </a:solidFill>
                <a:latin typeface="Aptos" panose="020B0004020202020204" pitchFamily="34" charset="0"/>
              </a:rPr>
              <a:t>Financial Insights in Banking Data using Power BI  |  SOUNAK DEY</a:t>
            </a:r>
            <a:endParaRPr lang="en-IN" sz="120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E2F7E8D-80C6-37C5-D358-2A0AA1A7DD4E}"/>
              </a:ext>
            </a:extLst>
          </p:cNvPr>
          <p:cNvSpPr txBox="1"/>
          <p:nvPr/>
        </p:nvSpPr>
        <p:spPr>
          <a:xfrm>
            <a:off x="11150600" y="6489700"/>
            <a:ext cx="5080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1200" b="1">
                <a:solidFill>
                  <a:srgbClr val="0B3D91"/>
                </a:solidFill>
                <a:latin typeface="Aptos" panose="020B000402020202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65190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D956C0-2E96-8B16-29B8-CB64762C00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F2FB"/>
          </a:solidFill>
          <a:ln w="12700" cap="flat" cmpd="sng" algn="ctr">
            <a:solidFill>
              <a:srgbClr val="EAF2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A64428-AEFD-5C92-9BBB-DD54BF095F7E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90583C-3448-AFBB-E753-2EBEBA9D033C}"/>
              </a:ext>
            </a:extLst>
          </p:cNvPr>
          <p:cNvSpPr txBox="1"/>
          <p:nvPr/>
        </p:nvSpPr>
        <p:spPr>
          <a:xfrm>
            <a:off x="508000" y="317500"/>
            <a:ext cx="85090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 b="1">
                <a:solidFill>
                  <a:srgbClr val="0B3D91"/>
                </a:solidFill>
                <a:latin typeface="Aptos Display" panose="020B0004020202020204" pitchFamily="34" charset="0"/>
              </a:rPr>
              <a:t>Transaction &amp; customer activity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96837E-5927-587F-B555-3A4807D1E82B}"/>
              </a:ext>
            </a:extLst>
          </p:cNvPr>
          <p:cNvSpPr txBox="1"/>
          <p:nvPr/>
        </p:nvSpPr>
        <p:spPr>
          <a:xfrm>
            <a:off x="533400" y="762000"/>
            <a:ext cx="96012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>
                <a:solidFill>
                  <a:srgbClr val="8A969F"/>
                </a:solidFill>
                <a:latin typeface="Aptos" panose="020B0004020202020204" pitchFamily="34" charset="0"/>
              </a:rPr>
              <a:t>Activity metrics show a balanced mix of deposits, payments, transfers and withdrawals</a:t>
            </a:r>
            <a:endParaRPr lang="en-IN" sz="120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ACCC73-2794-4C4B-37FE-B903CE0A189A}"/>
              </a:ext>
            </a:extLst>
          </p:cNvPr>
          <p:cNvSpPr/>
          <p:nvPr/>
        </p:nvSpPr>
        <p:spPr>
          <a:xfrm>
            <a:off x="635000" y="1193800"/>
            <a:ext cx="2514600" cy="914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B5E2A9-5EA0-44F0-CA72-72CA8DF3505D}"/>
              </a:ext>
            </a:extLst>
          </p:cNvPr>
          <p:cNvSpPr/>
          <p:nvPr/>
        </p:nvSpPr>
        <p:spPr>
          <a:xfrm>
            <a:off x="635000" y="1193800"/>
            <a:ext cx="63500" cy="9144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7BA854-144D-BB57-1A6D-513DE8117A43}"/>
              </a:ext>
            </a:extLst>
          </p:cNvPr>
          <p:cNvSpPr txBox="1"/>
          <p:nvPr/>
        </p:nvSpPr>
        <p:spPr>
          <a:xfrm>
            <a:off x="800100" y="1346200"/>
            <a:ext cx="22352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>
                <a:solidFill>
                  <a:srgbClr val="8A969F"/>
                </a:solidFill>
                <a:latin typeface="Aptos" panose="020B0004020202020204" pitchFamily="34" charset="0"/>
              </a:rPr>
              <a:t>Transactions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737ED4-3AF4-9F07-88FB-E153CAA17490}"/>
              </a:ext>
            </a:extLst>
          </p:cNvPr>
          <p:cNvSpPr txBox="1"/>
          <p:nvPr/>
        </p:nvSpPr>
        <p:spPr>
          <a:xfrm>
            <a:off x="800100" y="1625600"/>
            <a:ext cx="22352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 b="1">
                <a:solidFill>
                  <a:srgbClr val="0B3D91"/>
                </a:solidFill>
                <a:latin typeface="Aptos Display" panose="020B0004020202020204" pitchFamily="34" charset="0"/>
              </a:rPr>
              <a:t>1,000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23E5DB-232C-1090-D7D1-968F235A90C5}"/>
              </a:ext>
            </a:extLst>
          </p:cNvPr>
          <p:cNvSpPr/>
          <p:nvPr/>
        </p:nvSpPr>
        <p:spPr>
          <a:xfrm>
            <a:off x="3429000" y="1193800"/>
            <a:ext cx="2514600" cy="914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4A248E-93B6-9354-81CA-7AE754C868FE}"/>
              </a:ext>
            </a:extLst>
          </p:cNvPr>
          <p:cNvSpPr/>
          <p:nvPr/>
        </p:nvSpPr>
        <p:spPr>
          <a:xfrm>
            <a:off x="3429000" y="1193800"/>
            <a:ext cx="63500" cy="914400"/>
          </a:xfrm>
          <a:prstGeom prst="rect">
            <a:avLst/>
          </a:prstGeom>
          <a:solidFill>
            <a:srgbClr val="00A3E0"/>
          </a:solidFill>
          <a:ln w="12700" cap="flat" cmpd="sng" algn="ctr">
            <a:solidFill>
              <a:srgbClr val="00A3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C3835A-DB85-4283-AF62-FBD4C867886C}"/>
              </a:ext>
            </a:extLst>
          </p:cNvPr>
          <p:cNvSpPr txBox="1"/>
          <p:nvPr/>
        </p:nvSpPr>
        <p:spPr>
          <a:xfrm>
            <a:off x="3594100" y="1346200"/>
            <a:ext cx="22352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>
                <a:solidFill>
                  <a:srgbClr val="8A969F"/>
                </a:solidFill>
                <a:latin typeface="Aptos" panose="020B0004020202020204" pitchFamily="34" charset="0"/>
              </a:rPr>
              <a:t>Valid amount total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900061-64E4-D657-BB21-2E03EA3BA419}"/>
              </a:ext>
            </a:extLst>
          </p:cNvPr>
          <p:cNvSpPr txBox="1"/>
          <p:nvPr/>
        </p:nvSpPr>
        <p:spPr>
          <a:xfrm>
            <a:off x="3594100" y="1625600"/>
            <a:ext cx="22352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 b="1">
                <a:solidFill>
                  <a:srgbClr val="0B3D91"/>
                </a:solidFill>
                <a:latin typeface="Aptos Display" panose="020B0004020202020204" pitchFamily="34" charset="0"/>
              </a:rPr>
              <a:t>4.76M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FD7A9E-4412-40D2-670A-261E28911CBE}"/>
              </a:ext>
            </a:extLst>
          </p:cNvPr>
          <p:cNvSpPr/>
          <p:nvPr/>
        </p:nvSpPr>
        <p:spPr>
          <a:xfrm>
            <a:off x="6223000" y="1193800"/>
            <a:ext cx="2514600" cy="914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54F28A-07E1-6A58-3A64-F21E147A8475}"/>
              </a:ext>
            </a:extLst>
          </p:cNvPr>
          <p:cNvSpPr/>
          <p:nvPr/>
        </p:nvSpPr>
        <p:spPr>
          <a:xfrm>
            <a:off x="6223000" y="1193800"/>
            <a:ext cx="63500" cy="914400"/>
          </a:xfrm>
          <a:prstGeom prst="rect">
            <a:avLst/>
          </a:prstGeom>
          <a:solidFill>
            <a:srgbClr val="2E8B57"/>
          </a:solidFill>
          <a:ln w="12700" cap="flat" cmpd="sng" algn="ctr">
            <a:solidFill>
              <a:srgbClr val="2E8B57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55FF49-046C-1C41-64BF-516D7C01FFAA}"/>
              </a:ext>
            </a:extLst>
          </p:cNvPr>
          <p:cNvSpPr txBox="1"/>
          <p:nvPr/>
        </p:nvSpPr>
        <p:spPr>
          <a:xfrm>
            <a:off x="6388100" y="1346200"/>
            <a:ext cx="22352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>
                <a:solidFill>
                  <a:srgbClr val="8A969F"/>
                </a:solidFill>
                <a:latin typeface="Aptos" panose="020B0004020202020204" pitchFamily="34" charset="0"/>
              </a:rPr>
              <a:t>Average amount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4F86E2-E203-E978-BF29-BB51A45317FA}"/>
              </a:ext>
            </a:extLst>
          </p:cNvPr>
          <p:cNvSpPr txBox="1"/>
          <p:nvPr/>
        </p:nvSpPr>
        <p:spPr>
          <a:xfrm>
            <a:off x="6388100" y="1625600"/>
            <a:ext cx="22352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 b="1">
                <a:solidFill>
                  <a:srgbClr val="0B3D91"/>
                </a:solidFill>
                <a:latin typeface="Aptos Display" panose="020B0004020202020204" pitchFamily="34" charset="0"/>
              </a:rPr>
              <a:t>4.76K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46CE06-A94C-2C2F-B9F0-61AB4998B31C}"/>
              </a:ext>
            </a:extLst>
          </p:cNvPr>
          <p:cNvSpPr/>
          <p:nvPr/>
        </p:nvSpPr>
        <p:spPr>
          <a:xfrm>
            <a:off x="9004300" y="1193800"/>
            <a:ext cx="2514600" cy="914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1CC2C9-46E5-6326-D945-573F285B3E0A}"/>
              </a:ext>
            </a:extLst>
          </p:cNvPr>
          <p:cNvSpPr/>
          <p:nvPr/>
        </p:nvSpPr>
        <p:spPr>
          <a:xfrm>
            <a:off x="9004300" y="1193800"/>
            <a:ext cx="63500" cy="914400"/>
          </a:xfrm>
          <a:prstGeom prst="rect">
            <a:avLst/>
          </a:prstGeom>
          <a:solidFill>
            <a:srgbClr val="C62828"/>
          </a:solidFill>
          <a:ln w="12700" cap="flat" cmpd="sng" algn="ctr">
            <a:solidFill>
              <a:srgbClr val="C6282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9E8C7A-8A84-8A6E-138A-760B88DB659D}"/>
              </a:ext>
            </a:extLst>
          </p:cNvPr>
          <p:cNvSpPr txBox="1"/>
          <p:nvPr/>
        </p:nvSpPr>
        <p:spPr>
          <a:xfrm>
            <a:off x="9169400" y="1346200"/>
            <a:ext cx="22352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>
                <a:solidFill>
                  <a:srgbClr val="8A969F"/>
                </a:solidFill>
                <a:latin typeface="Aptos" panose="020B0004020202020204" pitchFamily="34" charset="0"/>
              </a:rPr>
              <a:t>Blank type rows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5A48FE-F453-3B0B-60EF-9FA8314E87D5}"/>
              </a:ext>
            </a:extLst>
          </p:cNvPr>
          <p:cNvSpPr txBox="1"/>
          <p:nvPr/>
        </p:nvSpPr>
        <p:spPr>
          <a:xfrm>
            <a:off x="9169400" y="1625600"/>
            <a:ext cx="22352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 b="1">
                <a:solidFill>
                  <a:srgbClr val="0B3D91"/>
                </a:solidFill>
                <a:latin typeface="Aptos Display" panose="020B0004020202020204" pitchFamily="34" charset="0"/>
              </a:rPr>
              <a:t>60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439D2A-2E7C-0B9C-7443-2AE04777B4D0}"/>
              </a:ext>
            </a:extLst>
          </p:cNvPr>
          <p:cNvSpPr/>
          <p:nvPr/>
        </p:nvSpPr>
        <p:spPr>
          <a:xfrm>
            <a:off x="635000" y="2463800"/>
            <a:ext cx="5486400" cy="3149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06EC56-8816-0B7A-6A27-BACBF2EA4161}"/>
              </a:ext>
            </a:extLst>
          </p:cNvPr>
          <p:cNvSpPr txBox="1"/>
          <p:nvPr/>
        </p:nvSpPr>
        <p:spPr>
          <a:xfrm>
            <a:off x="914400" y="2755900"/>
            <a:ext cx="45720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 b="1">
                <a:solidFill>
                  <a:srgbClr val="0B3D91"/>
                </a:solidFill>
                <a:latin typeface="Aptos Display" panose="020B0004020202020204" pitchFamily="34" charset="0"/>
              </a:rPr>
              <a:t>Transaction count by type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84FCB8-9F03-A34D-CBFC-1DA9E323954C}"/>
              </a:ext>
            </a:extLst>
          </p:cNvPr>
          <p:cNvSpPr txBox="1"/>
          <p:nvPr/>
        </p:nvSpPr>
        <p:spPr>
          <a:xfrm>
            <a:off x="914400" y="3213100"/>
            <a:ext cx="11430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 dirty="0">
                <a:solidFill>
                  <a:srgbClr val="17365D"/>
                </a:solidFill>
                <a:latin typeface="Aptos" panose="020B0004020202020204" pitchFamily="34" charset="0"/>
              </a:rPr>
              <a:t>Payment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BC1F051-5D2A-C942-2261-0C65B22F4A2B}"/>
              </a:ext>
            </a:extLst>
          </p:cNvPr>
          <p:cNvSpPr/>
          <p:nvPr/>
        </p:nvSpPr>
        <p:spPr>
          <a:xfrm>
            <a:off x="2146300" y="3289300"/>
            <a:ext cx="2971800" cy="279400"/>
          </a:xfrm>
          <a:prstGeom prst="rect">
            <a:avLst/>
          </a:prstGeom>
          <a:solidFill>
            <a:srgbClr val="FFEEDC"/>
          </a:solidFill>
          <a:ln w="12700" cap="flat" cmpd="sng" algn="ctr">
            <a:solidFill>
              <a:srgbClr val="FFEEDC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A26C65D-54DC-CC13-4F7B-2E8E2DCDBF1A}"/>
              </a:ext>
            </a:extLst>
          </p:cNvPr>
          <p:cNvSpPr/>
          <p:nvPr/>
        </p:nvSpPr>
        <p:spPr>
          <a:xfrm>
            <a:off x="2146300" y="3289300"/>
            <a:ext cx="2971800" cy="279400"/>
          </a:xfrm>
          <a:prstGeom prst="rect">
            <a:avLst/>
          </a:prstGeom>
          <a:solidFill>
            <a:srgbClr val="00A3E0"/>
          </a:solidFill>
          <a:ln w="12700" cap="flat" cmpd="sng" algn="ctr">
            <a:solidFill>
              <a:srgbClr val="00A3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D17CA9-9AAD-8EB9-8489-21FD3372C749}"/>
              </a:ext>
            </a:extLst>
          </p:cNvPr>
          <p:cNvSpPr txBox="1"/>
          <p:nvPr/>
        </p:nvSpPr>
        <p:spPr>
          <a:xfrm>
            <a:off x="5168900" y="3213100"/>
            <a:ext cx="4572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1200" b="1">
                <a:solidFill>
                  <a:srgbClr val="0B3D91"/>
                </a:solidFill>
                <a:latin typeface="Aptos" panose="020B0004020202020204" pitchFamily="34" charset="0"/>
              </a:rPr>
              <a:t>247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7FCED5-D95E-5F8B-CD0C-BD971B6FAEC8}"/>
              </a:ext>
            </a:extLst>
          </p:cNvPr>
          <p:cNvSpPr txBox="1"/>
          <p:nvPr/>
        </p:nvSpPr>
        <p:spPr>
          <a:xfrm>
            <a:off x="914400" y="3695700"/>
            <a:ext cx="11430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 dirty="0">
                <a:solidFill>
                  <a:srgbClr val="17365D"/>
                </a:solidFill>
                <a:latin typeface="Aptos" panose="020B0004020202020204" pitchFamily="34" charset="0"/>
              </a:rPr>
              <a:t>Transfer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74A776A-D3A3-1B26-54C8-D8B4C3A693DA}"/>
              </a:ext>
            </a:extLst>
          </p:cNvPr>
          <p:cNvSpPr/>
          <p:nvPr/>
        </p:nvSpPr>
        <p:spPr>
          <a:xfrm>
            <a:off x="2146300" y="3771900"/>
            <a:ext cx="2971800" cy="279400"/>
          </a:xfrm>
          <a:prstGeom prst="rect">
            <a:avLst/>
          </a:prstGeom>
          <a:solidFill>
            <a:srgbClr val="FFEEDC"/>
          </a:solidFill>
          <a:ln w="12700" cap="flat" cmpd="sng" algn="ctr">
            <a:solidFill>
              <a:srgbClr val="FFEEDC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294299B-38CB-CFF6-1E39-1DD4DDE6A6D2}"/>
              </a:ext>
            </a:extLst>
          </p:cNvPr>
          <p:cNvSpPr/>
          <p:nvPr/>
        </p:nvSpPr>
        <p:spPr>
          <a:xfrm>
            <a:off x="2146300" y="3771900"/>
            <a:ext cx="2946400" cy="279400"/>
          </a:xfrm>
          <a:prstGeom prst="rect">
            <a:avLst/>
          </a:prstGeom>
          <a:solidFill>
            <a:srgbClr val="00A3E0"/>
          </a:solidFill>
          <a:ln w="12700" cap="flat" cmpd="sng" algn="ctr">
            <a:solidFill>
              <a:srgbClr val="00A3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0F1362-DA9E-C975-06B3-2CB1C5195D97}"/>
              </a:ext>
            </a:extLst>
          </p:cNvPr>
          <p:cNvSpPr txBox="1"/>
          <p:nvPr/>
        </p:nvSpPr>
        <p:spPr>
          <a:xfrm>
            <a:off x="5168900" y="3695700"/>
            <a:ext cx="4572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1200" b="1">
                <a:solidFill>
                  <a:srgbClr val="0B3D91"/>
                </a:solidFill>
                <a:latin typeface="Aptos" panose="020B0004020202020204" pitchFamily="34" charset="0"/>
              </a:rPr>
              <a:t>245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7E65395-1E5D-9552-011E-219A381F676A}"/>
              </a:ext>
            </a:extLst>
          </p:cNvPr>
          <p:cNvSpPr txBox="1"/>
          <p:nvPr/>
        </p:nvSpPr>
        <p:spPr>
          <a:xfrm>
            <a:off x="914400" y="4178300"/>
            <a:ext cx="11430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 dirty="0">
                <a:solidFill>
                  <a:srgbClr val="17365D"/>
                </a:solidFill>
                <a:latin typeface="Aptos" panose="020B0004020202020204" pitchFamily="34" charset="0"/>
              </a:rPr>
              <a:t>Deposit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F46F1B3-1E3F-2CF9-3616-88CA37969159}"/>
              </a:ext>
            </a:extLst>
          </p:cNvPr>
          <p:cNvSpPr/>
          <p:nvPr/>
        </p:nvSpPr>
        <p:spPr>
          <a:xfrm>
            <a:off x="2146300" y="4254500"/>
            <a:ext cx="2971800" cy="279400"/>
          </a:xfrm>
          <a:prstGeom prst="rect">
            <a:avLst/>
          </a:prstGeom>
          <a:solidFill>
            <a:srgbClr val="FFEEDC"/>
          </a:solidFill>
          <a:ln w="12700" cap="flat" cmpd="sng" algn="ctr">
            <a:solidFill>
              <a:srgbClr val="FFEEDC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E039734-868B-39C8-F3FC-F4190C764030}"/>
              </a:ext>
            </a:extLst>
          </p:cNvPr>
          <p:cNvSpPr/>
          <p:nvPr/>
        </p:nvSpPr>
        <p:spPr>
          <a:xfrm>
            <a:off x="2146300" y="4254500"/>
            <a:ext cx="2755900" cy="279400"/>
          </a:xfrm>
          <a:prstGeom prst="rect">
            <a:avLst/>
          </a:prstGeom>
          <a:solidFill>
            <a:srgbClr val="00A3E0"/>
          </a:solidFill>
          <a:ln w="12700" cap="flat" cmpd="sng" algn="ctr">
            <a:solidFill>
              <a:srgbClr val="00A3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91BE99-34EE-44F0-6A32-FF3EC5D7989D}"/>
              </a:ext>
            </a:extLst>
          </p:cNvPr>
          <p:cNvSpPr txBox="1"/>
          <p:nvPr/>
        </p:nvSpPr>
        <p:spPr>
          <a:xfrm>
            <a:off x="5168900" y="4178300"/>
            <a:ext cx="4572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1200" b="1">
                <a:solidFill>
                  <a:srgbClr val="0B3D91"/>
                </a:solidFill>
                <a:latin typeface="Aptos" panose="020B0004020202020204" pitchFamily="34" charset="0"/>
              </a:rPr>
              <a:t>229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B00269-15F5-6C4F-3BCB-BEB2D6E880D0}"/>
              </a:ext>
            </a:extLst>
          </p:cNvPr>
          <p:cNvSpPr txBox="1"/>
          <p:nvPr/>
        </p:nvSpPr>
        <p:spPr>
          <a:xfrm>
            <a:off x="914400" y="4660900"/>
            <a:ext cx="11430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 dirty="0">
                <a:solidFill>
                  <a:srgbClr val="17365D"/>
                </a:solidFill>
                <a:latin typeface="Aptos" panose="020B0004020202020204" pitchFamily="34" charset="0"/>
              </a:rPr>
              <a:t>Withdrawal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2C70D89-EF90-13E9-63BD-F766415B724B}"/>
              </a:ext>
            </a:extLst>
          </p:cNvPr>
          <p:cNvSpPr/>
          <p:nvPr/>
        </p:nvSpPr>
        <p:spPr>
          <a:xfrm>
            <a:off x="2146300" y="4737100"/>
            <a:ext cx="2971800" cy="279400"/>
          </a:xfrm>
          <a:prstGeom prst="rect">
            <a:avLst/>
          </a:prstGeom>
          <a:solidFill>
            <a:srgbClr val="FFEEDC"/>
          </a:solidFill>
          <a:ln w="12700" cap="flat" cmpd="sng" algn="ctr">
            <a:solidFill>
              <a:srgbClr val="FFEEDC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D22F2D9-7256-2803-CC53-87DA202A7057}"/>
              </a:ext>
            </a:extLst>
          </p:cNvPr>
          <p:cNvSpPr/>
          <p:nvPr/>
        </p:nvSpPr>
        <p:spPr>
          <a:xfrm>
            <a:off x="2146300" y="4737100"/>
            <a:ext cx="2628900" cy="279400"/>
          </a:xfrm>
          <a:prstGeom prst="rect">
            <a:avLst/>
          </a:prstGeom>
          <a:solidFill>
            <a:srgbClr val="00A3E0"/>
          </a:solidFill>
          <a:ln w="12700" cap="flat" cmpd="sng" algn="ctr">
            <a:solidFill>
              <a:srgbClr val="00A3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E8C7F3E-073D-508C-F547-FF6B508AA9B6}"/>
              </a:ext>
            </a:extLst>
          </p:cNvPr>
          <p:cNvSpPr txBox="1"/>
          <p:nvPr/>
        </p:nvSpPr>
        <p:spPr>
          <a:xfrm>
            <a:off x="5168900" y="4660900"/>
            <a:ext cx="4572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1200" b="1">
                <a:solidFill>
                  <a:srgbClr val="0B3D91"/>
                </a:solidFill>
                <a:latin typeface="Aptos" panose="020B0004020202020204" pitchFamily="34" charset="0"/>
              </a:rPr>
              <a:t>219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E529EC1-5C41-F33A-7337-D250EA608EE1}"/>
              </a:ext>
            </a:extLst>
          </p:cNvPr>
          <p:cNvSpPr/>
          <p:nvPr/>
        </p:nvSpPr>
        <p:spPr>
          <a:xfrm>
            <a:off x="6400800" y="2463800"/>
            <a:ext cx="5118100" cy="3149600"/>
          </a:xfrm>
          <a:prstGeom prst="rect">
            <a:avLst/>
          </a:prstGeom>
          <a:solidFill>
            <a:srgbClr val="0B3D91"/>
          </a:solidFill>
          <a:ln w="12700" cap="flat" cmpd="sng" algn="ctr">
            <a:solidFill>
              <a:srgbClr val="0B3D9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B3FEA2-77F7-68CF-B6FD-90A662BDF83D}"/>
              </a:ext>
            </a:extLst>
          </p:cNvPr>
          <p:cNvSpPr txBox="1"/>
          <p:nvPr/>
        </p:nvSpPr>
        <p:spPr>
          <a:xfrm>
            <a:off x="6692900" y="2755900"/>
            <a:ext cx="43942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 b="1">
                <a:solidFill>
                  <a:srgbClr val="FFFFFF"/>
                </a:solidFill>
                <a:latin typeface="Aptos Display" panose="020B0004020202020204" pitchFamily="34" charset="0"/>
              </a:rPr>
              <a:t>Activity interpretation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865EDF0-DEDB-2AC0-7DF9-C7DD42045CB6}"/>
              </a:ext>
            </a:extLst>
          </p:cNvPr>
          <p:cNvSpPr/>
          <p:nvPr/>
        </p:nvSpPr>
        <p:spPr>
          <a:xfrm>
            <a:off x="6718300" y="33528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53F23D5-ADBA-DA3E-83AC-7C6CC4755F1D}"/>
              </a:ext>
            </a:extLst>
          </p:cNvPr>
          <p:cNvSpPr txBox="1"/>
          <p:nvPr/>
        </p:nvSpPr>
        <p:spPr>
          <a:xfrm>
            <a:off x="6883400" y="3251200"/>
            <a:ext cx="4038600" cy="394980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Payments and transfers are the two largest valid transaction groups</a:t>
            </a:r>
            <a:endParaRPr lang="en-IN" sz="12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B1EB2A7-A3AB-3D0F-9C6F-7120D79FC217}"/>
              </a:ext>
            </a:extLst>
          </p:cNvPr>
          <p:cNvSpPr/>
          <p:nvPr/>
        </p:nvSpPr>
        <p:spPr>
          <a:xfrm>
            <a:off x="6718300" y="37465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642928B-422C-CB68-C2D4-FAB2FBD1D661}"/>
              </a:ext>
            </a:extLst>
          </p:cNvPr>
          <p:cNvSpPr txBox="1"/>
          <p:nvPr/>
        </p:nvSpPr>
        <p:spPr>
          <a:xfrm>
            <a:off x="6883400" y="3644900"/>
            <a:ext cx="4038600" cy="394980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Withdrawals have the highest average amount among valid types (4.96K)</a:t>
            </a:r>
            <a:endParaRPr lang="en-IN" sz="12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2974309-5024-E012-7742-66DB26C6268E}"/>
              </a:ext>
            </a:extLst>
          </p:cNvPr>
          <p:cNvSpPr/>
          <p:nvPr/>
        </p:nvSpPr>
        <p:spPr>
          <a:xfrm>
            <a:off x="6718300" y="41402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062EFAD-6BC6-F6EA-F148-3263CC95E0E8}"/>
              </a:ext>
            </a:extLst>
          </p:cNvPr>
          <p:cNvSpPr txBox="1"/>
          <p:nvPr/>
        </p:nvSpPr>
        <p:spPr>
          <a:xfrm>
            <a:off x="6883400" y="4038600"/>
            <a:ext cx="4038600" cy="394980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TransactionDate and TransactionTime enable future trend and seasonality analysis</a:t>
            </a:r>
            <a:endParaRPr lang="en-IN" sz="12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E9A3190-2CA7-AF67-D0CE-FE541491579C}"/>
              </a:ext>
            </a:extLst>
          </p:cNvPr>
          <p:cNvSpPr/>
          <p:nvPr/>
        </p:nvSpPr>
        <p:spPr>
          <a:xfrm>
            <a:off x="6718300" y="45339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925D160-76D5-7CEF-D30C-9A45A872FE58}"/>
              </a:ext>
            </a:extLst>
          </p:cNvPr>
          <p:cNvSpPr txBox="1"/>
          <p:nvPr/>
        </p:nvSpPr>
        <p:spPr>
          <a:xfrm>
            <a:off x="6883400" y="4419600"/>
            <a:ext cx="4038600" cy="394980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Invalid type/currency rows should be excluded or flagged explicitly</a:t>
            </a:r>
            <a:endParaRPr lang="en-IN" sz="12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5F8CA75-DC09-48C9-2547-5E021FB6733B}"/>
              </a:ext>
            </a:extLst>
          </p:cNvPr>
          <p:cNvCxnSpPr/>
          <p:nvPr/>
        </p:nvCxnSpPr>
        <p:spPr>
          <a:xfrm>
            <a:off x="508000" y="6477000"/>
            <a:ext cx="11176000" cy="0"/>
          </a:xfrm>
          <a:prstGeom prst="line">
            <a:avLst/>
          </a:prstGeom>
          <a:ln w="10160">
            <a:solidFill>
              <a:srgbClr val="EBE8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3422204B-12BD-FD38-575D-55748228FAF0}"/>
              </a:ext>
            </a:extLst>
          </p:cNvPr>
          <p:cNvSpPr txBox="1"/>
          <p:nvPr/>
        </p:nvSpPr>
        <p:spPr>
          <a:xfrm>
            <a:off x="533400" y="6515100"/>
            <a:ext cx="79502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>
                <a:solidFill>
                  <a:srgbClr val="8A969F"/>
                </a:solidFill>
                <a:latin typeface="Aptos" panose="020B0004020202020204" pitchFamily="34" charset="0"/>
              </a:rPr>
              <a:t>Financial Insights in Banking Data using Power BI  |  SOUNAK DEY</a:t>
            </a:r>
            <a:endParaRPr lang="en-IN" sz="120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8891BD9-110E-9C58-FBD0-1413961F4F02}"/>
              </a:ext>
            </a:extLst>
          </p:cNvPr>
          <p:cNvSpPr txBox="1"/>
          <p:nvPr/>
        </p:nvSpPr>
        <p:spPr>
          <a:xfrm>
            <a:off x="11150600" y="6489700"/>
            <a:ext cx="5080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1200" b="1">
                <a:solidFill>
                  <a:srgbClr val="0B3D91"/>
                </a:solidFill>
                <a:latin typeface="Aptos" panose="020B0004020202020204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27010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5C65C6-ED45-E294-7C46-B41E281984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3E56F9-56BC-9981-45BE-415F79805C88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1E5B57-9EB0-104A-5344-4ABE0F8B2C41}"/>
              </a:ext>
            </a:extLst>
          </p:cNvPr>
          <p:cNvSpPr txBox="1"/>
          <p:nvPr/>
        </p:nvSpPr>
        <p:spPr>
          <a:xfrm>
            <a:off x="508000" y="317500"/>
            <a:ext cx="85090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 b="1">
                <a:solidFill>
                  <a:srgbClr val="0B3D91"/>
                </a:solidFill>
                <a:latin typeface="Aptos Display" panose="020B0004020202020204" pitchFamily="34" charset="0"/>
              </a:rPr>
              <a:t>Branch / operational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2ECEE6-9645-1293-F848-90E1DFF7BF9E}"/>
              </a:ext>
            </a:extLst>
          </p:cNvPr>
          <p:cNvSpPr txBox="1"/>
          <p:nvPr/>
        </p:nvSpPr>
        <p:spPr>
          <a:xfrm>
            <a:off x="533400" y="762000"/>
            <a:ext cx="96012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>
                <a:solidFill>
                  <a:srgbClr val="8A969F"/>
                </a:solidFill>
                <a:latin typeface="Aptos" panose="020B0004020202020204" pitchFamily="34" charset="0"/>
              </a:rPr>
              <a:t>BranchCode is available; a region or branch master is not supplied</a:t>
            </a:r>
            <a:endParaRPr lang="en-IN" sz="120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4FC366-C3F0-D346-8F91-D0331BD46ABF}"/>
              </a:ext>
            </a:extLst>
          </p:cNvPr>
          <p:cNvSpPr/>
          <p:nvPr/>
        </p:nvSpPr>
        <p:spPr>
          <a:xfrm>
            <a:off x="635000" y="1231900"/>
            <a:ext cx="5486400" cy="4521200"/>
          </a:xfrm>
          <a:prstGeom prst="rect">
            <a:avLst/>
          </a:prstGeom>
          <a:solidFill>
            <a:srgbClr val="EAF2FB"/>
          </a:solidFill>
          <a:ln w="12700" cap="flat" cmpd="sng" algn="ctr">
            <a:solidFill>
              <a:srgbClr val="EAF2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AF2761-6461-4E3E-8C65-483134CDD0A6}"/>
              </a:ext>
            </a:extLst>
          </p:cNvPr>
          <p:cNvSpPr txBox="1"/>
          <p:nvPr/>
        </p:nvSpPr>
        <p:spPr>
          <a:xfrm>
            <a:off x="927100" y="1549400"/>
            <a:ext cx="46609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 b="1">
                <a:solidFill>
                  <a:srgbClr val="0B3D91"/>
                </a:solidFill>
                <a:latin typeface="Aptos Display" panose="020B0004020202020204" pitchFamily="34" charset="0"/>
              </a:rPr>
              <a:t>Top branch codes by transaction count</a:t>
            </a:r>
            <a:endParaRPr lang="en-IN" sz="1200" b="1">
              <a:solidFill>
                <a:srgbClr val="0B3D91"/>
              </a:solidFill>
              <a:latin typeface="Aptos Display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DC8162-074E-6297-FC20-1AE65A6D75F9}"/>
              </a:ext>
            </a:extLst>
          </p:cNvPr>
          <p:cNvSpPr txBox="1"/>
          <p:nvPr/>
        </p:nvSpPr>
        <p:spPr>
          <a:xfrm>
            <a:off x="927100" y="2120900"/>
            <a:ext cx="11430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>
                <a:solidFill>
                  <a:srgbClr val="17365D"/>
                </a:solidFill>
                <a:latin typeface="Aptos" panose="020B0004020202020204" pitchFamily="34" charset="0"/>
              </a:rPr>
              <a:t>479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676470-8E97-EA0E-218E-7DC1D1374933}"/>
              </a:ext>
            </a:extLst>
          </p:cNvPr>
          <p:cNvSpPr/>
          <p:nvPr/>
        </p:nvSpPr>
        <p:spPr>
          <a:xfrm>
            <a:off x="2171700" y="2197100"/>
            <a:ext cx="2971800" cy="241300"/>
          </a:xfrm>
          <a:prstGeom prst="rect">
            <a:avLst/>
          </a:prstGeom>
          <a:solidFill>
            <a:srgbClr val="FFEEDC"/>
          </a:solidFill>
          <a:ln w="12700" cap="flat" cmpd="sng" algn="ctr">
            <a:solidFill>
              <a:srgbClr val="FFEEDC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CC17C3-0F4F-ED35-5B5B-81F7DCA9731F}"/>
              </a:ext>
            </a:extLst>
          </p:cNvPr>
          <p:cNvSpPr/>
          <p:nvPr/>
        </p:nvSpPr>
        <p:spPr>
          <a:xfrm>
            <a:off x="2171700" y="2197100"/>
            <a:ext cx="2971800" cy="2413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B8F088-B1AA-F8B1-86B8-B2623715BF41}"/>
              </a:ext>
            </a:extLst>
          </p:cNvPr>
          <p:cNvSpPr txBox="1"/>
          <p:nvPr/>
        </p:nvSpPr>
        <p:spPr>
          <a:xfrm>
            <a:off x="5181600" y="2120900"/>
            <a:ext cx="4572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1200" b="1">
                <a:solidFill>
                  <a:srgbClr val="0B3D91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DA4B82-04B9-72A7-B0BE-231BD594D71E}"/>
              </a:ext>
            </a:extLst>
          </p:cNvPr>
          <p:cNvSpPr txBox="1"/>
          <p:nvPr/>
        </p:nvSpPr>
        <p:spPr>
          <a:xfrm>
            <a:off x="927100" y="2565400"/>
            <a:ext cx="11430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>
                <a:solidFill>
                  <a:srgbClr val="17365D"/>
                </a:solidFill>
                <a:latin typeface="Aptos" panose="020B0004020202020204" pitchFamily="34" charset="0"/>
              </a:rPr>
              <a:t>232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FA3DFB-E6A7-55C0-BBBF-E69A19AB24CD}"/>
              </a:ext>
            </a:extLst>
          </p:cNvPr>
          <p:cNvSpPr/>
          <p:nvPr/>
        </p:nvSpPr>
        <p:spPr>
          <a:xfrm>
            <a:off x="2171700" y="2641600"/>
            <a:ext cx="2971800" cy="241300"/>
          </a:xfrm>
          <a:prstGeom prst="rect">
            <a:avLst/>
          </a:prstGeom>
          <a:solidFill>
            <a:srgbClr val="FFEEDC"/>
          </a:solidFill>
          <a:ln w="12700" cap="flat" cmpd="sng" algn="ctr">
            <a:solidFill>
              <a:srgbClr val="FFEEDC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EFAFEE-F29B-CE96-2B8E-C7E20BF22C53}"/>
              </a:ext>
            </a:extLst>
          </p:cNvPr>
          <p:cNvSpPr/>
          <p:nvPr/>
        </p:nvSpPr>
        <p:spPr>
          <a:xfrm>
            <a:off x="2171700" y="2641600"/>
            <a:ext cx="2603500" cy="2413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8F6636-BCCF-05B9-CEBF-D29E6E7F2C77}"/>
              </a:ext>
            </a:extLst>
          </p:cNvPr>
          <p:cNvSpPr txBox="1"/>
          <p:nvPr/>
        </p:nvSpPr>
        <p:spPr>
          <a:xfrm>
            <a:off x="5181600" y="2565400"/>
            <a:ext cx="4572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1200" b="1">
                <a:solidFill>
                  <a:srgbClr val="0B3D91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0EE367-64E1-93B5-4383-BC721CBCB6B9}"/>
              </a:ext>
            </a:extLst>
          </p:cNvPr>
          <p:cNvSpPr txBox="1"/>
          <p:nvPr/>
        </p:nvSpPr>
        <p:spPr>
          <a:xfrm>
            <a:off x="927100" y="3022600"/>
            <a:ext cx="11430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 dirty="0">
                <a:solidFill>
                  <a:srgbClr val="17365D"/>
                </a:solidFill>
                <a:latin typeface="Aptos" panose="020B0004020202020204" pitchFamily="34" charset="0"/>
              </a:rPr>
              <a:t>57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8FCAAE-17FE-1542-B8D7-6C694F46FDE5}"/>
              </a:ext>
            </a:extLst>
          </p:cNvPr>
          <p:cNvSpPr/>
          <p:nvPr/>
        </p:nvSpPr>
        <p:spPr>
          <a:xfrm>
            <a:off x="2171700" y="3086100"/>
            <a:ext cx="2971800" cy="241300"/>
          </a:xfrm>
          <a:prstGeom prst="rect">
            <a:avLst/>
          </a:prstGeom>
          <a:solidFill>
            <a:srgbClr val="FFEEDC"/>
          </a:solidFill>
          <a:ln w="12700" cap="flat" cmpd="sng" algn="ctr">
            <a:solidFill>
              <a:srgbClr val="FFEEDC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5199CD-2CCD-9F34-2BDE-2E195F73590E}"/>
              </a:ext>
            </a:extLst>
          </p:cNvPr>
          <p:cNvSpPr/>
          <p:nvPr/>
        </p:nvSpPr>
        <p:spPr>
          <a:xfrm>
            <a:off x="2171700" y="3086100"/>
            <a:ext cx="2603500" cy="2413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2FEFFE-726D-4FFB-0AEF-37F367C4291F}"/>
              </a:ext>
            </a:extLst>
          </p:cNvPr>
          <p:cNvSpPr txBox="1"/>
          <p:nvPr/>
        </p:nvSpPr>
        <p:spPr>
          <a:xfrm>
            <a:off x="5181600" y="3022600"/>
            <a:ext cx="4572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1200" b="1">
                <a:solidFill>
                  <a:srgbClr val="0B3D91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A5ED36-3E58-EA95-C41A-E47C1729CCBB}"/>
              </a:ext>
            </a:extLst>
          </p:cNvPr>
          <p:cNvSpPr txBox="1"/>
          <p:nvPr/>
        </p:nvSpPr>
        <p:spPr>
          <a:xfrm>
            <a:off x="927100" y="3467100"/>
            <a:ext cx="11430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>
                <a:solidFill>
                  <a:srgbClr val="17365D"/>
                </a:solidFill>
                <a:latin typeface="Aptos" panose="020B0004020202020204" pitchFamily="34" charset="0"/>
              </a:rPr>
              <a:t>210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8D8D5A-43DF-13CE-DA90-A07B41B2E9E1}"/>
              </a:ext>
            </a:extLst>
          </p:cNvPr>
          <p:cNvSpPr/>
          <p:nvPr/>
        </p:nvSpPr>
        <p:spPr>
          <a:xfrm>
            <a:off x="2171700" y="3543300"/>
            <a:ext cx="2971800" cy="241300"/>
          </a:xfrm>
          <a:prstGeom prst="rect">
            <a:avLst/>
          </a:prstGeom>
          <a:solidFill>
            <a:srgbClr val="FFEEDC"/>
          </a:solidFill>
          <a:ln w="12700" cap="flat" cmpd="sng" algn="ctr">
            <a:solidFill>
              <a:srgbClr val="FFEEDC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EDF1B7-7D46-D970-F68E-AFA37667D609}"/>
              </a:ext>
            </a:extLst>
          </p:cNvPr>
          <p:cNvSpPr/>
          <p:nvPr/>
        </p:nvSpPr>
        <p:spPr>
          <a:xfrm>
            <a:off x="2171700" y="3543300"/>
            <a:ext cx="2235200" cy="2413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18E184-079F-3BA7-EE42-699076C110CE}"/>
              </a:ext>
            </a:extLst>
          </p:cNvPr>
          <p:cNvSpPr txBox="1"/>
          <p:nvPr/>
        </p:nvSpPr>
        <p:spPr>
          <a:xfrm>
            <a:off x="5181600" y="3467100"/>
            <a:ext cx="4572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1200" b="1">
                <a:solidFill>
                  <a:srgbClr val="0B3D91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5D811F-5824-E538-0FFF-52CC48210A09}"/>
              </a:ext>
            </a:extLst>
          </p:cNvPr>
          <p:cNvSpPr txBox="1"/>
          <p:nvPr/>
        </p:nvSpPr>
        <p:spPr>
          <a:xfrm>
            <a:off x="927100" y="3911600"/>
            <a:ext cx="11430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>
                <a:solidFill>
                  <a:srgbClr val="17365D"/>
                </a:solidFill>
                <a:latin typeface="Aptos" panose="020B0004020202020204" pitchFamily="34" charset="0"/>
              </a:rPr>
              <a:t>319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A3414BD-3BEE-E81D-7148-4DB82493DA9F}"/>
              </a:ext>
            </a:extLst>
          </p:cNvPr>
          <p:cNvSpPr/>
          <p:nvPr/>
        </p:nvSpPr>
        <p:spPr>
          <a:xfrm>
            <a:off x="2171700" y="3987800"/>
            <a:ext cx="2971800" cy="241300"/>
          </a:xfrm>
          <a:prstGeom prst="rect">
            <a:avLst/>
          </a:prstGeom>
          <a:solidFill>
            <a:srgbClr val="FFEEDC"/>
          </a:solidFill>
          <a:ln w="12700" cap="flat" cmpd="sng" algn="ctr">
            <a:solidFill>
              <a:srgbClr val="FFEEDC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278C166-4C30-AF47-E4A6-7654150D9526}"/>
              </a:ext>
            </a:extLst>
          </p:cNvPr>
          <p:cNvSpPr/>
          <p:nvPr/>
        </p:nvSpPr>
        <p:spPr>
          <a:xfrm>
            <a:off x="2171700" y="3987800"/>
            <a:ext cx="2235200" cy="2413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7DF531-4024-2561-C63F-6EF9B72359AC}"/>
              </a:ext>
            </a:extLst>
          </p:cNvPr>
          <p:cNvSpPr txBox="1"/>
          <p:nvPr/>
        </p:nvSpPr>
        <p:spPr>
          <a:xfrm>
            <a:off x="5181600" y="3911600"/>
            <a:ext cx="4572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1200" b="1">
                <a:solidFill>
                  <a:srgbClr val="0B3D91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B2046A-9D0E-CAA9-444A-9B52E8B8540C}"/>
              </a:ext>
            </a:extLst>
          </p:cNvPr>
          <p:cNvSpPr txBox="1"/>
          <p:nvPr/>
        </p:nvSpPr>
        <p:spPr>
          <a:xfrm>
            <a:off x="927100" y="4826000"/>
            <a:ext cx="4711700" cy="394980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 dirty="0">
                <a:solidFill>
                  <a:srgbClr val="17365D"/>
                </a:solidFill>
                <a:latin typeface="Aptos" panose="020B0004020202020204" pitchFamily="34" charset="0"/>
              </a:rPr>
              <a:t>Counts are low per code, so rankings should be treated as operational signals rather than branch-performance proof.</a:t>
            </a:r>
            <a:endParaRPr lang="en-IN" sz="1200" dirty="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21B03AC-38A1-D983-ACB7-70A11B369D47}"/>
              </a:ext>
            </a:extLst>
          </p:cNvPr>
          <p:cNvSpPr/>
          <p:nvPr/>
        </p:nvSpPr>
        <p:spPr>
          <a:xfrm>
            <a:off x="6400800" y="1231900"/>
            <a:ext cx="5118100" cy="4521200"/>
          </a:xfrm>
          <a:prstGeom prst="rect">
            <a:avLst/>
          </a:prstGeom>
          <a:solidFill>
            <a:srgbClr val="0B3D91"/>
          </a:solidFill>
          <a:ln w="12700" cap="flat" cmpd="sng" algn="ctr">
            <a:solidFill>
              <a:srgbClr val="0B3D9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AEF004-6FBF-98DB-8A0E-0DFA9A6E6CB5}"/>
              </a:ext>
            </a:extLst>
          </p:cNvPr>
          <p:cNvSpPr txBox="1"/>
          <p:nvPr/>
        </p:nvSpPr>
        <p:spPr>
          <a:xfrm>
            <a:off x="6692900" y="1549400"/>
            <a:ext cx="43942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 b="1">
                <a:solidFill>
                  <a:srgbClr val="FFFFFF"/>
                </a:solidFill>
                <a:latin typeface="Aptos Display" panose="020B0004020202020204" pitchFamily="34" charset="0"/>
              </a:rPr>
              <a:t>Analytical boundary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5C0DCE-13E6-3D2C-D11D-2C8BCBF5628A}"/>
              </a:ext>
            </a:extLst>
          </p:cNvPr>
          <p:cNvSpPr/>
          <p:nvPr/>
        </p:nvSpPr>
        <p:spPr>
          <a:xfrm>
            <a:off x="6718300" y="22606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755899-A81B-5F41-8FBB-895E4A68E85A}"/>
              </a:ext>
            </a:extLst>
          </p:cNvPr>
          <p:cNvSpPr txBox="1"/>
          <p:nvPr/>
        </p:nvSpPr>
        <p:spPr>
          <a:xfrm>
            <a:off x="6883400" y="2146300"/>
            <a:ext cx="40386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Aptos" panose="020B0004020202020204" pitchFamily="34" charset="0"/>
              </a:rPr>
              <a:t>Branch Code can support ranking tables and filters</a:t>
            </a:r>
            <a:endParaRPr lang="en-IN" sz="12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62092C-F7DA-9F5C-A3C7-629BA1969767}"/>
              </a:ext>
            </a:extLst>
          </p:cNvPr>
          <p:cNvSpPr/>
          <p:nvPr/>
        </p:nvSpPr>
        <p:spPr>
          <a:xfrm>
            <a:off x="6718300" y="26543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F727C21-2DFC-8312-AB5C-FED41B5ED487}"/>
              </a:ext>
            </a:extLst>
          </p:cNvPr>
          <p:cNvSpPr txBox="1"/>
          <p:nvPr/>
        </p:nvSpPr>
        <p:spPr>
          <a:xfrm>
            <a:off x="6883400" y="2540000"/>
            <a:ext cx="4038600" cy="394980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No branch name, region, city-to-branch mapping or target KPI is present</a:t>
            </a:r>
            <a:endParaRPr lang="en-IN" sz="12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9CE66B8-6356-C7D5-9F9A-FC505DD1F510}"/>
              </a:ext>
            </a:extLst>
          </p:cNvPr>
          <p:cNvSpPr/>
          <p:nvPr/>
        </p:nvSpPr>
        <p:spPr>
          <a:xfrm>
            <a:off x="6718300" y="30480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4070F4-8CE7-B878-A881-02675FE66D8B}"/>
              </a:ext>
            </a:extLst>
          </p:cNvPr>
          <p:cNvSpPr txBox="1"/>
          <p:nvPr/>
        </p:nvSpPr>
        <p:spPr>
          <a:xfrm>
            <a:off x="6883400" y="2933700"/>
            <a:ext cx="4038600" cy="394980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A branch master table would unlock geography and efficiency analysis</a:t>
            </a:r>
            <a:endParaRPr lang="en-IN" sz="12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60CC6F5-7817-1D4B-389C-FBBDA939CA9B}"/>
              </a:ext>
            </a:extLst>
          </p:cNvPr>
          <p:cNvSpPr/>
          <p:nvPr/>
        </p:nvSpPr>
        <p:spPr>
          <a:xfrm>
            <a:off x="6718300" y="34417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2F1F92-7EEB-F1EA-AE68-61CD0B7A9AC6}"/>
              </a:ext>
            </a:extLst>
          </p:cNvPr>
          <p:cNvSpPr txBox="1"/>
          <p:nvPr/>
        </p:nvSpPr>
        <p:spPr>
          <a:xfrm>
            <a:off x="6883400" y="3327400"/>
            <a:ext cx="4038600" cy="394980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Aptos" panose="020B0004020202020204" pitchFamily="34" charset="0"/>
              </a:rPr>
              <a:t>Do not label a branch “best” without a defined denominator and target</a:t>
            </a:r>
            <a:endParaRPr lang="en-IN" sz="12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CEF8B2B-B36B-5EB1-4F70-3329B2C8A461}"/>
              </a:ext>
            </a:extLst>
          </p:cNvPr>
          <p:cNvSpPr txBox="1"/>
          <p:nvPr/>
        </p:nvSpPr>
        <p:spPr>
          <a:xfrm>
            <a:off x="6718300" y="4914900"/>
            <a:ext cx="4254500" cy="394980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 b="1">
                <a:solidFill>
                  <a:srgbClr val="00A3E0"/>
                </a:solidFill>
                <a:latin typeface="Aptos" panose="020B0004020202020204" pitchFamily="34" charset="0"/>
              </a:rPr>
              <a:t>This is an example of responsible analytics: report what the data supports, and flag what it does not.</a:t>
            </a:r>
            <a:endParaRPr lang="en-IN" sz="1200" b="1">
              <a:solidFill>
                <a:srgbClr val="00A3E0"/>
              </a:solidFill>
              <a:latin typeface="Aptos" panose="020B0004020202020204" pitchFamily="34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8267DE5-B84C-858C-89DC-1569281DDD9F}"/>
              </a:ext>
            </a:extLst>
          </p:cNvPr>
          <p:cNvCxnSpPr/>
          <p:nvPr/>
        </p:nvCxnSpPr>
        <p:spPr>
          <a:xfrm>
            <a:off x="508000" y="6477000"/>
            <a:ext cx="11176000" cy="0"/>
          </a:xfrm>
          <a:prstGeom prst="line">
            <a:avLst/>
          </a:prstGeom>
          <a:ln w="10160">
            <a:solidFill>
              <a:srgbClr val="EBE8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74B60DE-4241-0FE1-C1A0-A262D6F7997F}"/>
              </a:ext>
            </a:extLst>
          </p:cNvPr>
          <p:cNvSpPr txBox="1"/>
          <p:nvPr/>
        </p:nvSpPr>
        <p:spPr>
          <a:xfrm>
            <a:off x="533400" y="6515100"/>
            <a:ext cx="79502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>
                <a:solidFill>
                  <a:srgbClr val="8A969F"/>
                </a:solidFill>
                <a:latin typeface="Aptos" panose="020B0004020202020204" pitchFamily="34" charset="0"/>
              </a:rPr>
              <a:t>Financial Insights in Banking Data using Power BI  |  SOUNAK DEY</a:t>
            </a:r>
            <a:endParaRPr lang="en-IN" sz="120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91936A4-F6D4-B7A7-303B-A821FDA70A28}"/>
              </a:ext>
            </a:extLst>
          </p:cNvPr>
          <p:cNvSpPr txBox="1"/>
          <p:nvPr/>
        </p:nvSpPr>
        <p:spPr>
          <a:xfrm>
            <a:off x="11150600" y="6489700"/>
            <a:ext cx="5080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1200" b="1">
                <a:solidFill>
                  <a:srgbClr val="0B3D91"/>
                </a:solidFill>
                <a:latin typeface="Aptos" panose="020B0004020202020204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817356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B54F77-F3F4-F88A-7391-78569C97C5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F2FB"/>
          </a:solidFill>
          <a:ln w="12700" cap="flat" cmpd="sng" algn="ctr">
            <a:solidFill>
              <a:srgbClr val="EAF2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5D4F02-65B0-AD62-E555-686669991EA1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1340B7-35D8-ED3C-CB69-6650EFA7B299}"/>
              </a:ext>
            </a:extLst>
          </p:cNvPr>
          <p:cNvSpPr txBox="1"/>
          <p:nvPr/>
        </p:nvSpPr>
        <p:spPr>
          <a:xfrm>
            <a:off x="508000" y="317500"/>
            <a:ext cx="85090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400" b="1">
                <a:solidFill>
                  <a:srgbClr val="0B3D91"/>
                </a:solidFill>
                <a:latin typeface="Aptos Display" panose="020B0004020202020204" pitchFamily="34" charset="0"/>
              </a:rPr>
              <a:t>Customer segmentation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ED981F-F41A-A586-D86D-FDDC727E73D4}"/>
              </a:ext>
            </a:extLst>
          </p:cNvPr>
          <p:cNvSpPr txBox="1"/>
          <p:nvPr/>
        </p:nvSpPr>
        <p:spPr>
          <a:xfrm>
            <a:off x="533400" y="762000"/>
            <a:ext cx="96012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400">
                <a:solidFill>
                  <a:srgbClr val="8A969F"/>
                </a:solidFill>
                <a:latin typeface="Aptos" panose="020B0004020202020204" pitchFamily="34" charset="0"/>
              </a:rPr>
              <a:t>Segments combine value, risk and activity dimensions</a:t>
            </a:r>
            <a:endParaRPr lang="en-IN" sz="140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AFCD54-F120-C04F-5068-6BBEBA374723}"/>
              </a:ext>
            </a:extLst>
          </p:cNvPr>
          <p:cNvSpPr/>
          <p:nvPr/>
        </p:nvSpPr>
        <p:spPr>
          <a:xfrm>
            <a:off x="685800" y="1371600"/>
            <a:ext cx="3251200" cy="1600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284102-E023-B073-F471-F75147138537}"/>
              </a:ext>
            </a:extLst>
          </p:cNvPr>
          <p:cNvSpPr/>
          <p:nvPr/>
        </p:nvSpPr>
        <p:spPr>
          <a:xfrm>
            <a:off x="685800" y="1371600"/>
            <a:ext cx="3251200" cy="1143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433B31-AA38-94E4-FCAD-B20F257DEDBA}"/>
              </a:ext>
            </a:extLst>
          </p:cNvPr>
          <p:cNvSpPr txBox="1"/>
          <p:nvPr/>
        </p:nvSpPr>
        <p:spPr>
          <a:xfrm>
            <a:off x="889000" y="1651000"/>
            <a:ext cx="25654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400" b="1">
                <a:solidFill>
                  <a:srgbClr val="0B3D91"/>
                </a:solidFill>
                <a:latin typeface="Aptos Display" panose="020B0004020202020204" pitchFamily="34" charset="0"/>
              </a:rPr>
              <a:t>High-value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B873F5-2C0B-E397-7775-C82F9320E870}"/>
              </a:ext>
            </a:extLst>
          </p:cNvPr>
          <p:cNvSpPr txBox="1"/>
          <p:nvPr/>
        </p:nvSpPr>
        <p:spPr>
          <a:xfrm>
            <a:off x="889000" y="2057400"/>
            <a:ext cx="2794000" cy="45653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400">
                <a:solidFill>
                  <a:srgbClr val="17365D"/>
                </a:solidFill>
                <a:latin typeface="Aptos" panose="020B0004020202020204" pitchFamily="34" charset="0"/>
              </a:rPr>
              <a:t>High balance and/or high loan exposure</a:t>
            </a:r>
            <a:endParaRPr lang="en-IN" sz="140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5EDE96-6765-3E27-E1B0-A37E643E7948}"/>
              </a:ext>
            </a:extLst>
          </p:cNvPr>
          <p:cNvSpPr txBox="1"/>
          <p:nvPr/>
        </p:nvSpPr>
        <p:spPr>
          <a:xfrm>
            <a:off x="889000" y="2489200"/>
            <a:ext cx="2794000" cy="45653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400">
                <a:solidFill>
                  <a:srgbClr val="8A969F"/>
                </a:solidFill>
                <a:latin typeface="Aptos" panose="020B0004020202020204" pitchFamily="34" charset="0"/>
              </a:rPr>
              <a:t>Prioritize retention and relationship management</a:t>
            </a:r>
            <a:endParaRPr lang="en-IN" sz="140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E6F888-9785-8E51-C892-3D8CA23ECE1E}"/>
              </a:ext>
            </a:extLst>
          </p:cNvPr>
          <p:cNvSpPr/>
          <p:nvPr/>
        </p:nvSpPr>
        <p:spPr>
          <a:xfrm>
            <a:off x="4483100" y="1371600"/>
            <a:ext cx="3251200" cy="1600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48D640-1688-A65B-8B1D-ABE2681675C5}"/>
              </a:ext>
            </a:extLst>
          </p:cNvPr>
          <p:cNvSpPr/>
          <p:nvPr/>
        </p:nvSpPr>
        <p:spPr>
          <a:xfrm>
            <a:off x="4483100" y="1371600"/>
            <a:ext cx="3251200" cy="114300"/>
          </a:xfrm>
          <a:prstGeom prst="rect">
            <a:avLst/>
          </a:prstGeom>
          <a:solidFill>
            <a:srgbClr val="2E8B57"/>
          </a:solidFill>
          <a:ln w="12700" cap="flat" cmpd="sng" algn="ctr">
            <a:solidFill>
              <a:srgbClr val="2E8B57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4837E9-F48A-9EE8-D499-77FA1876009A}"/>
              </a:ext>
            </a:extLst>
          </p:cNvPr>
          <p:cNvSpPr txBox="1"/>
          <p:nvPr/>
        </p:nvSpPr>
        <p:spPr>
          <a:xfrm>
            <a:off x="4686300" y="1651000"/>
            <a:ext cx="25654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400" b="1">
                <a:solidFill>
                  <a:srgbClr val="0B3D91"/>
                </a:solidFill>
                <a:latin typeface="Aptos Display" panose="020B0004020202020204" pitchFamily="34" charset="0"/>
              </a:rPr>
              <a:t>Credit-strength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8FFB7C-0063-A1E8-6067-9814CFB064FA}"/>
              </a:ext>
            </a:extLst>
          </p:cNvPr>
          <p:cNvSpPr txBox="1"/>
          <p:nvPr/>
        </p:nvSpPr>
        <p:spPr>
          <a:xfrm>
            <a:off x="4686300" y="2057400"/>
            <a:ext cx="27940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400">
                <a:solidFill>
                  <a:srgbClr val="17365D"/>
                </a:solidFill>
                <a:latin typeface="Aptos" panose="020B0004020202020204" pitchFamily="34" charset="0"/>
              </a:rPr>
              <a:t>Credit score 740+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18B21A-59CE-0515-CF8B-3968F288D628}"/>
              </a:ext>
            </a:extLst>
          </p:cNvPr>
          <p:cNvSpPr txBox="1"/>
          <p:nvPr/>
        </p:nvSpPr>
        <p:spPr>
          <a:xfrm>
            <a:off x="4686300" y="2489200"/>
            <a:ext cx="2794000" cy="45653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400">
                <a:solidFill>
                  <a:srgbClr val="8A969F"/>
                </a:solidFill>
                <a:latin typeface="Aptos" panose="020B0004020202020204" pitchFamily="34" charset="0"/>
              </a:rPr>
              <a:t>Consider premium products with responsible risk controls</a:t>
            </a:r>
            <a:endParaRPr lang="en-IN" sz="140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8AD3F4-C89E-0BCD-36B3-1FD3B479F396}"/>
              </a:ext>
            </a:extLst>
          </p:cNvPr>
          <p:cNvSpPr/>
          <p:nvPr/>
        </p:nvSpPr>
        <p:spPr>
          <a:xfrm>
            <a:off x="8280400" y="1371600"/>
            <a:ext cx="3251200" cy="1600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603156-BE9D-A73C-98D9-63F109F7C9A4}"/>
              </a:ext>
            </a:extLst>
          </p:cNvPr>
          <p:cNvSpPr/>
          <p:nvPr/>
        </p:nvSpPr>
        <p:spPr>
          <a:xfrm>
            <a:off x="8280400" y="1371600"/>
            <a:ext cx="3251200" cy="114300"/>
          </a:xfrm>
          <a:prstGeom prst="rect">
            <a:avLst/>
          </a:prstGeom>
          <a:solidFill>
            <a:srgbClr val="C62828"/>
          </a:solidFill>
          <a:ln w="12700" cap="flat" cmpd="sng" algn="ctr">
            <a:solidFill>
              <a:srgbClr val="C6282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6E889E-835C-4DB3-BEA6-10237D723A32}"/>
              </a:ext>
            </a:extLst>
          </p:cNvPr>
          <p:cNvSpPr txBox="1"/>
          <p:nvPr/>
        </p:nvSpPr>
        <p:spPr>
          <a:xfrm>
            <a:off x="8470900" y="1651000"/>
            <a:ext cx="25654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400" b="1">
                <a:solidFill>
                  <a:srgbClr val="0B3D91"/>
                </a:solidFill>
                <a:latin typeface="Aptos Display" panose="020B0004020202020204" pitchFamily="34" charset="0"/>
              </a:rPr>
              <a:t>Monitor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E7A8F9-E067-488A-29A9-8FADA99076A1}"/>
              </a:ext>
            </a:extLst>
          </p:cNvPr>
          <p:cNvSpPr txBox="1"/>
          <p:nvPr/>
        </p:nvSpPr>
        <p:spPr>
          <a:xfrm>
            <a:off x="8470900" y="2057400"/>
            <a:ext cx="27940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400">
                <a:solidFill>
                  <a:srgbClr val="17365D"/>
                </a:solidFill>
                <a:latin typeface="Aptos" panose="020B0004020202020204" pitchFamily="34" charset="0"/>
              </a:rPr>
              <a:t>Credit score below 580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DF0185-ADEE-7435-3459-5D5A0605862D}"/>
              </a:ext>
            </a:extLst>
          </p:cNvPr>
          <p:cNvSpPr txBox="1"/>
          <p:nvPr/>
        </p:nvSpPr>
        <p:spPr>
          <a:xfrm>
            <a:off x="8470900" y="2489200"/>
            <a:ext cx="2794000" cy="45653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400">
                <a:solidFill>
                  <a:srgbClr val="8A969F"/>
                </a:solidFill>
                <a:latin typeface="Aptos" panose="020B0004020202020204" pitchFamily="34" charset="0"/>
              </a:rPr>
              <a:t>Review affordability, risk and support needs</a:t>
            </a:r>
            <a:endParaRPr lang="en-IN" sz="140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CB8D66-0CE6-43BF-4B46-682E98B0A630}"/>
              </a:ext>
            </a:extLst>
          </p:cNvPr>
          <p:cNvSpPr/>
          <p:nvPr/>
        </p:nvSpPr>
        <p:spPr>
          <a:xfrm>
            <a:off x="685800" y="3517900"/>
            <a:ext cx="3251200" cy="1600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E88A25-8893-055C-44ED-BF18311D5A67}"/>
              </a:ext>
            </a:extLst>
          </p:cNvPr>
          <p:cNvSpPr/>
          <p:nvPr/>
        </p:nvSpPr>
        <p:spPr>
          <a:xfrm>
            <a:off x="685800" y="3517900"/>
            <a:ext cx="3251200" cy="114300"/>
          </a:xfrm>
          <a:prstGeom prst="rect">
            <a:avLst/>
          </a:prstGeom>
          <a:solidFill>
            <a:srgbClr val="00A3E0"/>
          </a:solidFill>
          <a:ln w="12700" cap="flat" cmpd="sng" algn="ctr">
            <a:solidFill>
              <a:srgbClr val="00A3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ADF8C8-C592-3F86-5F63-871A99E5E4C7}"/>
              </a:ext>
            </a:extLst>
          </p:cNvPr>
          <p:cNvSpPr txBox="1"/>
          <p:nvPr/>
        </p:nvSpPr>
        <p:spPr>
          <a:xfrm>
            <a:off x="889000" y="3797300"/>
            <a:ext cx="25654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400" b="1">
                <a:solidFill>
                  <a:srgbClr val="0B3D91"/>
                </a:solidFill>
                <a:latin typeface="Aptos Display" panose="020B0004020202020204" pitchFamily="34" charset="0"/>
              </a:rPr>
              <a:t>Activity-led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FD3C59-46F1-D9FF-615A-2C15F75F8DAD}"/>
              </a:ext>
            </a:extLst>
          </p:cNvPr>
          <p:cNvSpPr txBox="1"/>
          <p:nvPr/>
        </p:nvSpPr>
        <p:spPr>
          <a:xfrm>
            <a:off x="889000" y="4203700"/>
            <a:ext cx="27940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400">
                <a:solidFill>
                  <a:srgbClr val="17365D"/>
                </a:solidFill>
                <a:latin typeface="Aptos" panose="020B0004020202020204" pitchFamily="34" charset="0"/>
              </a:rPr>
              <a:t>Frequent valid transactions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A37D52-AF2C-749E-0E29-8844D720267D}"/>
              </a:ext>
            </a:extLst>
          </p:cNvPr>
          <p:cNvSpPr txBox="1"/>
          <p:nvPr/>
        </p:nvSpPr>
        <p:spPr>
          <a:xfrm>
            <a:off x="889000" y="4635500"/>
            <a:ext cx="2794000" cy="45653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400">
                <a:solidFill>
                  <a:srgbClr val="8A969F"/>
                </a:solidFill>
                <a:latin typeface="Aptos" panose="020B0004020202020204" pitchFamily="34" charset="0"/>
              </a:rPr>
              <a:t>Personalize engagement and cross-sell timing</a:t>
            </a:r>
            <a:endParaRPr lang="en-IN" sz="140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108D20-3E32-578F-C826-88985D4E69E5}"/>
              </a:ext>
            </a:extLst>
          </p:cNvPr>
          <p:cNvSpPr/>
          <p:nvPr/>
        </p:nvSpPr>
        <p:spPr>
          <a:xfrm>
            <a:off x="4483100" y="3517900"/>
            <a:ext cx="3251200" cy="1600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82E4B3-5542-B20A-58D5-B4EE6E926B87}"/>
              </a:ext>
            </a:extLst>
          </p:cNvPr>
          <p:cNvSpPr/>
          <p:nvPr/>
        </p:nvSpPr>
        <p:spPr>
          <a:xfrm>
            <a:off x="4483100" y="3517900"/>
            <a:ext cx="3251200" cy="114300"/>
          </a:xfrm>
          <a:prstGeom prst="rect">
            <a:avLst/>
          </a:prstGeom>
          <a:solidFill>
            <a:srgbClr val="F2B705"/>
          </a:solidFill>
          <a:ln w="12700" cap="flat" cmpd="sng" algn="ctr">
            <a:solidFill>
              <a:srgbClr val="F2B705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E87280-F19B-103B-6314-6E4E249E0EBA}"/>
              </a:ext>
            </a:extLst>
          </p:cNvPr>
          <p:cNvSpPr txBox="1"/>
          <p:nvPr/>
        </p:nvSpPr>
        <p:spPr>
          <a:xfrm>
            <a:off x="4686300" y="3797300"/>
            <a:ext cx="25654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400" b="1">
                <a:solidFill>
                  <a:srgbClr val="0B3D91"/>
                </a:solidFill>
                <a:latin typeface="Aptos Display" panose="020B0004020202020204" pitchFamily="34" charset="0"/>
              </a:rPr>
              <a:t>Dormancy candidate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6CF328-C23E-5ADD-86C1-82E6CE75B355}"/>
              </a:ext>
            </a:extLst>
          </p:cNvPr>
          <p:cNvSpPr txBox="1"/>
          <p:nvPr/>
        </p:nvSpPr>
        <p:spPr>
          <a:xfrm>
            <a:off x="4686300" y="4203700"/>
            <a:ext cx="27940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400">
                <a:solidFill>
                  <a:srgbClr val="17365D"/>
                </a:solidFill>
                <a:latin typeface="Aptos" panose="020B0004020202020204" pitchFamily="34" charset="0"/>
              </a:rPr>
              <a:t>Low/absent activity after validation</a:t>
            </a:r>
            <a:endParaRPr lang="en-IN" sz="140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4AF900-EF1D-8823-CD50-8D523B742F68}"/>
              </a:ext>
            </a:extLst>
          </p:cNvPr>
          <p:cNvSpPr txBox="1"/>
          <p:nvPr/>
        </p:nvSpPr>
        <p:spPr>
          <a:xfrm>
            <a:off x="4686300" y="4635500"/>
            <a:ext cx="2794000" cy="45653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400">
                <a:solidFill>
                  <a:srgbClr val="8A969F"/>
                </a:solidFill>
                <a:latin typeface="Aptos" panose="020B0004020202020204" pitchFamily="34" charset="0"/>
              </a:rPr>
              <a:t>Use reactivation campaigns only after confirming time window</a:t>
            </a:r>
            <a:endParaRPr lang="en-IN" sz="140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C5DBA74-494B-7D1A-498A-030B12B7A7BE}"/>
              </a:ext>
            </a:extLst>
          </p:cNvPr>
          <p:cNvSpPr/>
          <p:nvPr/>
        </p:nvSpPr>
        <p:spPr>
          <a:xfrm>
            <a:off x="8280400" y="3517900"/>
            <a:ext cx="3251200" cy="1600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8222874-0419-5A96-2D1E-CB828BC9FD44}"/>
              </a:ext>
            </a:extLst>
          </p:cNvPr>
          <p:cNvSpPr/>
          <p:nvPr/>
        </p:nvSpPr>
        <p:spPr>
          <a:xfrm>
            <a:off x="8280400" y="3517900"/>
            <a:ext cx="3251200" cy="114300"/>
          </a:xfrm>
          <a:prstGeom prst="rect">
            <a:avLst/>
          </a:prstGeom>
          <a:solidFill>
            <a:srgbClr val="0B3D91"/>
          </a:solidFill>
          <a:ln w="12700" cap="flat" cmpd="sng" algn="ctr">
            <a:solidFill>
              <a:srgbClr val="0B3D9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33F6C1-7865-BE75-7430-AF82F3DED70F}"/>
              </a:ext>
            </a:extLst>
          </p:cNvPr>
          <p:cNvSpPr txBox="1"/>
          <p:nvPr/>
        </p:nvSpPr>
        <p:spPr>
          <a:xfrm>
            <a:off x="8470900" y="3797300"/>
            <a:ext cx="25654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400" b="1">
                <a:solidFill>
                  <a:srgbClr val="0B3D91"/>
                </a:solidFill>
                <a:latin typeface="Aptos Display" panose="020B0004020202020204" pitchFamily="34" charset="0"/>
              </a:rPr>
              <a:t>Product-led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AAADCE-6C16-1DEF-553D-4C3789DC6C80}"/>
              </a:ext>
            </a:extLst>
          </p:cNvPr>
          <p:cNvSpPr txBox="1"/>
          <p:nvPr/>
        </p:nvSpPr>
        <p:spPr>
          <a:xfrm>
            <a:off x="8470900" y="4203700"/>
            <a:ext cx="27940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400">
                <a:solidFill>
                  <a:srgbClr val="17365D"/>
                </a:solidFill>
                <a:latin typeface="Aptos" panose="020B0004020202020204" pitchFamily="34" charset="0"/>
              </a:rPr>
              <a:t>Savings, loan, credit or checking</a:t>
            </a:r>
            <a:endParaRPr lang="en-IN" sz="140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4AABDA-724A-BEFC-973B-59D0FFC10980}"/>
              </a:ext>
            </a:extLst>
          </p:cNvPr>
          <p:cNvSpPr txBox="1"/>
          <p:nvPr/>
        </p:nvSpPr>
        <p:spPr>
          <a:xfrm>
            <a:off x="8470900" y="4635500"/>
            <a:ext cx="2794000" cy="45653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400">
                <a:solidFill>
                  <a:srgbClr val="8A969F"/>
                </a:solidFill>
                <a:latin typeface="Aptos" panose="020B0004020202020204" pitchFamily="34" charset="0"/>
              </a:rPr>
              <a:t>Align product communication to account context</a:t>
            </a:r>
            <a:endParaRPr lang="en-IN" sz="140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129498-6959-250F-4612-F98727C4B705}"/>
              </a:ext>
            </a:extLst>
          </p:cNvPr>
          <p:cNvSpPr txBox="1"/>
          <p:nvPr/>
        </p:nvSpPr>
        <p:spPr>
          <a:xfrm>
            <a:off x="749300" y="5715000"/>
            <a:ext cx="108839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US" sz="1400">
                <a:solidFill>
                  <a:srgbClr val="8A969F"/>
                </a:solidFill>
                <a:latin typeface="Aptos" panose="020B0004020202020204" pitchFamily="34" charset="0"/>
              </a:rPr>
              <a:t>Segmentation is a decision framework; thresholds should be parameterized in the Power BI model rather than hard-coded in the narrative.</a:t>
            </a:r>
            <a:endParaRPr lang="en-IN" sz="140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8DDDF81-C913-097B-7B34-FF0EFB133AB0}"/>
              </a:ext>
            </a:extLst>
          </p:cNvPr>
          <p:cNvCxnSpPr/>
          <p:nvPr/>
        </p:nvCxnSpPr>
        <p:spPr>
          <a:xfrm>
            <a:off x="508000" y="6477000"/>
            <a:ext cx="11176000" cy="0"/>
          </a:xfrm>
          <a:prstGeom prst="line">
            <a:avLst/>
          </a:prstGeom>
          <a:ln w="10160">
            <a:solidFill>
              <a:srgbClr val="EBE8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8212633-C526-AD2F-5DA2-F0DCA686113E}"/>
              </a:ext>
            </a:extLst>
          </p:cNvPr>
          <p:cNvSpPr txBox="1"/>
          <p:nvPr/>
        </p:nvSpPr>
        <p:spPr>
          <a:xfrm>
            <a:off x="533400" y="6515100"/>
            <a:ext cx="79502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400">
                <a:solidFill>
                  <a:srgbClr val="8A969F"/>
                </a:solidFill>
                <a:latin typeface="Aptos" panose="020B0004020202020204" pitchFamily="34" charset="0"/>
              </a:rPr>
              <a:t>Financial Insights in Banking Data using Power BI  |  SOUNAK DEY</a:t>
            </a:r>
            <a:endParaRPr lang="en-IN" sz="140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38DA6EE-A668-EBEF-7D70-FB6B29F58FDF}"/>
              </a:ext>
            </a:extLst>
          </p:cNvPr>
          <p:cNvSpPr txBox="1"/>
          <p:nvPr/>
        </p:nvSpPr>
        <p:spPr>
          <a:xfrm>
            <a:off x="11150600" y="6489700"/>
            <a:ext cx="5080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1400" b="1">
                <a:solidFill>
                  <a:srgbClr val="0B3D91"/>
                </a:solidFill>
                <a:latin typeface="Aptos" panose="020B0004020202020204" pitchFamily="3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238185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ED82CB-CBD5-F75A-83CE-0BFBB26490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4DA181-D9D8-4244-1301-7363DBA70ADF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22F760-40D8-5979-8ED5-17DD091333B0}"/>
              </a:ext>
            </a:extLst>
          </p:cNvPr>
          <p:cNvSpPr txBox="1"/>
          <p:nvPr/>
        </p:nvSpPr>
        <p:spPr>
          <a:xfrm>
            <a:off x="508000" y="330076"/>
            <a:ext cx="8509000" cy="271869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600" b="1">
                <a:solidFill>
                  <a:srgbClr val="0B3D91"/>
                </a:solidFill>
                <a:latin typeface="Aptos Display" panose="020B0004020202020204" pitchFamily="34" charset="0"/>
              </a:rPr>
              <a:t>Key financial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E63B60-F0B9-C4D6-5287-CDDFC3B9A79E}"/>
              </a:ext>
            </a:extLst>
          </p:cNvPr>
          <p:cNvSpPr txBox="1"/>
          <p:nvPr/>
        </p:nvSpPr>
        <p:spPr>
          <a:xfrm>
            <a:off x="533400" y="762000"/>
            <a:ext cx="9601200" cy="271869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600">
                <a:solidFill>
                  <a:srgbClr val="8A969F"/>
                </a:solidFill>
                <a:latin typeface="Aptos" panose="020B0004020202020204" pitchFamily="34" charset="0"/>
              </a:rPr>
              <a:t>Evidence-based observations from the supplied account and transaction files</a:t>
            </a:r>
            <a:endParaRPr lang="en-IN" sz="160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B0EE74-54D7-9E92-39F7-BAEE19BE799F}"/>
              </a:ext>
            </a:extLst>
          </p:cNvPr>
          <p:cNvSpPr/>
          <p:nvPr/>
        </p:nvSpPr>
        <p:spPr>
          <a:xfrm>
            <a:off x="685800" y="1295400"/>
            <a:ext cx="381000" cy="3810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0025C2-D64C-8B53-A3F0-1FF6FFE8744B}"/>
              </a:ext>
            </a:extLst>
          </p:cNvPr>
          <p:cNvSpPr txBox="1"/>
          <p:nvPr/>
        </p:nvSpPr>
        <p:spPr>
          <a:xfrm>
            <a:off x="736600" y="1384300"/>
            <a:ext cx="279400" cy="51809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D53964-7D11-0347-B8C8-79A62CDADCAB}"/>
              </a:ext>
            </a:extLst>
          </p:cNvPr>
          <p:cNvSpPr txBox="1"/>
          <p:nvPr/>
        </p:nvSpPr>
        <p:spPr>
          <a:xfrm>
            <a:off x="1257300" y="1282700"/>
            <a:ext cx="4711700" cy="51809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600">
                <a:solidFill>
                  <a:srgbClr val="17365D"/>
                </a:solidFill>
                <a:latin typeface="Aptos" panose="020B0004020202020204" pitchFamily="34" charset="0"/>
              </a:rPr>
              <a:t>800 accounts are distributed across four account types; Savings is the largest category at 218 records.</a:t>
            </a:r>
            <a:endParaRPr lang="en-IN" sz="160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AD32E4-57A2-B35C-6788-E4AA272ED0AD}"/>
              </a:ext>
            </a:extLst>
          </p:cNvPr>
          <p:cNvSpPr/>
          <p:nvPr/>
        </p:nvSpPr>
        <p:spPr>
          <a:xfrm>
            <a:off x="685800" y="2133600"/>
            <a:ext cx="381000" cy="3810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C755A7-E175-295D-CD0B-9E69ED559154}"/>
              </a:ext>
            </a:extLst>
          </p:cNvPr>
          <p:cNvSpPr txBox="1"/>
          <p:nvPr/>
        </p:nvSpPr>
        <p:spPr>
          <a:xfrm>
            <a:off x="736600" y="2222500"/>
            <a:ext cx="279400" cy="51809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4171DA-19A1-B398-A44F-5497DDA94E1C}"/>
              </a:ext>
            </a:extLst>
          </p:cNvPr>
          <p:cNvSpPr txBox="1"/>
          <p:nvPr/>
        </p:nvSpPr>
        <p:spPr>
          <a:xfrm>
            <a:off x="1257300" y="2108200"/>
            <a:ext cx="4711700" cy="51809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600">
                <a:solidFill>
                  <a:srgbClr val="17365D"/>
                </a:solidFill>
                <a:latin typeface="Aptos" panose="020B0004020202020204" pitchFamily="34" charset="0"/>
              </a:rPr>
              <a:t>Total account balance is 19.28M, with an average of 24.10K and a 7.71K–49.96K observed range.</a:t>
            </a:r>
            <a:endParaRPr lang="en-IN" sz="160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6E29AB-ABA4-B2FD-020D-72116A116521}"/>
              </a:ext>
            </a:extLst>
          </p:cNvPr>
          <p:cNvSpPr/>
          <p:nvPr/>
        </p:nvSpPr>
        <p:spPr>
          <a:xfrm>
            <a:off x="685800" y="2959100"/>
            <a:ext cx="381000" cy="3810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456266-E6A2-5E7F-CD50-BDD1FDC11BDB}"/>
              </a:ext>
            </a:extLst>
          </p:cNvPr>
          <p:cNvSpPr txBox="1"/>
          <p:nvPr/>
        </p:nvSpPr>
        <p:spPr>
          <a:xfrm>
            <a:off x="736600" y="3048000"/>
            <a:ext cx="279400" cy="51809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744401-316A-561C-6A9B-70326A1B2235}"/>
              </a:ext>
            </a:extLst>
          </p:cNvPr>
          <p:cNvSpPr txBox="1"/>
          <p:nvPr/>
        </p:nvSpPr>
        <p:spPr>
          <a:xfrm>
            <a:off x="1117600" y="2946401"/>
            <a:ext cx="4851400" cy="150297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lang="en-US" sz="1600" dirty="0">
                <a:solidFill>
                  <a:srgbClr val="17365D"/>
                </a:solidFill>
                <a:latin typeface="Aptos" panose="020B0004020202020204" pitchFamily="34" charset="0"/>
              </a:rPr>
              <a:t>Savings contributes the largest balance total at 5.57M, while account-type totals remain broadly comparable.</a:t>
            </a:r>
          </a:p>
          <a:p>
            <a:endParaRPr lang="en-US" sz="1600" dirty="0">
              <a:solidFill>
                <a:srgbClr val="17365D"/>
              </a:solidFill>
              <a:latin typeface="Aptos" panose="020B0004020202020204" pitchFamily="34" charset="0"/>
            </a:endParaRPr>
          </a:p>
          <a:p>
            <a:endParaRPr lang="en-US" sz="1600" dirty="0">
              <a:solidFill>
                <a:srgbClr val="17365D"/>
              </a:solidFill>
              <a:latin typeface="Aptos" panose="020B0004020202020204" pitchFamily="34" charset="0"/>
            </a:endParaRPr>
          </a:p>
          <a:p>
            <a:endParaRPr lang="en-US" sz="1600" dirty="0">
              <a:solidFill>
                <a:srgbClr val="17365D"/>
              </a:solidFill>
              <a:latin typeface="Aptos" panose="020B0004020202020204" pitchFamily="34" charset="0"/>
            </a:endParaRPr>
          </a:p>
          <a:p>
            <a:endParaRPr lang="en-IN" sz="1600" dirty="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A3BFD2-497E-60DA-82AC-428B17B976FE}"/>
              </a:ext>
            </a:extLst>
          </p:cNvPr>
          <p:cNvSpPr/>
          <p:nvPr/>
        </p:nvSpPr>
        <p:spPr>
          <a:xfrm>
            <a:off x="685800" y="3797300"/>
            <a:ext cx="381000" cy="3810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700846-5A7A-C435-0757-A237B8C1C7F6}"/>
              </a:ext>
            </a:extLst>
          </p:cNvPr>
          <p:cNvSpPr txBox="1"/>
          <p:nvPr/>
        </p:nvSpPr>
        <p:spPr>
          <a:xfrm>
            <a:off x="736600" y="3886200"/>
            <a:ext cx="279400" cy="51809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14EE66-44BE-5E0C-1D16-3F9936AF0BC6}"/>
              </a:ext>
            </a:extLst>
          </p:cNvPr>
          <p:cNvSpPr txBox="1"/>
          <p:nvPr/>
        </p:nvSpPr>
        <p:spPr>
          <a:xfrm>
            <a:off x="1257300" y="3771900"/>
            <a:ext cx="4711700" cy="51809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600">
                <a:solidFill>
                  <a:srgbClr val="17365D"/>
                </a:solidFill>
                <a:latin typeface="Aptos" panose="020B0004020202020204" pitchFamily="34" charset="0"/>
              </a:rPr>
              <a:t>Credit scores average 574.8; 416 accounts fall below 580 and 165 are in the 740+ band.</a:t>
            </a:r>
            <a:endParaRPr lang="en-IN" sz="160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81F1A2-2BFB-8BB4-5B99-6B0B9449DA0A}"/>
              </a:ext>
            </a:extLst>
          </p:cNvPr>
          <p:cNvSpPr/>
          <p:nvPr/>
        </p:nvSpPr>
        <p:spPr>
          <a:xfrm>
            <a:off x="685800" y="4622800"/>
            <a:ext cx="381000" cy="3810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C7D47E-3791-A944-82F3-DECEB6C4722D}"/>
              </a:ext>
            </a:extLst>
          </p:cNvPr>
          <p:cNvSpPr txBox="1"/>
          <p:nvPr/>
        </p:nvSpPr>
        <p:spPr>
          <a:xfrm>
            <a:off x="736600" y="4724400"/>
            <a:ext cx="279400" cy="51809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B57D7B-F2D0-5B96-5F92-AA180E534684}"/>
              </a:ext>
            </a:extLst>
          </p:cNvPr>
          <p:cNvSpPr txBox="1"/>
          <p:nvPr/>
        </p:nvSpPr>
        <p:spPr>
          <a:xfrm>
            <a:off x="1257300" y="4610100"/>
            <a:ext cx="4711700" cy="51809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600">
                <a:solidFill>
                  <a:srgbClr val="17365D"/>
                </a:solidFill>
                <a:latin typeface="Aptos" panose="020B0004020202020204" pitchFamily="34" charset="0"/>
              </a:rPr>
              <a:t>The largest balance band is 25K–39,999 with 224 accounts, closely followed by 10K–24,999 with 220.</a:t>
            </a:r>
            <a:endParaRPr lang="en-IN" sz="160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424384-D991-AF52-215D-18CE0675DB33}"/>
              </a:ext>
            </a:extLst>
          </p:cNvPr>
          <p:cNvSpPr/>
          <p:nvPr/>
        </p:nvSpPr>
        <p:spPr>
          <a:xfrm>
            <a:off x="6248400" y="1295400"/>
            <a:ext cx="381000" cy="381000"/>
          </a:xfrm>
          <a:prstGeom prst="rect">
            <a:avLst/>
          </a:prstGeom>
          <a:solidFill>
            <a:srgbClr val="00A3E0"/>
          </a:solidFill>
          <a:ln w="12700" cap="flat" cmpd="sng" algn="ctr">
            <a:solidFill>
              <a:srgbClr val="00A3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40511C-53A6-2AD8-814F-182777487D18}"/>
              </a:ext>
            </a:extLst>
          </p:cNvPr>
          <p:cNvSpPr txBox="1"/>
          <p:nvPr/>
        </p:nvSpPr>
        <p:spPr>
          <a:xfrm>
            <a:off x="6299200" y="1384300"/>
            <a:ext cx="279400" cy="51809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507544-B420-85B4-3318-5BE0621F25D7}"/>
              </a:ext>
            </a:extLst>
          </p:cNvPr>
          <p:cNvSpPr txBox="1"/>
          <p:nvPr/>
        </p:nvSpPr>
        <p:spPr>
          <a:xfrm>
            <a:off x="6807200" y="1282700"/>
            <a:ext cx="4711700" cy="51809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600">
                <a:solidFill>
                  <a:srgbClr val="17365D"/>
                </a:solidFill>
                <a:latin typeface="Aptos" panose="020B0004020202020204" pitchFamily="34" charset="0"/>
              </a:rPr>
              <a:t>Technology is the most represented sector (175); Tokyo is the most represented city (175).</a:t>
            </a:r>
            <a:endParaRPr lang="en-IN" sz="160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6C12123-BFF6-99B4-6605-0C74419AEBF2}"/>
              </a:ext>
            </a:extLst>
          </p:cNvPr>
          <p:cNvSpPr/>
          <p:nvPr/>
        </p:nvSpPr>
        <p:spPr>
          <a:xfrm>
            <a:off x="6248400" y="2133600"/>
            <a:ext cx="381000" cy="381000"/>
          </a:xfrm>
          <a:prstGeom prst="rect">
            <a:avLst/>
          </a:prstGeom>
          <a:solidFill>
            <a:srgbClr val="00A3E0"/>
          </a:solidFill>
          <a:ln w="12700" cap="flat" cmpd="sng" algn="ctr">
            <a:solidFill>
              <a:srgbClr val="00A3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A0169C-165C-0837-C2D8-918DEFA58D01}"/>
              </a:ext>
            </a:extLst>
          </p:cNvPr>
          <p:cNvSpPr txBox="1"/>
          <p:nvPr/>
        </p:nvSpPr>
        <p:spPr>
          <a:xfrm>
            <a:off x="6299200" y="2222500"/>
            <a:ext cx="279400" cy="51809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3E847C-C1E0-FEDC-78AB-8C649969291C}"/>
              </a:ext>
            </a:extLst>
          </p:cNvPr>
          <p:cNvSpPr txBox="1"/>
          <p:nvPr/>
        </p:nvSpPr>
        <p:spPr>
          <a:xfrm>
            <a:off x="6807200" y="2108200"/>
            <a:ext cx="4711700" cy="76431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600">
                <a:solidFill>
                  <a:srgbClr val="17365D"/>
                </a:solidFill>
                <a:latin typeface="Aptos" panose="020B0004020202020204" pitchFamily="34" charset="0"/>
              </a:rPr>
              <a:t>There are 1,000 transactions and 4.76M in valid transaction amount; Payment is the largest valid type by count.</a:t>
            </a:r>
            <a:endParaRPr lang="en-IN" sz="160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1F0A2FE-3023-637E-D4BD-3F97990E46C2}"/>
              </a:ext>
            </a:extLst>
          </p:cNvPr>
          <p:cNvSpPr/>
          <p:nvPr/>
        </p:nvSpPr>
        <p:spPr>
          <a:xfrm>
            <a:off x="6248400" y="2959100"/>
            <a:ext cx="381000" cy="381000"/>
          </a:xfrm>
          <a:prstGeom prst="rect">
            <a:avLst/>
          </a:prstGeom>
          <a:solidFill>
            <a:srgbClr val="00A3E0"/>
          </a:solidFill>
          <a:ln w="12700" cap="flat" cmpd="sng" algn="ctr">
            <a:solidFill>
              <a:srgbClr val="00A3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658F3E-6F5C-E432-1718-5CBAB4C94AEB}"/>
              </a:ext>
            </a:extLst>
          </p:cNvPr>
          <p:cNvSpPr txBox="1"/>
          <p:nvPr/>
        </p:nvSpPr>
        <p:spPr>
          <a:xfrm>
            <a:off x="6299200" y="3048000"/>
            <a:ext cx="279400" cy="51809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175C63-2DF9-B862-A27B-FE7E73903579}"/>
              </a:ext>
            </a:extLst>
          </p:cNvPr>
          <p:cNvSpPr txBox="1"/>
          <p:nvPr/>
        </p:nvSpPr>
        <p:spPr>
          <a:xfrm>
            <a:off x="6807200" y="2946400"/>
            <a:ext cx="4711700" cy="76431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600" dirty="0">
                <a:solidFill>
                  <a:srgbClr val="17365D"/>
                </a:solidFill>
                <a:latin typeface="Aptos" panose="020B0004020202020204" pitchFamily="34" charset="0"/>
              </a:rPr>
              <a:t>Data quality is material: 48 blank account holders, 15 invalid interest values and 60 blank transaction types were observed.</a:t>
            </a:r>
            <a:endParaRPr lang="en-IN" sz="1600" dirty="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90292AC-4D7B-DDAE-5C67-559AA2C6C6DD}"/>
              </a:ext>
            </a:extLst>
          </p:cNvPr>
          <p:cNvSpPr/>
          <p:nvPr/>
        </p:nvSpPr>
        <p:spPr>
          <a:xfrm>
            <a:off x="6248400" y="3797300"/>
            <a:ext cx="381000" cy="381000"/>
          </a:xfrm>
          <a:prstGeom prst="rect">
            <a:avLst/>
          </a:prstGeom>
          <a:solidFill>
            <a:srgbClr val="00A3E0"/>
          </a:solidFill>
          <a:ln w="12700" cap="flat" cmpd="sng" algn="ctr">
            <a:solidFill>
              <a:srgbClr val="00A3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E0A965-332A-5293-9BC7-A04943F62D71}"/>
              </a:ext>
            </a:extLst>
          </p:cNvPr>
          <p:cNvSpPr txBox="1"/>
          <p:nvPr/>
        </p:nvSpPr>
        <p:spPr>
          <a:xfrm>
            <a:off x="6299200" y="3886200"/>
            <a:ext cx="279400" cy="51809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Aptos" panose="020B0004020202020204" pitchFamily="34" charset="0"/>
              </a:rPr>
              <a:t>09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9BC5DF-0555-7CE0-CB7C-12DB254FB495}"/>
              </a:ext>
            </a:extLst>
          </p:cNvPr>
          <p:cNvSpPr txBox="1"/>
          <p:nvPr/>
        </p:nvSpPr>
        <p:spPr>
          <a:xfrm>
            <a:off x="6807200" y="3771900"/>
            <a:ext cx="4711700" cy="518091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600" dirty="0">
                <a:solidFill>
                  <a:srgbClr val="17365D"/>
                </a:solidFill>
                <a:latin typeface="Aptos" panose="020B0004020202020204" pitchFamily="34" charset="0"/>
              </a:rPr>
              <a:t>Branch Code is granular and lacks a branch master, so operational rankings should not be overstated.</a:t>
            </a:r>
            <a:endParaRPr lang="en-IN" sz="1600" dirty="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A55C69E-5639-6271-B721-AECD8F2E04A1}"/>
              </a:ext>
            </a:extLst>
          </p:cNvPr>
          <p:cNvSpPr/>
          <p:nvPr/>
        </p:nvSpPr>
        <p:spPr>
          <a:xfrm>
            <a:off x="6248400" y="4622800"/>
            <a:ext cx="381000" cy="381000"/>
          </a:xfrm>
          <a:prstGeom prst="rect">
            <a:avLst/>
          </a:prstGeom>
          <a:solidFill>
            <a:srgbClr val="00A3E0"/>
          </a:solidFill>
          <a:ln w="12700" cap="flat" cmpd="sng" algn="ctr">
            <a:solidFill>
              <a:srgbClr val="00A3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5D7F8E-06CC-77CA-9F2F-7B67E3669ACD}"/>
              </a:ext>
            </a:extLst>
          </p:cNvPr>
          <p:cNvSpPr txBox="1"/>
          <p:nvPr/>
        </p:nvSpPr>
        <p:spPr>
          <a:xfrm>
            <a:off x="6299200" y="4724400"/>
            <a:ext cx="279400" cy="76431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Aptos" panose="020B0004020202020204" pitchFamily="34" charset="0"/>
              </a:rPr>
              <a:t>010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B39368-B7FD-9E43-4E41-89D2BD772D76}"/>
              </a:ext>
            </a:extLst>
          </p:cNvPr>
          <p:cNvSpPr txBox="1"/>
          <p:nvPr/>
        </p:nvSpPr>
        <p:spPr>
          <a:xfrm>
            <a:off x="6807200" y="4610100"/>
            <a:ext cx="4711700" cy="764312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600" dirty="0">
                <a:solidFill>
                  <a:srgbClr val="17365D"/>
                </a:solidFill>
                <a:latin typeface="Aptos" panose="020B0004020202020204" pitchFamily="34" charset="0"/>
              </a:rPr>
              <a:t>The strongest decision opportunity is to combine balance, credit and activity filters into one governed view.</a:t>
            </a:r>
            <a:endParaRPr lang="en-IN" sz="1600" dirty="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C5C937F-9066-27F4-51BB-5FE84A35AEFE}"/>
              </a:ext>
            </a:extLst>
          </p:cNvPr>
          <p:cNvCxnSpPr/>
          <p:nvPr/>
        </p:nvCxnSpPr>
        <p:spPr>
          <a:xfrm>
            <a:off x="508000" y="6477000"/>
            <a:ext cx="11176000" cy="0"/>
          </a:xfrm>
          <a:prstGeom prst="line">
            <a:avLst/>
          </a:prstGeom>
          <a:ln w="10160">
            <a:solidFill>
              <a:srgbClr val="EBE8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3047E85-CAF8-BF9C-5B8C-5D57007E98A7}"/>
              </a:ext>
            </a:extLst>
          </p:cNvPr>
          <p:cNvSpPr txBox="1"/>
          <p:nvPr/>
        </p:nvSpPr>
        <p:spPr>
          <a:xfrm>
            <a:off x="533400" y="6515100"/>
            <a:ext cx="7950200" cy="271869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600">
                <a:solidFill>
                  <a:srgbClr val="8A969F"/>
                </a:solidFill>
                <a:latin typeface="Aptos" panose="020B0004020202020204" pitchFamily="34" charset="0"/>
              </a:rPr>
              <a:t>Financial Insights in Banking Data using Power BI  |  SOUNAK DEY</a:t>
            </a:r>
            <a:endParaRPr lang="en-IN" sz="1600">
              <a:solidFill>
                <a:srgbClr val="8A969F"/>
              </a:solidFill>
              <a:latin typeface="Aptos" panose="020B00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F5CFF5E-4EF2-39B4-7D79-205666FA15D6}"/>
              </a:ext>
            </a:extLst>
          </p:cNvPr>
          <p:cNvSpPr txBox="1"/>
          <p:nvPr/>
        </p:nvSpPr>
        <p:spPr>
          <a:xfrm>
            <a:off x="11150600" y="6489700"/>
            <a:ext cx="508000" cy="271869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1600" b="1">
                <a:solidFill>
                  <a:srgbClr val="0B3D91"/>
                </a:solidFill>
                <a:latin typeface="Aptos" panose="020B0004020202020204" pitchFamily="34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210581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1CF26C-D8EF-C94A-83C6-9309670882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D91"/>
          </a:solidFill>
          <a:ln w="12700" cap="flat" cmpd="sng" algn="ctr">
            <a:solidFill>
              <a:srgbClr val="0B3D9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4DEE86-D195-74FF-9B98-A14635B18417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0A3E0"/>
          </a:solidFill>
          <a:ln w="12700" cap="flat" cmpd="sng" algn="ctr">
            <a:solidFill>
              <a:srgbClr val="00A3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3D5F20-12D1-8144-FB45-4783DF2CD9DC}"/>
              </a:ext>
            </a:extLst>
          </p:cNvPr>
          <p:cNvSpPr txBox="1"/>
          <p:nvPr/>
        </p:nvSpPr>
        <p:spPr>
          <a:xfrm>
            <a:off x="660400" y="457200"/>
            <a:ext cx="71374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 b="1">
                <a:solidFill>
                  <a:srgbClr val="FFFFFF"/>
                </a:solidFill>
                <a:latin typeface="Aptos Display" panose="020B0004020202020204" pitchFamily="34" charset="0"/>
              </a:rPr>
              <a:t>Recommendations &amp; 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D7C439-C019-D876-0F5B-A1025B4CC2FB}"/>
              </a:ext>
            </a:extLst>
          </p:cNvPr>
          <p:cNvSpPr txBox="1"/>
          <p:nvPr/>
        </p:nvSpPr>
        <p:spPr>
          <a:xfrm>
            <a:off x="673100" y="965200"/>
            <a:ext cx="67691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>
                <a:solidFill>
                  <a:srgbClr val="FFEEDC"/>
                </a:solidFill>
                <a:latin typeface="Aptos" panose="020B0004020202020204" pitchFamily="34" charset="0"/>
              </a:rPr>
              <a:t>A practical roadmap for responsible banking analytics</a:t>
            </a:r>
            <a:endParaRPr lang="en-IN" sz="1200">
              <a:solidFill>
                <a:srgbClr val="FFEEDC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116742-529D-8B54-142D-D4A66AFE95FB}"/>
              </a:ext>
            </a:extLst>
          </p:cNvPr>
          <p:cNvSpPr/>
          <p:nvPr/>
        </p:nvSpPr>
        <p:spPr>
          <a:xfrm>
            <a:off x="685800" y="1511300"/>
            <a:ext cx="5168900" cy="4165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EB2E99-B9B8-C5C5-9774-6E679A6CA462}"/>
              </a:ext>
            </a:extLst>
          </p:cNvPr>
          <p:cNvSpPr txBox="1"/>
          <p:nvPr/>
        </p:nvSpPr>
        <p:spPr>
          <a:xfrm>
            <a:off x="965200" y="1816100"/>
            <a:ext cx="43942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 b="1">
                <a:solidFill>
                  <a:srgbClr val="0B3D91"/>
                </a:solidFill>
                <a:latin typeface="Aptos Display" panose="020B0004020202020204" pitchFamily="34" charset="0"/>
              </a:rPr>
              <a:t>Recommendations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929363-8797-7E2E-4ECB-CBDCE1BBC317}"/>
              </a:ext>
            </a:extLst>
          </p:cNvPr>
          <p:cNvSpPr/>
          <p:nvPr/>
        </p:nvSpPr>
        <p:spPr>
          <a:xfrm>
            <a:off x="990600" y="24384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9E1D59-C241-7504-1F1E-9A744D7B7D84}"/>
              </a:ext>
            </a:extLst>
          </p:cNvPr>
          <p:cNvSpPr txBox="1"/>
          <p:nvPr/>
        </p:nvSpPr>
        <p:spPr>
          <a:xfrm>
            <a:off x="1155700" y="2336800"/>
            <a:ext cx="42672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>
                <a:solidFill>
                  <a:srgbClr val="17365D"/>
                </a:solidFill>
                <a:latin typeface="Aptos" panose="020B0004020202020204" pitchFamily="34" charset="0"/>
              </a:rPr>
              <a:t>Parameterize value and credit segments in Power BI</a:t>
            </a:r>
            <a:endParaRPr lang="en-IN" sz="120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CDF74B-A7B0-8C04-45A9-8DCC1C8F2AA8}"/>
              </a:ext>
            </a:extLst>
          </p:cNvPr>
          <p:cNvSpPr/>
          <p:nvPr/>
        </p:nvSpPr>
        <p:spPr>
          <a:xfrm>
            <a:off x="990600" y="28321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8B115A-9408-E404-B854-D6745C8AA902}"/>
              </a:ext>
            </a:extLst>
          </p:cNvPr>
          <p:cNvSpPr txBox="1"/>
          <p:nvPr/>
        </p:nvSpPr>
        <p:spPr>
          <a:xfrm>
            <a:off x="1155700" y="2730500"/>
            <a:ext cx="42672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>
                <a:solidFill>
                  <a:srgbClr val="17365D"/>
                </a:solidFill>
                <a:latin typeface="Aptos" panose="020B0004020202020204" pitchFamily="34" charset="0"/>
              </a:rPr>
              <a:t>Create a branch master to enable valid regional comparisons</a:t>
            </a:r>
            <a:endParaRPr lang="en-IN" sz="120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AAF211-A8EF-DAF9-802F-27F0EED51E2A}"/>
              </a:ext>
            </a:extLst>
          </p:cNvPr>
          <p:cNvSpPr/>
          <p:nvPr/>
        </p:nvSpPr>
        <p:spPr>
          <a:xfrm>
            <a:off x="990600" y="32258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9D87F5-8B88-CD77-0046-5059C4C47116}"/>
              </a:ext>
            </a:extLst>
          </p:cNvPr>
          <p:cNvSpPr txBox="1"/>
          <p:nvPr/>
        </p:nvSpPr>
        <p:spPr>
          <a:xfrm>
            <a:off x="1155700" y="3124200"/>
            <a:ext cx="4267200" cy="394980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>
                <a:solidFill>
                  <a:srgbClr val="17365D"/>
                </a:solidFill>
                <a:latin typeface="Aptos" panose="020B0004020202020204" pitchFamily="34" charset="0"/>
              </a:rPr>
              <a:t>Add an income or verified affordability field for customer value analysis</a:t>
            </a:r>
            <a:endParaRPr lang="en-IN" sz="120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79B733-A014-A5F3-B0B7-40FEA887EBF6}"/>
              </a:ext>
            </a:extLst>
          </p:cNvPr>
          <p:cNvSpPr/>
          <p:nvPr/>
        </p:nvSpPr>
        <p:spPr>
          <a:xfrm>
            <a:off x="990600" y="36195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2A51C9-48C8-8019-C3DF-D7C16FC9561E}"/>
              </a:ext>
            </a:extLst>
          </p:cNvPr>
          <p:cNvSpPr txBox="1"/>
          <p:nvPr/>
        </p:nvSpPr>
        <p:spPr>
          <a:xfrm>
            <a:off x="1155700" y="3505200"/>
            <a:ext cx="42672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>
                <a:solidFill>
                  <a:srgbClr val="17365D"/>
                </a:solidFill>
                <a:latin typeface="Aptos" panose="020B0004020202020204" pitchFamily="34" charset="0"/>
              </a:rPr>
              <a:t>Flag invalid rows visibly and monitor data-quality KPIs</a:t>
            </a:r>
            <a:endParaRPr lang="en-IN" sz="120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D73DFE-36AF-6D7B-DD97-1F706D36D317}"/>
              </a:ext>
            </a:extLst>
          </p:cNvPr>
          <p:cNvSpPr/>
          <p:nvPr/>
        </p:nvSpPr>
        <p:spPr>
          <a:xfrm>
            <a:off x="990600" y="4013200"/>
            <a:ext cx="76200" cy="762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92F9EE-EF9C-8983-4D0F-A32D8F9F6E90}"/>
              </a:ext>
            </a:extLst>
          </p:cNvPr>
          <p:cNvSpPr txBox="1"/>
          <p:nvPr/>
        </p:nvSpPr>
        <p:spPr>
          <a:xfrm>
            <a:off x="1155700" y="3898900"/>
            <a:ext cx="4267200" cy="394980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200">
                <a:solidFill>
                  <a:srgbClr val="17365D"/>
                </a:solidFill>
                <a:latin typeface="Aptos" panose="020B0004020202020204" pitchFamily="34" charset="0"/>
              </a:rPr>
              <a:t>Use high-value and reactivation segments for targeted engagement</a:t>
            </a:r>
            <a:endParaRPr lang="en-IN" sz="1200">
              <a:solidFill>
                <a:srgbClr val="17365D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8E7E3A-ECF8-4821-2DB4-011DE346FCFF}"/>
              </a:ext>
            </a:extLst>
          </p:cNvPr>
          <p:cNvSpPr/>
          <p:nvPr/>
        </p:nvSpPr>
        <p:spPr>
          <a:xfrm>
            <a:off x="6223000" y="1511300"/>
            <a:ext cx="5308600" cy="4165600"/>
          </a:xfrm>
          <a:prstGeom prst="rect">
            <a:avLst/>
          </a:prstGeom>
          <a:solidFill>
            <a:srgbClr val="1F6FEB"/>
          </a:solidFill>
          <a:ln w="1270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586C15-A206-5F3B-8331-292DF6F5132E}"/>
              </a:ext>
            </a:extLst>
          </p:cNvPr>
          <p:cNvSpPr txBox="1"/>
          <p:nvPr/>
        </p:nvSpPr>
        <p:spPr>
          <a:xfrm>
            <a:off x="6515100" y="1816100"/>
            <a:ext cx="43942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1200" b="1">
                <a:solidFill>
                  <a:srgbClr val="FFFFFF"/>
                </a:solidFill>
                <a:latin typeface="Aptos Display" panose="020B0004020202020204" pitchFamily="34" charset="0"/>
              </a:rPr>
              <a:t>Conclusion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030B15-54D8-231C-CE9C-2CC5375DF799}"/>
              </a:ext>
            </a:extLst>
          </p:cNvPr>
          <p:cNvSpPr txBox="1"/>
          <p:nvPr/>
        </p:nvSpPr>
        <p:spPr>
          <a:xfrm>
            <a:off x="6515100" y="2336800"/>
            <a:ext cx="4521200" cy="1102866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US" sz="1400" dirty="0">
                <a:solidFill>
                  <a:srgbClr val="FFFFFF"/>
                </a:solidFill>
                <a:latin typeface="Aptos" panose="020B0004020202020204" pitchFamily="34" charset="0"/>
              </a:rPr>
              <a:t>The project demonstrates how Power BI can transform two operational banking datasets into an interactive analytical story. It establishes a clear model, surfaces meaningful financial patterns, and makes limitations visible so that recommendations remain credible.</a:t>
            </a:r>
            <a:endParaRPr lang="en-IN" sz="14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6357A8-96F4-03A3-2567-F2C3226DC6C8}"/>
              </a:ext>
            </a:extLst>
          </p:cNvPr>
          <p:cNvSpPr txBox="1"/>
          <p:nvPr/>
        </p:nvSpPr>
        <p:spPr>
          <a:xfrm>
            <a:off x="6540500" y="4188723"/>
            <a:ext cx="2921000" cy="333425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sz="2000" b="1" dirty="0">
                <a:solidFill>
                  <a:srgbClr val="00A3E0"/>
                </a:solidFill>
                <a:latin typeface="Aptos Display" panose="020B0004020202020204" pitchFamily="34" charset="0"/>
              </a:rPr>
              <a:t>Thank You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745DB6-FB38-D502-5291-ED426E63FC59}"/>
              </a:ext>
            </a:extLst>
          </p:cNvPr>
          <p:cNvSpPr txBox="1"/>
          <p:nvPr/>
        </p:nvSpPr>
        <p:spPr>
          <a:xfrm>
            <a:off x="6515100" y="4647620"/>
            <a:ext cx="3937000" cy="302647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r>
              <a:rPr lang="en-IN" dirty="0">
                <a:solidFill>
                  <a:srgbClr val="FFEEDC"/>
                </a:solidFill>
                <a:latin typeface="Aptos" panose="020B0004020202020204" pitchFamily="34" charset="0"/>
              </a:rPr>
              <a:t>Questions &amp; Answers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02E6FE-E9DF-AC1C-08D9-95DE09186860}"/>
              </a:ext>
            </a:extLst>
          </p:cNvPr>
          <p:cNvSpPr txBox="1"/>
          <p:nvPr/>
        </p:nvSpPr>
        <p:spPr>
          <a:xfrm>
            <a:off x="11137900" y="6451600"/>
            <a:ext cx="406400" cy="210314"/>
          </a:xfrm>
          <a:prstGeom prst="rect">
            <a:avLst/>
          </a:prstGeom>
          <a:noFill/>
        </p:spPr>
        <p:txBody>
          <a:bodyPr vert="horz" lIns="38100" tIns="12700" rIns="38100" bIns="12700" rtlCol="0" anchor="t">
            <a:spAutoFit/>
          </a:bodyPr>
          <a:lstStyle/>
          <a:p>
            <a:pPr algn="r"/>
            <a:r>
              <a:rPr lang="en-IN" sz="1200" b="1">
                <a:solidFill>
                  <a:srgbClr val="FFFFFF"/>
                </a:solidFill>
                <a:latin typeface="Aptos" panose="020B0004020202020204" pitchFamily="34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911616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1851</Words>
  <Application>Microsoft Office PowerPoint</Application>
  <PresentationFormat>Widescreen</PresentationFormat>
  <Paragraphs>374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Sounak Dey</dc:creator>
  <cp:lastModifiedBy>Sounak Dey</cp:lastModifiedBy>
  <cp:revision>2</cp:revision>
  <dcterms:created xsi:type="dcterms:W3CDTF">2026-09-22T13:59:27Z</dcterms:created>
  <dcterms:modified xsi:type="dcterms:W3CDTF">2026-10-03T08:31:45Z</dcterms:modified>
</cp:coreProperties>
</file>